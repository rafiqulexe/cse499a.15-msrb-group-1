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8102" y="2560320"/>
            <a:ext cx="975549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CD5E8"/>
                </a:solidFill>
              </a:defRPr>
            </a:pPr>
            <a:r>
              <a:rPr lang="en-US" b="1" dirty="0" err="1"/>
              <a:t>CampusEye</a:t>
            </a:r>
            <a:br>
              <a:rPr lang="en-US" dirty="0"/>
            </a:br>
            <a:r>
              <a:rPr dirty="0"/>
              <a:t>AI-Based Classroom Photo Attendance Management System Using Face Recognition</a:t>
            </a:r>
            <a:br>
              <a:rPr lang="en-US" dirty="0"/>
            </a:b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3657600" y="3383280"/>
            <a:ext cx="4876495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BBDD"/>
                </a:solidFill>
              </a:defRPr>
            </a:pPr>
            <a:r>
              <a:t>CSE 499A — Senior Design Project — North South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9825" y="4206240"/>
            <a:ext cx="3252045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</a:defRPr>
            </a:pPr>
            <a:r>
              <a:rPr dirty="0"/>
              <a:t>Presented by Group </a:t>
            </a:r>
            <a:r>
              <a:rPr lang="en-US" dirty="0"/>
              <a:t>1</a:t>
            </a:r>
            <a:endParaRPr dirty="0"/>
          </a:p>
          <a:p>
            <a:pPr algn="ctr">
              <a:defRPr sz="800"/>
            </a:pPr>
            <a:endParaRPr dirty="0"/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rPr dirty="0"/>
              <a:t>Md. Rizvi Ahmed — 2221719042</a:t>
            </a:r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rPr dirty="0" err="1"/>
              <a:t>Safayat</a:t>
            </a:r>
            <a:r>
              <a:rPr dirty="0"/>
              <a:t> Ibrahim — 2131174642</a:t>
            </a:r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rPr dirty="0"/>
              <a:t>Rafiqul Islam — 2122414642</a:t>
            </a:r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rPr dirty="0"/>
              <a:t>Md. Arebi Sarkar — 2221362042</a:t>
            </a:r>
          </a:p>
          <a:p>
            <a:pPr algn="ctr">
              <a:defRPr sz="800"/>
            </a:pPr>
            <a:endParaRPr dirty="0"/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rPr dirty="0"/>
              <a:t>Supervisor:</a:t>
            </a:r>
            <a:r>
              <a:rPr lang="en-US" dirty="0"/>
              <a:t> Dr.</a:t>
            </a:r>
            <a:r>
              <a:rPr dirty="0"/>
              <a:t> Mohammad </a:t>
            </a:r>
            <a:r>
              <a:rPr dirty="0" err="1"/>
              <a:t>Shifat</a:t>
            </a:r>
            <a:r>
              <a:rPr dirty="0"/>
              <a:t>-E-Rabbi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2516" y="6263640"/>
            <a:ext cx="466666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9AACC"/>
                </a:solidFill>
              </a:defRPr>
            </a:pPr>
            <a:r>
              <a:rPr dirty="0"/>
              <a:t>CSE 499A - Group </a:t>
            </a:r>
            <a:r>
              <a:rPr lang="en-US" dirty="0"/>
              <a:t>1</a:t>
            </a:r>
            <a:r>
              <a:rPr dirty="0"/>
              <a:t>: Md. Rizvi Ahmed, </a:t>
            </a:r>
            <a:r>
              <a:rPr dirty="0" err="1"/>
              <a:t>Safayat</a:t>
            </a:r>
            <a:r>
              <a:rPr dirty="0"/>
              <a:t> Ibrahim, Rafiqul Islam, Md. Arebi Sarkar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71600" y="1463040"/>
            <a:ext cx="457200" cy="45720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Introduction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83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Why attendance automation matters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Review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23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How we selected and evaluated papers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2743200"/>
            <a:ext cx="457200" cy="45720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Paper Summaries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063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5 key research papers analyzed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3383279"/>
            <a:ext cx="457200" cy="45720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3832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Comparative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7033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Side-by-side comparison of approaches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4023360"/>
            <a:ext cx="457200" cy="45720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Research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43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What existing systems lack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0" y="4663440"/>
            <a:ext cx="457200" cy="45720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Our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983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How CampusEYE fills the gaps</a:t>
            </a:r>
          </a:p>
        </p:txBody>
      </p:sp>
      <p:sp>
        <p:nvSpPr>
          <p:cNvPr id="25" name="Oval 24"/>
          <p:cNvSpPr/>
          <p:nvPr/>
        </p:nvSpPr>
        <p:spPr>
          <a:xfrm>
            <a:off x="1371600" y="5303519"/>
            <a:ext cx="457200" cy="45720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303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Conclusion &amp; 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62355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Summary and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Introduction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The Problem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Current RFID-based attendance at NSU has significant limitations: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– Card dependency: forgotten/lost cards prevent marking attendance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– Proxy punching: classmates can scan cards for absent students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– Time-consuming queues at RFID sensors waste lecture time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– No real-time verification of physical presence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Why Face Recognition?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Biometric traits are unique and cannot be easily shared or forged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Photo-based attendance is contactless and non-intrusive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A single classroom photo can capture all students simultaneously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Deep learning has made face recognition highly accurate (&gt;99%)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029200" cy="265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rPr dirty="0"/>
              <a:t>Research Motivation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 dirty="0"/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• Educational institutions globally are adopting smart attendance systems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• NSU's manual roll-call + RFID system is outdated and ineffective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• Students spend 5-10 minutes per class on attendance procedures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• Proxy attendance undermines academic integrity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Review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206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rPr dirty="0"/>
              <a:t>Search Strategy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endParaRPr dirty="0"/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Databases: IEEE Xplore, Google Scholar, ScienceDirect, </a:t>
            </a:r>
            <a:r>
              <a:rPr dirty="0" err="1"/>
              <a:t>arXiv</a:t>
            </a:r>
            <a:endParaRPr dirty="0"/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Keywords used: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– "face recognition attendance system"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– "classroom attendance automation"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– "RFID + face recognition hybrid"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– "student attendance management"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Total papers screened: </a:t>
            </a:r>
            <a:r>
              <a:rPr lang="en-US" dirty="0"/>
              <a:t>12</a:t>
            </a:r>
            <a:r>
              <a:rPr dirty="0"/>
              <a:t>+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Papers selected for detailed review: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029200" cy="2572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rPr dirty="0"/>
              <a:t>Selection Criteria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endParaRPr dirty="0"/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Inclusion: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Papers on face recognition for attendance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Systems combining biometric verification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Papers with measurable accuracy results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Open-access or available through NSU library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200400" y="4760614"/>
            <a:ext cx="5790895" cy="1371600"/>
          </a:xfrm>
          <a:prstGeom prst="round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474719" y="5010912"/>
            <a:ext cx="52422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5 Research Papers Reviewed</a:t>
            </a:r>
          </a:p>
          <a:p>
            <a:pPr algn="ctr">
              <a:defRPr sz="1300">
                <a:solidFill>
                  <a:srgbClr val="CCD5E8"/>
                </a:solidFill>
              </a:defRPr>
            </a:pPr>
            <a:r>
              <a:rPr dirty="0"/>
              <a:t>Covering CNN-based recognition, Haar Cascade, LabVIEW, Eigenface, and </a:t>
            </a:r>
            <a:r>
              <a:rPr dirty="0" err="1"/>
              <a:t>ArcFace</a:t>
            </a:r>
            <a:r>
              <a:rPr dirty="0"/>
              <a:t> approaches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Paper 01: Student Attendance with Face Recognition (LBPH or CNN): Systematic Literature 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029200" cy="7315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D7A"/>
                </a:solidFill>
              </a:defRPr>
            </a:pPr>
            <a:r>
              <a:t>Method: CNN vs LBPH (Local Binary Patterns Histograms)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029200" cy="731520"/>
          </a:xfrm>
          <a:prstGeom prst="round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Accuracy: CNN: 95-99% | LBPH: 85-92%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Comprehensive comparison of CNN vs LBPH approaches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CNN achieves higher accuracy and robustness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Analyzed 50+ primary studies on face recognition attendance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Identified key factors affecting recognition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502920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3042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No hybrid attendance verification mechanism proposed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Did not address proxy detection or cheating prevention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Limited discussion of real-world classroom deployment challenges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No integration with existing university systems (RFID, LMS)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Paper 02: Face Detection and Recognition Student Attendance System (2020)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029200" cy="7315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D7A"/>
                </a:solidFill>
              </a:defRPr>
            </a:pPr>
            <a:r>
              <a:t>Method: LabVIEW + Pattern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029200" cy="731520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Accuracy: ~90% under controlled conditions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Automatic attendance marking with Excel integration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Real-time face detection and recognition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User-friendly LabVIEW interface for faculty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Demonstrated feasibility of automated attendance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502920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3042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Requires controlled lighting conditions for accuracy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No anti-proxy or cheating detection mechanism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LabVIEW is proprietary and not widely accessible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Limited scalability for large classroom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Paper 03: Automatic Student Attendance System using Face Recognition (2020)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029200" cy="7315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D7A"/>
                </a:solidFill>
              </a:defRPr>
            </a:pPr>
            <a:r>
              <a:t>Method: Haar Cascade + PCA/Eigenface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029200" cy="73152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Accuracy: ~85-90%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Reduces manual attendance effort significantly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Haar Cascade provides fast face detection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PCA/Eigenface approach is computationally lightweight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Demonstrated end-to-end attendance workflow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502920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3042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Lower recognition accuracy compared to CNN-based approaches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Eigenface method is sensitive to lighting and pose variations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No mechanism to handle occlusions (masks, glasses)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No proxy detection or multi-factor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Paper 04: Class Attendance Management System using Facial Recognition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029200" cy="7315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D7A"/>
                </a:solidFill>
              </a:defRPr>
            </a:pPr>
            <a:r>
              <a:t>Method: Deep Learning (CNN-based)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029200" cy="731520"/>
          </a:xfrm>
          <a:prstGeom prst="round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Accuracy: ~94-97%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Modern CNN architecture for high accuracy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Robust to variations in lighting and facial expressions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Automated attendance logging with timestamps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Web-based dashboard for faculty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502920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3042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Requires GPU hardware for real-time processing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Single-factor authentication — no secondary verification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Training requires substantial labeled face data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Limited evaluation in real classroom environments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Paper 05: Class Attendance System Using Facial Recognition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029200" cy="7315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D7A"/>
                </a:solidFill>
              </a:defRPr>
            </a:pPr>
            <a:r>
              <a:t>Method: InsightFace (RetinaFace) + ArcFace + Cosine Similarity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029200" cy="7315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Accuracy: ~95%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Uses state-of-the-art ArcFace with Additive Angular Margin Loss for robust embeddings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InsightFace/RetinaFace provides accurate face detection in varied conditions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Redis-based storage for efficient attendance logging and embedding retrieval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Streamlit web interface and CSV export for faculty accessibility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502920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3042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Single-factor face recognition — no secondary verification mechanism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No anti-proxy or impersonation detection capabilities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Not tested in large classroom settings with 50+ students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Recognition accuracy depends on cosine similarity threshold tuning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Comparative Analysis of Reviewed Papers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058300"/>
              </p:ext>
            </p:extLst>
          </p:nvPr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Paper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Accuracy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Proxy Detection?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Paper 1: SLR (2023)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CNN vs LBPH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95-99%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Paper 2: LabVIEW (2020)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LabVIEW +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rPr lang="en-US" dirty="0"/>
                        <a:t>~90%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Paper 3: Haar + PCA (2020)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Haar + Eigenface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85-90%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Paper 4: CNN-Based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Deep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94-97%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Paper 5: ArcFace (Oshin)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InsightFace + ArcFace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~95%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Moderate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Identified Research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508760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No Hybrid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745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All reviewed systems rely on single-factor authentication (either RFID OR face recognition). No system combines RFID tap with facial verification for dual-factor attendance 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7960" y="1508760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48132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No Proxy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8745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None of the existing face recognition attendance systems include mechanisms to detect or prevent proxy attendance. If someone else's face is registered, the system still marks attendance.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3200400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7296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Limited Classroom-Scale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661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Most systems were tested on small datasets (10-50 students) under ideal conditions. Real classroom environments with 100+ students, varied lighting, and occlusions remain largely untested.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6324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37960" y="3200400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17296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No Cheating Alert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5661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Existing systems passively record attendance without flagging anomalies. There is no alert generation for suspicious patterns like double-attendance or identity mismatch.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8680" y="4892040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6460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Insufficient Face Datasets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57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Public datasets (LFW, CASIA-WebFace) lack classroom-specific data. No existing dataset captures students in typical university classroom seating arrangements with varied angles.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5488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37960" y="4892040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86460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No LMS/University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57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Current solutions operate as standalone systems. Integration with university Learning Management Systems (LMS), student databases, and exam scheduling is not addressed.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How CampusEYE Fills the Research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481328"/>
            <a:ext cx="1097280" cy="292608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Gap 1,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63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Photo-Based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745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rPr dirty="0"/>
              <a:t>Teacher captures a single classroom photo. OpenCV detects faces, </a:t>
            </a:r>
            <a:r>
              <a:rPr dirty="0" err="1"/>
              <a:t>FaceNet</a:t>
            </a:r>
            <a:r>
              <a:rPr dirty="0"/>
              <a:t> generates embeddings, and matches against registered student database. No RFID card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37960" y="1481328"/>
            <a:ext cx="1097280" cy="292608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Gap 2,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63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Proxy Prevention via High-Dimensional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745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Deep metric learning with adjustable confidence thresholds. System flags low-confidence matches for faculty review, making proxy attendance detectable.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" y="3172968"/>
            <a:ext cx="1097280" cy="292608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154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Classroom-Scale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661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rPr dirty="0"/>
              <a:t>Built for real NSU classrooms. Tested with datasets of 100+ students. Pre-processing pipeline handles varied lighting, angles, and partial occlusions.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6324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37960" y="3172968"/>
            <a:ext cx="1097280" cy="292608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Gap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154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Privacy-First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661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On-campus deployment — facial data never leaves NSU servers. AES-256 encryption at rest and TLS in transit. Role-based access control. Student consent during registration.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" y="4864608"/>
            <a:ext cx="1097280" cy="292608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Gap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846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Comprehensive Dataset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57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rPr dirty="0"/>
              <a:t>Combines LFW public dataset with locally collected NSU student data (5-10 images per student from multiple angles). Data augmentation for robustness.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5488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37960" y="4864608"/>
            <a:ext cx="1097280" cy="292608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Gap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46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LMS &amp; University Integration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257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REST API architecture (Flask) enables future integration with NSU's learning management system, student database, and exam scheduling platforms.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Novel Contributions of CampusEYE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1645920"/>
            <a:ext cx="411480" cy="41148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AI-Powered Photo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Single-photo attendance marking using state-of-the-art face recognition, eliminating the need for RFID cards or manual roll-calls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291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0" y="1645920"/>
            <a:ext cx="411480" cy="41148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Proxy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94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Deep metric learning with adjustable confidence thresholds to identify and flag potential proxy attendance attempts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291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600" y="1645920"/>
            <a:ext cx="411480" cy="41148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Classroom-Optimized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194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End-to-end system designed specifically for NSU classroom environments, handling varied lighting, angles, and class sizes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3291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4114800"/>
            <a:ext cx="411480" cy="41148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Privacy by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6344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On-premises deployment ensuring all biometric data stays within NSU infrastructure, with encryption and access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840480"/>
            <a:ext cx="3291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0" y="4114800"/>
            <a:ext cx="411480" cy="41148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Faculty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6344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Web-based interface for reviewing, correcting, and exporting attendance records with confidence scores and audit logs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840480"/>
            <a:ext cx="3291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29600" y="4114800"/>
            <a:ext cx="411480" cy="41148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Grace Period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66344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33333"/>
                </a:solidFill>
              </a:defRPr>
            </a:pPr>
            <a:r>
              <a:t>Configurable late arrival policy with automatic absent marking after customizable time threshold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Conclusion &amp;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Key Takeaways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Face recognition technology has matured significantly, with CNN-based approaches achieving &gt;95% accuracy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Existing systems lack critical features: proxy detection, hybrid verification, and classroom-scale validation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CampusEYE addresses these gaps with a photo-based, AI-powered attendance system designed for NSU classrooms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Our approach combines OpenCV face detection with FaceNet embeddings for accurate, real-time recognition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Privacy-first architecture ensures biometric data remains secure within NSU infrastructure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24545-7848-DC4E-6F6E-A98257F1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466761-886A-0406-0122-DE22E3AADD4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A8D399-7FE9-1EC7-4EC4-DC4F01B9C89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FA066-84D1-9E12-A79D-195E641FC0C3}"/>
              </a:ext>
            </a:extLst>
          </p:cNvPr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Conclusion &amp; 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88153-C19F-ACE8-92F8-9183435F4FE0}"/>
              </a:ext>
            </a:extLst>
          </p:cNvPr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854EB-6620-905B-8A68-630AAEA9D7CF}"/>
              </a:ext>
            </a:extLst>
          </p:cNvPr>
          <p:cNvSpPr txBox="1"/>
          <p:nvPr/>
        </p:nvSpPr>
        <p:spPr>
          <a:xfrm>
            <a:off x="731520" y="1635162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300" b="1">
                <a:solidFill>
                  <a:srgbClr val="333333"/>
                </a:solidFill>
              </a:defRPr>
            </a:pPr>
            <a:r>
              <a:rPr dirty="0"/>
              <a:t>References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endParaRPr dirty="0"/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rPr dirty="0"/>
              <a:t>1. Student Attendance with Face Recognition (LBPH or CNN): Systematic Literature Review (2023)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rPr dirty="0"/>
              <a:t>2. Face Detection and Recognition Student Attendance System using LabVIEW (2020)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rPr dirty="0"/>
              <a:t>3. Automatic Student Attendance System using Face Recognition with Haar Cascade and PCA (2020)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rPr dirty="0"/>
              <a:t>4. Class Attendance Management System using Facial Recognition — Deep CNN Approach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rPr dirty="0"/>
              <a:t>5. Oshin, O., et al. Class Attendance System Using Facial Recognition with </a:t>
            </a:r>
            <a:r>
              <a:rPr dirty="0" err="1"/>
              <a:t>InsightFace</a:t>
            </a:r>
            <a:r>
              <a:rPr dirty="0"/>
              <a:t> and </a:t>
            </a:r>
            <a:r>
              <a:rPr dirty="0" err="1"/>
              <a:t>ArcFace</a:t>
            </a:r>
            <a:endParaRPr dirty="0"/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rPr dirty="0"/>
              <a:t>6. Schroff, F., </a:t>
            </a:r>
            <a:r>
              <a:rPr dirty="0" err="1"/>
              <a:t>Kalenichenko</a:t>
            </a:r>
            <a:r>
              <a:rPr dirty="0"/>
              <a:t>, D., &amp; Philbin, J. (2015). </a:t>
            </a:r>
            <a:r>
              <a:rPr dirty="0" err="1"/>
              <a:t>FaceNet</a:t>
            </a:r>
            <a:r>
              <a:rPr dirty="0"/>
              <a:t>: A Unified Embedding for Face Recognition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rPr dirty="0"/>
              <a:t>7. Viola, P., &amp; Jones, M. (2001). Rapid Object Detection using a Boosted Cascade of Simple Features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rPr dirty="0"/>
              <a:t>8. </a:t>
            </a:r>
            <a:r>
              <a:rPr dirty="0" err="1"/>
              <a:t>Taigman</a:t>
            </a:r>
            <a:r>
              <a:rPr dirty="0"/>
              <a:t>, Y., et al. (2014). </a:t>
            </a:r>
            <a:r>
              <a:rPr dirty="0" err="1"/>
              <a:t>DeepFace</a:t>
            </a:r>
            <a:r>
              <a:rPr dirty="0"/>
              <a:t>: Closing the Gap to Human-Level Performance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rPr dirty="0"/>
              <a:t>9. Deng, J., et al. (2009). ImageNet: A Large-Scale Hierarchical Image Database</a:t>
            </a:r>
          </a:p>
        </p:txBody>
      </p:sp>
    </p:spTree>
    <p:extLst>
      <p:ext uri="{BB962C8B-B14F-4D97-AF65-F5344CB8AC3E}">
        <p14:creationId xmlns:p14="http://schemas.microsoft.com/office/powerpoint/2010/main" val="1239130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3340" y="1645920"/>
            <a:ext cx="3805016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sz="6600" dirty="0"/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474720"/>
            <a:ext cx="4876495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</a:defRPr>
            </a:pPr>
            <a:r>
              <a:t>Team Members</a:t>
            </a:r>
          </a:p>
          <a:p>
            <a:pPr algn="ctr">
              <a:defRPr sz="800"/>
            </a:pPr>
            <a:endParaRPr/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t>Md. Rizvi Ahmed — 2221719042</a:t>
            </a:r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t>Safayat Ibrahim — 2131174642</a:t>
            </a:r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t>Rafiqul Islam — 2122414642</a:t>
            </a:r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t>Md. Arebi Sarkar — 2221362042</a:t>
            </a:r>
          </a:p>
          <a:p>
            <a:pPr algn="ctr">
              <a:defRPr sz="800"/>
            </a:pPr>
            <a:endParaRPr/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t>Supervisor: Mohammad Shifat-E-Rabbi</a:t>
            </a:r>
          </a:p>
          <a:p>
            <a:pPr algn="ctr">
              <a:defRPr sz="1400">
                <a:solidFill>
                  <a:srgbClr val="CCD5E8"/>
                </a:solidFill>
              </a:defRPr>
            </a:pPr>
            <a:r>
              <a:t>North South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9AACC"/>
                </a:solidFill>
              </a:defRPr>
            </a:pPr>
            <a:r>
              <a:t>CSE 499A - Group 7: Md. Rizvi Ahmed, Safayat Ibrahim, Rafiqul Islam, Md. Arebi Sarkar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1753</Words>
  <Application>Microsoft Office PowerPoint</Application>
  <PresentationFormat>Widescreen</PresentationFormat>
  <Paragraphs>259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Rizvi Ahmed</cp:lastModifiedBy>
  <cp:revision>4</cp:revision>
  <dcterms:created xsi:type="dcterms:W3CDTF">2013-01-27T09:14:16Z</dcterms:created>
  <dcterms:modified xsi:type="dcterms:W3CDTF">2026-07-06T16:20:01Z</dcterms:modified>
  <cp:category/>
</cp:coreProperties>
</file>