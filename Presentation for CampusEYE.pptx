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7"/>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rimo" charset="1" panose="020B0604020202020204"/>
      <p:regular r:id="rId20"/>
    </p:embeddedFont>
    <p:embeddedFont>
      <p:font typeface="Arimo Bold" charset="1" panose="020B0704020202020204"/>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notesMasters/notesMaster1.xml" Type="http://schemas.openxmlformats.org/officeDocument/2006/relationships/notesMaster"/><Relationship Id="rId18" Target="theme/theme2.xml" Type="http://schemas.openxmlformats.org/officeDocument/2006/relationships/theme"/><Relationship Id="rId19" Target="notesSlides/notesSlide1.xml" Type="http://schemas.openxmlformats.org/officeDocument/2006/relationships/note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notesSlides/notesSlide2.xml" Type="http://schemas.openxmlformats.org/officeDocument/2006/relationships/notesSlide"/><Relationship Id="rId23" Target="notesSlides/notesSlide3.xml" Type="http://schemas.openxmlformats.org/officeDocument/2006/relationships/notesSlide"/><Relationship Id="rId24" Target="notesSlides/notesSlide4.xml" Type="http://schemas.openxmlformats.org/officeDocument/2006/relationships/notesSlide"/><Relationship Id="rId25" Target="notesSlides/notesSlide5.xml" Type="http://schemas.openxmlformats.org/officeDocument/2006/relationships/notesSlide"/><Relationship Id="rId26" Target="notesSlides/notesSlide6.xml" Type="http://schemas.openxmlformats.org/officeDocument/2006/relationships/notesSlide"/><Relationship Id="rId27" Target="notesSlides/notesSlide7.xml" Type="http://schemas.openxmlformats.org/officeDocument/2006/relationships/notesSlide"/><Relationship Id="rId28" Target="notesSlides/notesSlide8.xml" Type="http://schemas.openxmlformats.org/officeDocument/2006/relationships/notesSlide"/><Relationship Id="rId29" Target="notesSlides/notesSlide9.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https://gamma.app/?utm_source=made-with-gamma" TargetMode="External" Type="http://schemas.openxmlformats.org/officeDocument/2006/relationships/hyperlink"/><Relationship Id="rId4" Target="../media/image2.png" Type="http://schemas.openxmlformats.org/officeDocument/2006/relationships/image"/><Relationship Id="rId5"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5.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7.png" Type="http://schemas.openxmlformats.org/officeDocument/2006/relationships/image"/><Relationship Id="rId4" Target="../media/image8.svg" Type="http://schemas.openxmlformats.org/officeDocument/2006/relationships/image"/><Relationship Id="rId5" Target="../media/image5.jpe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302D2C"/>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464342"/>
            </a:solidFill>
          </p:spPr>
        </p:sp>
      </p:grpSp>
      <p:grpSp>
        <p:nvGrpSpPr>
          <p:cNvPr name="Group 6" id="6"/>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3"/>
              <a:stretch>
                <a:fillRect l="0" t="0" r="0" b="0"/>
              </a:stretch>
            </a:blipFill>
          </p:spPr>
        </p:sp>
      </p:grpSp>
      <p:grpSp>
        <p:nvGrpSpPr>
          <p:cNvPr name="Group 8" id="8"/>
          <p:cNvGrpSpPr/>
          <p:nvPr/>
        </p:nvGrpSpPr>
        <p:grpSpPr>
          <a:xfrm rot="0">
            <a:off x="7140193" y="3098978"/>
            <a:ext cx="3884363" cy="532800"/>
            <a:chOff x="0" y="0"/>
            <a:chExt cx="5179151" cy="710400"/>
          </a:xfrm>
        </p:grpSpPr>
        <p:sp>
          <p:nvSpPr>
            <p:cNvPr name="Freeform 9" id="9"/>
            <p:cNvSpPr/>
            <p:nvPr/>
          </p:nvSpPr>
          <p:spPr>
            <a:xfrm flipH="false" flipV="false" rot="0">
              <a:off x="0" y="0"/>
              <a:ext cx="5179086" cy="710438"/>
            </a:xfrm>
            <a:custGeom>
              <a:avLst/>
              <a:gdLst/>
              <a:ahLst/>
              <a:cxnLst/>
              <a:rect r="r" b="b" t="t" l="l"/>
              <a:pathLst>
                <a:path h="710438" w="5179086">
                  <a:moveTo>
                    <a:pt x="0" y="45339"/>
                  </a:moveTo>
                  <a:cubicBezTo>
                    <a:pt x="0" y="20320"/>
                    <a:pt x="17290" y="0"/>
                    <a:pt x="38579" y="0"/>
                  </a:cubicBezTo>
                  <a:lnTo>
                    <a:pt x="5140507" y="0"/>
                  </a:lnTo>
                  <a:cubicBezTo>
                    <a:pt x="5161796" y="0"/>
                    <a:pt x="5179086" y="20320"/>
                    <a:pt x="5179086" y="45339"/>
                  </a:cubicBezTo>
                  <a:lnTo>
                    <a:pt x="5179086" y="665099"/>
                  </a:lnTo>
                  <a:cubicBezTo>
                    <a:pt x="5179086" y="690118"/>
                    <a:pt x="5161796" y="710438"/>
                    <a:pt x="5140507" y="710438"/>
                  </a:cubicBezTo>
                  <a:lnTo>
                    <a:pt x="38579" y="710438"/>
                  </a:lnTo>
                  <a:cubicBezTo>
                    <a:pt x="17290" y="710438"/>
                    <a:pt x="0" y="690118"/>
                    <a:pt x="0" y="665099"/>
                  </a:cubicBezTo>
                  <a:close/>
                </a:path>
              </a:pathLst>
            </a:custGeom>
            <a:solidFill>
              <a:srgbClr val="33221A"/>
            </a:solidFill>
          </p:spPr>
        </p:sp>
      </p:grpSp>
      <p:sp>
        <p:nvSpPr>
          <p:cNvPr name="TextBox 10" id="10"/>
          <p:cNvSpPr txBox="true"/>
          <p:nvPr/>
        </p:nvSpPr>
        <p:spPr>
          <a:xfrm rot="0">
            <a:off x="7230170" y="3150951"/>
            <a:ext cx="3413825" cy="343129"/>
          </a:xfrm>
          <a:prstGeom prst="rect">
            <a:avLst/>
          </a:prstGeom>
        </p:spPr>
        <p:txBody>
          <a:bodyPr anchor="t" rtlCol="false" tIns="0" lIns="0" bIns="0" rIns="0">
            <a:spAutoFit/>
          </a:bodyPr>
          <a:lstStyle/>
          <a:p>
            <a:pPr algn="l">
              <a:lnSpc>
                <a:spcPts val="2713"/>
              </a:lnSpc>
            </a:pPr>
            <a:r>
              <a:rPr lang="en-US" sz="1700">
                <a:solidFill>
                  <a:srgbClr val="C9C2C0"/>
                </a:solidFill>
                <a:latin typeface="Arimo"/>
                <a:ea typeface="Arimo"/>
                <a:cs typeface="Arimo"/>
                <a:sym typeface="Arimo"/>
              </a:rPr>
              <a:t>CSE 499A · SENIOR DESIGN 1 </a:t>
            </a:r>
          </a:p>
        </p:txBody>
      </p:sp>
      <p:sp>
        <p:nvSpPr>
          <p:cNvPr name="TextBox 11" id="11"/>
          <p:cNvSpPr txBox="true"/>
          <p:nvPr/>
        </p:nvSpPr>
        <p:spPr>
          <a:xfrm rot="0">
            <a:off x="7230170" y="4655896"/>
            <a:ext cx="9445523" cy="870433"/>
          </a:xfrm>
          <a:prstGeom prst="rect">
            <a:avLst/>
          </a:prstGeom>
        </p:spPr>
        <p:txBody>
          <a:bodyPr anchor="t" rtlCol="false" tIns="0" lIns="0" bIns="0" rIns="0">
            <a:spAutoFit/>
          </a:bodyPr>
          <a:lstStyle/>
          <a:p>
            <a:pPr algn="l">
              <a:lnSpc>
                <a:spcPts val="3511"/>
              </a:lnSpc>
            </a:pPr>
            <a:r>
              <a:rPr lang="en-US" sz="2200">
                <a:solidFill>
                  <a:srgbClr val="C9C2C0"/>
                </a:solidFill>
                <a:latin typeface="Arimo"/>
                <a:ea typeface="Arimo"/>
                <a:cs typeface="Arimo"/>
                <a:sym typeface="Arimo"/>
              </a:rPr>
              <a:t>AI-Based Classroom Photo Attendance Management System Using Face Recognition</a:t>
            </a:r>
          </a:p>
        </p:txBody>
      </p:sp>
      <p:sp>
        <p:nvSpPr>
          <p:cNvPr name="TextBox 12" id="12"/>
          <p:cNvSpPr txBox="true"/>
          <p:nvPr/>
        </p:nvSpPr>
        <p:spPr>
          <a:xfrm rot="0">
            <a:off x="7230170" y="6099182"/>
            <a:ext cx="6574929" cy="2920898"/>
          </a:xfrm>
          <a:prstGeom prst="rect">
            <a:avLst/>
          </a:prstGeom>
        </p:spPr>
        <p:txBody>
          <a:bodyPr anchor="t" rtlCol="false" tIns="0" lIns="0" bIns="0" rIns="0">
            <a:spAutoFit/>
          </a:bodyPr>
          <a:lstStyle/>
          <a:p>
            <a:pPr algn="l">
              <a:lnSpc>
                <a:spcPts val="2620"/>
              </a:lnSpc>
              <a:spcBef>
                <a:spcPct val="0"/>
              </a:spcBef>
            </a:pPr>
            <a:r>
              <a:rPr lang="en-US" sz="2100">
                <a:solidFill>
                  <a:srgbClr val="C9C2C0"/>
                </a:solidFill>
                <a:latin typeface="Arimo"/>
                <a:ea typeface="Arimo"/>
                <a:cs typeface="Arimo"/>
                <a:sym typeface="Arimo"/>
              </a:rPr>
              <a:t>Group 7</a:t>
            </a:r>
          </a:p>
          <a:p>
            <a:pPr algn="l">
              <a:lnSpc>
                <a:spcPts val="2620"/>
              </a:lnSpc>
              <a:spcBef>
                <a:spcPct val="0"/>
              </a:spcBef>
            </a:pPr>
            <a:r>
              <a:rPr lang="en-US" sz="2100">
                <a:solidFill>
                  <a:srgbClr val="C9C2C0"/>
                </a:solidFill>
                <a:latin typeface="Arimo"/>
                <a:ea typeface="Arimo"/>
                <a:cs typeface="Arimo"/>
                <a:sym typeface="Arimo"/>
              </a:rPr>
              <a:t>Team members:</a:t>
            </a:r>
          </a:p>
          <a:p>
            <a:pPr algn="l" marL="453390" indent="-226695" lvl="1">
              <a:lnSpc>
                <a:spcPts val="2620"/>
              </a:lnSpc>
              <a:buFont typeface="Arial"/>
              <a:buChar char="•"/>
            </a:pPr>
            <a:r>
              <a:rPr lang="en-US" sz="2100">
                <a:solidFill>
                  <a:srgbClr val="C9C2C0"/>
                </a:solidFill>
                <a:latin typeface="Arimo"/>
                <a:ea typeface="Arimo"/>
                <a:cs typeface="Arimo"/>
                <a:sym typeface="Arimo"/>
              </a:rPr>
              <a:t>Md. Rizvi Ahmed 2221719042 </a:t>
            </a:r>
          </a:p>
          <a:p>
            <a:pPr algn="l" marL="453390" indent="-226695" lvl="1">
              <a:lnSpc>
                <a:spcPts val="2620"/>
              </a:lnSpc>
              <a:buFont typeface="Arial"/>
              <a:buChar char="•"/>
            </a:pPr>
            <a:r>
              <a:rPr lang="en-US" sz="2100">
                <a:solidFill>
                  <a:srgbClr val="C9C2C0"/>
                </a:solidFill>
                <a:latin typeface="Arimo"/>
                <a:ea typeface="Arimo"/>
                <a:cs typeface="Arimo"/>
                <a:sym typeface="Arimo"/>
              </a:rPr>
              <a:t>Safayat ibrahim 2131174642 </a:t>
            </a:r>
          </a:p>
          <a:p>
            <a:pPr algn="l" marL="453390" indent="-226695" lvl="1">
              <a:lnSpc>
                <a:spcPts val="2620"/>
              </a:lnSpc>
              <a:buFont typeface="Arial"/>
              <a:buChar char="•"/>
            </a:pPr>
            <a:r>
              <a:rPr lang="en-US" sz="2100">
                <a:solidFill>
                  <a:srgbClr val="C9C2C0"/>
                </a:solidFill>
                <a:latin typeface="Arimo"/>
                <a:ea typeface="Arimo"/>
                <a:cs typeface="Arimo"/>
                <a:sym typeface="Arimo"/>
              </a:rPr>
              <a:t>Rafiqul Islam 2122414642 </a:t>
            </a:r>
          </a:p>
          <a:p>
            <a:pPr algn="l" marL="453390" indent="-226695" lvl="1">
              <a:lnSpc>
                <a:spcPts val="2620"/>
              </a:lnSpc>
              <a:buFont typeface="Arial"/>
              <a:buChar char="•"/>
            </a:pPr>
            <a:r>
              <a:rPr lang="en-US" sz="2100">
                <a:solidFill>
                  <a:srgbClr val="C9C2C0"/>
                </a:solidFill>
                <a:latin typeface="Arimo"/>
                <a:ea typeface="Arimo"/>
                <a:cs typeface="Arimo"/>
                <a:sym typeface="Arimo"/>
              </a:rPr>
              <a:t>Md. Arebi Sarkar 2221362042 </a:t>
            </a:r>
          </a:p>
          <a:p>
            <a:pPr algn="l" marL="453390" indent="-226695" lvl="1">
              <a:lnSpc>
                <a:spcPts val="2620"/>
              </a:lnSpc>
              <a:buFont typeface="Arial"/>
              <a:buChar char="•"/>
            </a:pPr>
          </a:p>
          <a:p>
            <a:pPr algn="l">
              <a:lnSpc>
                <a:spcPts val="2620"/>
              </a:lnSpc>
              <a:spcBef>
                <a:spcPct val="0"/>
              </a:spcBef>
            </a:pPr>
            <a:r>
              <a:rPr lang="en-US" sz="2100">
                <a:solidFill>
                  <a:srgbClr val="C9C2C0"/>
                </a:solidFill>
                <a:latin typeface="Arimo"/>
                <a:ea typeface="Arimo"/>
                <a:cs typeface="Arimo"/>
                <a:sym typeface="Arimo"/>
              </a:rPr>
              <a:t>Supervisor: </a:t>
            </a:r>
          </a:p>
          <a:p>
            <a:pPr algn="l" marL="453390" indent="-226695" lvl="1">
              <a:lnSpc>
                <a:spcPts val="2620"/>
              </a:lnSpc>
              <a:buFont typeface="Arial"/>
              <a:buChar char="•"/>
            </a:pPr>
            <a:r>
              <a:rPr lang="en-US" sz="2100">
                <a:solidFill>
                  <a:srgbClr val="C9C2C0"/>
                </a:solidFill>
                <a:latin typeface="Arimo"/>
                <a:ea typeface="Arimo"/>
                <a:cs typeface="Arimo"/>
                <a:sym typeface="Arimo"/>
              </a:rPr>
              <a:t>Mohammad Shifat-E-Rabbi · North South University</a:t>
            </a:r>
          </a:p>
        </p:txBody>
      </p:sp>
      <p:sp>
        <p:nvSpPr>
          <p:cNvPr name="TextBox 13" id="13"/>
          <p:cNvSpPr txBox="true"/>
          <p:nvPr/>
        </p:nvSpPr>
        <p:spPr>
          <a:xfrm rot="0">
            <a:off x="7140193" y="3677819"/>
            <a:ext cx="8478219" cy="1243356"/>
          </a:xfrm>
          <a:prstGeom prst="rect">
            <a:avLst/>
          </a:prstGeom>
        </p:spPr>
        <p:txBody>
          <a:bodyPr anchor="t" rtlCol="false" tIns="0" lIns="0" bIns="0" rIns="0">
            <a:spAutoFit/>
          </a:bodyPr>
          <a:lstStyle/>
          <a:p>
            <a:pPr algn="l">
              <a:lnSpc>
                <a:spcPts val="6988"/>
              </a:lnSpc>
              <a:spcBef>
                <a:spcPct val="0"/>
              </a:spcBef>
            </a:pPr>
            <a:r>
              <a:rPr lang="en-US" b="true" sz="5599">
                <a:solidFill>
                  <a:srgbClr val="D8B6A4"/>
                </a:solidFill>
                <a:latin typeface="Arimo Bold"/>
                <a:ea typeface="Arimo Bold"/>
                <a:cs typeface="Arimo Bold"/>
                <a:sym typeface="Arimo Bold"/>
              </a:rPr>
              <a:t>Camp</a:t>
            </a:r>
            <a:r>
              <a:rPr lang="en-US" b="true" sz="5599">
                <a:solidFill>
                  <a:srgbClr val="D8B6A4"/>
                </a:solidFill>
                <a:latin typeface="Arimo Bold"/>
                <a:ea typeface="Arimo Bold"/>
                <a:cs typeface="Arimo Bold"/>
                <a:sym typeface="Arimo Bold"/>
              </a:rPr>
              <a:t>usEye</a:t>
            </a:r>
          </a:p>
          <a:p>
            <a:pPr algn="l">
              <a:lnSpc>
                <a:spcPts val="2620"/>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302D2C"/>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464342"/>
            </a:solidFill>
          </p:spPr>
        </p:sp>
      </p:grpSp>
      <p:grpSp>
        <p:nvGrpSpPr>
          <p:cNvPr name="Group 6" id="6"/>
          <p:cNvGrpSpPr/>
          <p:nvPr/>
        </p:nvGrpSpPr>
        <p:grpSpPr>
          <a:xfrm rot="0">
            <a:off x="16058359" y="9688982"/>
            <a:ext cx="2143687" cy="512064"/>
            <a:chOff x="0" y="0"/>
            <a:chExt cx="2858249" cy="682752"/>
          </a:xfrm>
        </p:grpSpPr>
        <p:sp>
          <p:nvSpPr>
            <p:cNvPr name="Freeform 7" id="7" descr="preencoded.png">
              <a:hlinkClick r:id="rId3" tooltip="https://gamma.app/?utm_source=made-with-gamma"/>
            </p:cNvPr>
            <p:cNvSpPr/>
            <p:nvPr/>
          </p:nvSpPr>
          <p:spPr>
            <a:xfrm flipH="false" flipV="false" rot="0">
              <a:off x="0" y="0"/>
              <a:ext cx="2858262" cy="682752"/>
            </a:xfrm>
            <a:custGeom>
              <a:avLst/>
              <a:gdLst/>
              <a:ahLst/>
              <a:cxnLst/>
              <a:rect r="r" b="b" t="t" l="l"/>
              <a:pathLst>
                <a:path h="682752" w="2858262">
                  <a:moveTo>
                    <a:pt x="0" y="0"/>
                  </a:moveTo>
                  <a:lnTo>
                    <a:pt x="2858262" y="0"/>
                  </a:lnTo>
                  <a:lnTo>
                    <a:pt x="2858262" y="682752"/>
                  </a:lnTo>
                  <a:lnTo>
                    <a:pt x="0" y="682752"/>
                  </a:lnTo>
                  <a:lnTo>
                    <a:pt x="0" y="0"/>
                  </a:lnTo>
                  <a:close/>
                </a:path>
              </a:pathLst>
            </a:custGeom>
            <a:blipFill>
              <a:blip r:embed="rId4"/>
              <a:stretch>
                <a:fillRect l="0" t="0" r="0"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0" t="0" r="0" b="0"/>
              </a:stretch>
            </a:blipFill>
          </p:spPr>
        </p:sp>
      </p:grpSp>
      <p:sp>
        <p:nvSpPr>
          <p:cNvPr name="TextBox 10" id="10"/>
          <p:cNvSpPr txBox="true"/>
          <p:nvPr/>
        </p:nvSpPr>
        <p:spPr>
          <a:xfrm rot="0">
            <a:off x="992238" y="2883877"/>
            <a:ext cx="7369522" cy="743483"/>
          </a:xfrm>
          <a:prstGeom prst="rect">
            <a:avLst/>
          </a:prstGeom>
        </p:spPr>
        <p:txBody>
          <a:bodyPr anchor="t" rtlCol="false" tIns="0" lIns="0" bIns="0" rIns="0">
            <a:spAutoFit/>
          </a:bodyPr>
          <a:lstStyle/>
          <a:p>
            <a:pPr algn="l">
              <a:lnSpc>
                <a:spcPts val="5740"/>
              </a:lnSpc>
            </a:pPr>
            <a:r>
              <a:rPr lang="en-US" sz="4599">
                <a:solidFill>
                  <a:srgbClr val="D8B6A4"/>
                </a:solidFill>
                <a:latin typeface="Arimo"/>
                <a:ea typeface="Arimo"/>
                <a:cs typeface="Arimo"/>
                <a:sym typeface="Arimo"/>
              </a:rPr>
              <a:t>The Existing System at NSU</a:t>
            </a:r>
          </a:p>
        </p:txBody>
      </p:sp>
      <p:sp>
        <p:nvSpPr>
          <p:cNvPr name="TextBox 11" id="11"/>
          <p:cNvSpPr txBox="true"/>
          <p:nvPr/>
        </p:nvSpPr>
        <p:spPr>
          <a:xfrm rot="0">
            <a:off x="992238" y="4171089"/>
            <a:ext cx="7465463" cy="2602916"/>
          </a:xfrm>
          <a:prstGeom prst="rect">
            <a:avLst/>
          </a:prstGeom>
        </p:spPr>
        <p:txBody>
          <a:bodyPr anchor="t" rtlCol="false" tIns="0" lIns="0" bIns="0" rIns="0">
            <a:spAutoFit/>
          </a:bodyPr>
          <a:lstStyle/>
          <a:p>
            <a:pPr algn="l">
              <a:lnSpc>
                <a:spcPts val="4149"/>
              </a:lnSpc>
            </a:pPr>
            <a:r>
              <a:rPr lang="en-US" sz="2599">
                <a:solidFill>
                  <a:srgbClr val="C9C2C0"/>
                </a:solidFill>
                <a:latin typeface="Arimo"/>
                <a:ea typeface="Arimo"/>
                <a:cs typeface="Arimo"/>
                <a:sym typeface="Arimo"/>
              </a:rPr>
              <a:t>Currently, every NSU student carries an RFID card. Upon entering the classroom, they scan the card on a wall-mounted sensor, and attendance is automatically recorded in the university's central system aka. RDS.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302D2C"/>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464342"/>
            </a:solidFill>
          </p:spPr>
        </p:sp>
      </p:grpSp>
      <p:grpSp>
        <p:nvGrpSpPr>
          <p:cNvPr name="Group 6" id="6"/>
          <p:cNvGrpSpPr/>
          <p:nvPr/>
        </p:nvGrpSpPr>
        <p:grpSpPr>
          <a:xfrm rot="0">
            <a:off x="8311561" y="2973062"/>
            <a:ext cx="8993583" cy="5627718"/>
            <a:chOff x="0" y="0"/>
            <a:chExt cx="11991444" cy="7503624"/>
          </a:xfrm>
        </p:grpSpPr>
        <p:sp>
          <p:nvSpPr>
            <p:cNvPr name="Freeform 7" id="7"/>
            <p:cNvSpPr/>
            <p:nvPr/>
          </p:nvSpPr>
          <p:spPr>
            <a:xfrm flipH="false" flipV="false" rot="0">
              <a:off x="0" y="0"/>
              <a:ext cx="11991445" cy="7503587"/>
            </a:xfrm>
            <a:custGeom>
              <a:avLst/>
              <a:gdLst/>
              <a:ahLst/>
              <a:cxnLst/>
              <a:rect r="r" b="b" t="t" l="l"/>
              <a:pathLst>
                <a:path h="7503587" w="11991445">
                  <a:moveTo>
                    <a:pt x="0" y="0"/>
                  </a:moveTo>
                  <a:lnTo>
                    <a:pt x="11991445" y="0"/>
                  </a:lnTo>
                  <a:lnTo>
                    <a:pt x="11991445" y="7503587"/>
                  </a:lnTo>
                  <a:lnTo>
                    <a:pt x="0" y="7503587"/>
                  </a:lnTo>
                  <a:lnTo>
                    <a:pt x="0" y="0"/>
                  </a:lnTo>
                  <a:close/>
                </a:path>
              </a:pathLst>
            </a:custGeom>
            <a:blipFill>
              <a:blip r:embed="rId3"/>
              <a:stretch>
                <a:fillRect l="0" t="-29113" r="0" b="-29113"/>
              </a:stretch>
            </a:blipFill>
          </p:spPr>
        </p:sp>
      </p:grpSp>
      <p:sp>
        <p:nvSpPr>
          <p:cNvPr name="TextBox 8" id="8"/>
          <p:cNvSpPr txBox="true"/>
          <p:nvPr/>
        </p:nvSpPr>
        <p:spPr>
          <a:xfrm rot="0">
            <a:off x="1028700" y="1698183"/>
            <a:ext cx="9346406" cy="660806"/>
          </a:xfrm>
          <a:prstGeom prst="rect">
            <a:avLst/>
          </a:prstGeom>
        </p:spPr>
        <p:txBody>
          <a:bodyPr anchor="t" rtlCol="false" tIns="0" lIns="0" bIns="0" rIns="0">
            <a:spAutoFit/>
          </a:bodyPr>
          <a:lstStyle/>
          <a:p>
            <a:pPr algn="l">
              <a:lnSpc>
                <a:spcPts val="5116"/>
              </a:lnSpc>
            </a:pPr>
            <a:r>
              <a:rPr lang="en-US" sz="4100">
                <a:solidFill>
                  <a:srgbClr val="D8B6A4"/>
                </a:solidFill>
                <a:latin typeface="Arimo"/>
                <a:ea typeface="Arimo"/>
                <a:cs typeface="Arimo"/>
                <a:sym typeface="Arimo"/>
              </a:rPr>
              <a:t>Limitations of RFID Attendance Systems</a:t>
            </a:r>
          </a:p>
        </p:txBody>
      </p:sp>
      <p:sp>
        <p:nvSpPr>
          <p:cNvPr name="TextBox 9" id="9"/>
          <p:cNvSpPr txBox="true"/>
          <p:nvPr/>
        </p:nvSpPr>
        <p:spPr>
          <a:xfrm rot="0">
            <a:off x="1028700" y="2906387"/>
            <a:ext cx="6197421" cy="5445633"/>
          </a:xfrm>
          <a:prstGeom prst="rect">
            <a:avLst/>
          </a:prstGeom>
        </p:spPr>
        <p:txBody>
          <a:bodyPr anchor="t" rtlCol="false" tIns="0" lIns="0" bIns="0" rIns="0">
            <a:spAutoFit/>
          </a:bodyPr>
          <a:lstStyle/>
          <a:p>
            <a:pPr algn="l" marL="482600" indent="-241300" lvl="1">
              <a:lnSpc>
                <a:spcPts val="3096"/>
              </a:lnSpc>
              <a:buFont typeface="Arial"/>
              <a:buChar char="•"/>
            </a:pPr>
            <a:r>
              <a:rPr lang="en-US" b="true" sz="2000">
                <a:solidFill>
                  <a:srgbClr val="C9C2C0"/>
                </a:solidFill>
                <a:latin typeface="Arimo Bold"/>
                <a:ea typeface="Arimo Bold"/>
                <a:cs typeface="Arimo Bold"/>
                <a:sym typeface="Arimo Bold"/>
              </a:rPr>
              <a:t>Card dependency:</a:t>
            </a:r>
            <a:r>
              <a:rPr lang="en-US" sz="2000">
                <a:solidFill>
                  <a:srgbClr val="C9C2C0"/>
                </a:solidFill>
                <a:latin typeface="Arimo"/>
                <a:ea typeface="Arimo"/>
                <a:cs typeface="Arimo"/>
                <a:sym typeface="Arimo"/>
              </a:rPr>
              <a:t> Students who forget or lose their RFID card cannot mark attendance, even if physically present in class.</a:t>
            </a:r>
          </a:p>
          <a:p>
            <a:pPr algn="l" marL="482600" indent="-241300" lvl="1">
              <a:lnSpc>
                <a:spcPts val="3096"/>
              </a:lnSpc>
              <a:buFont typeface="Arial"/>
              <a:buChar char="•"/>
            </a:pPr>
            <a:r>
              <a:rPr lang="en-US" b="true" sz="2000">
                <a:solidFill>
                  <a:srgbClr val="C9C2C0"/>
                </a:solidFill>
                <a:latin typeface="Arimo Bold"/>
                <a:ea typeface="Arimo Bold"/>
                <a:cs typeface="Arimo Bold"/>
                <a:sym typeface="Arimo Bold"/>
              </a:rPr>
              <a:t>Proxy punching:</a:t>
            </a:r>
            <a:r>
              <a:rPr lang="en-US" sz="2000">
                <a:solidFill>
                  <a:srgbClr val="C9C2C0"/>
                </a:solidFill>
                <a:latin typeface="Arimo"/>
                <a:ea typeface="Arimo"/>
                <a:cs typeface="Arimo"/>
                <a:sym typeface="Arimo"/>
              </a:rPr>
              <a:t> Classmates can easily scan a card on someone's behalf, undermining the integrity of attendance records.</a:t>
            </a:r>
          </a:p>
          <a:p>
            <a:pPr algn="l" marL="482600" indent="-241300" lvl="1">
              <a:lnSpc>
                <a:spcPts val="3096"/>
              </a:lnSpc>
              <a:buFont typeface="Arial"/>
              <a:buChar char="•"/>
            </a:pPr>
            <a:r>
              <a:rPr lang="en-US" b="true" sz="2000">
                <a:solidFill>
                  <a:srgbClr val="C9C2C0"/>
                </a:solidFill>
                <a:latin typeface="Arimo Bold"/>
                <a:ea typeface="Arimo Bold"/>
                <a:cs typeface="Arimo Bold"/>
                <a:sym typeface="Arimo Bold"/>
              </a:rPr>
              <a:t>Time-consuming:</a:t>
            </a:r>
            <a:r>
              <a:rPr lang="en-US" sz="2000">
                <a:solidFill>
                  <a:srgbClr val="C9C2C0"/>
                </a:solidFill>
                <a:latin typeface="Arimo"/>
                <a:ea typeface="Arimo"/>
                <a:cs typeface="Arimo"/>
                <a:sym typeface="Arimo"/>
              </a:rPr>
              <a:t> A queue forms at the sensor in large sections, eating into valuable lecture time.</a:t>
            </a:r>
          </a:p>
          <a:p>
            <a:pPr algn="l" marL="482347" indent="-241173" lvl="1">
              <a:lnSpc>
                <a:spcPts val="3096"/>
              </a:lnSpc>
              <a:buFont typeface="Arial"/>
              <a:buChar char="•"/>
            </a:pPr>
            <a:r>
              <a:rPr lang="en-US" b="true" sz="2000">
                <a:solidFill>
                  <a:srgbClr val="C9C2C0"/>
                </a:solidFill>
                <a:latin typeface="Arimo Bold"/>
                <a:ea typeface="Arimo Bold"/>
                <a:cs typeface="Arimo Bold"/>
                <a:sym typeface="Arimo Bold"/>
              </a:rPr>
              <a:t>Hardware Maintenance: </a:t>
            </a:r>
            <a:r>
              <a:rPr lang="en-US" sz="2000">
                <a:solidFill>
                  <a:srgbClr val="C9C2C0"/>
                </a:solidFill>
                <a:latin typeface="Arimo"/>
                <a:ea typeface="Arimo"/>
                <a:cs typeface="Arimo"/>
                <a:sym typeface="Arimo"/>
              </a:rPr>
              <a:t>RFID readers require installation, maintenance, and occasional replacement due to wear and technical issues.</a:t>
            </a:r>
          </a:p>
          <a:p>
            <a:pPr algn="l" marL="482600" indent="-241300" lvl="1">
              <a:lnSpc>
                <a:spcPts val="3096"/>
              </a:lnSpc>
              <a:buFont typeface="Arial"/>
              <a:buChar char="•"/>
            </a:pPr>
            <a:r>
              <a:rPr lang="en-US" b="true" sz="2000">
                <a:solidFill>
                  <a:srgbClr val="C9C2C0"/>
                </a:solidFill>
                <a:latin typeface="Arimo Bold"/>
                <a:ea typeface="Arimo Bold"/>
                <a:cs typeface="Arimo Bold"/>
                <a:sym typeface="Arimo Bold"/>
              </a:rPr>
              <a:t>No real-time verification:</a:t>
            </a:r>
            <a:r>
              <a:rPr lang="en-US" sz="2000">
                <a:solidFill>
                  <a:srgbClr val="C9C2C0"/>
                </a:solidFill>
                <a:latin typeface="Arimo"/>
                <a:ea typeface="Arimo"/>
                <a:cs typeface="Arimo"/>
                <a:sym typeface="Arimo"/>
              </a:rPr>
              <a:t> The system cannot confirm whether the card owner is actually inside the classroom.</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302D2C"/>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464342"/>
            </a:solidFill>
          </p:spPr>
        </p:sp>
      </p:grpSp>
      <p:sp>
        <p:nvSpPr>
          <p:cNvPr name="TextBox 6" id="6"/>
          <p:cNvSpPr txBox="true"/>
          <p:nvPr/>
        </p:nvSpPr>
        <p:spPr>
          <a:xfrm rot="0">
            <a:off x="992238" y="1976733"/>
            <a:ext cx="6639820" cy="746817"/>
          </a:xfrm>
          <a:prstGeom prst="rect">
            <a:avLst/>
          </a:prstGeom>
        </p:spPr>
        <p:txBody>
          <a:bodyPr anchor="t" rtlCol="false" tIns="0" lIns="0" bIns="0" rIns="0">
            <a:spAutoFit/>
          </a:bodyPr>
          <a:lstStyle/>
          <a:p>
            <a:pPr algn="l">
              <a:lnSpc>
                <a:spcPts val="5491"/>
              </a:lnSpc>
            </a:pPr>
            <a:r>
              <a:rPr lang="en-US" sz="4400">
                <a:solidFill>
                  <a:srgbClr val="D8B6A4"/>
                </a:solidFill>
                <a:latin typeface="Arimo"/>
                <a:ea typeface="Arimo"/>
                <a:cs typeface="Arimo"/>
                <a:sym typeface="Arimo"/>
              </a:rPr>
              <a:t>Our Proposed Solution</a:t>
            </a:r>
          </a:p>
        </p:txBody>
      </p:sp>
      <p:sp>
        <p:nvSpPr>
          <p:cNvPr name="TextBox 7" id="7"/>
          <p:cNvSpPr txBox="true"/>
          <p:nvPr/>
        </p:nvSpPr>
        <p:spPr>
          <a:xfrm rot="0">
            <a:off x="992238" y="3185817"/>
            <a:ext cx="16303523" cy="1308583"/>
          </a:xfrm>
          <a:prstGeom prst="rect">
            <a:avLst/>
          </a:prstGeom>
        </p:spPr>
        <p:txBody>
          <a:bodyPr anchor="t" rtlCol="false" tIns="0" lIns="0" bIns="0" rIns="0">
            <a:spAutoFit/>
          </a:bodyPr>
          <a:lstStyle/>
          <a:p>
            <a:pPr algn="l">
              <a:lnSpc>
                <a:spcPts val="3511"/>
              </a:lnSpc>
            </a:pPr>
            <a:r>
              <a:rPr lang="en-US" sz="2200">
                <a:solidFill>
                  <a:srgbClr val="C9C2C0"/>
                </a:solidFill>
                <a:latin typeface="Arimo"/>
                <a:ea typeface="Arimo"/>
                <a:cs typeface="Arimo"/>
                <a:sym typeface="Arimo"/>
              </a:rPr>
              <a:t>Instead of punching an RFID card, the class teacher captures a single photo of the entire classroom from the front. The image is sent to our application where an AI model detects every face using facial recognition and matches it against a pre-registered database stored in the backend.</a:t>
            </a:r>
          </a:p>
        </p:txBody>
      </p:sp>
      <p:grpSp>
        <p:nvGrpSpPr>
          <p:cNvPr name="Group 8" id="8"/>
          <p:cNvGrpSpPr/>
          <p:nvPr/>
        </p:nvGrpSpPr>
        <p:grpSpPr>
          <a:xfrm rot="0">
            <a:off x="992238" y="4970412"/>
            <a:ext cx="567033" cy="354359"/>
            <a:chOff x="0" y="0"/>
            <a:chExt cx="756044" cy="472478"/>
          </a:xfrm>
        </p:grpSpPr>
        <p:sp>
          <p:nvSpPr>
            <p:cNvPr name="Freeform 9" id="9"/>
            <p:cNvSpPr/>
            <p:nvPr/>
          </p:nvSpPr>
          <p:spPr>
            <a:xfrm flipH="false" flipV="false" rot="0">
              <a:off x="0" y="0"/>
              <a:ext cx="756048" cy="472480"/>
            </a:xfrm>
            <a:custGeom>
              <a:avLst/>
              <a:gdLst/>
              <a:ahLst/>
              <a:cxnLst/>
              <a:rect r="r" b="b" t="t" l="l"/>
              <a:pathLst>
                <a:path h="472480" w="756048">
                  <a:moveTo>
                    <a:pt x="0" y="0"/>
                  </a:moveTo>
                  <a:lnTo>
                    <a:pt x="756048" y="0"/>
                  </a:lnTo>
                  <a:lnTo>
                    <a:pt x="756048" y="472480"/>
                  </a:lnTo>
                  <a:lnTo>
                    <a:pt x="0" y="472480"/>
                  </a:lnTo>
                  <a:close/>
                </a:path>
              </a:pathLst>
            </a:custGeom>
            <a:blipFill>
              <a:blip r:embed="rId3">
                <a:alphaModFix amt="0"/>
              </a:blip>
              <a:stretch>
                <a:fillRect l="-30181" t="0" r="-30180" b="0"/>
              </a:stretch>
            </a:blipFill>
          </p:spPr>
        </p:sp>
        <p:sp>
          <p:nvSpPr>
            <p:cNvPr name="TextBox 10" id="10"/>
            <p:cNvSpPr txBox="true"/>
            <p:nvPr/>
          </p:nvSpPr>
          <p:spPr>
            <a:xfrm>
              <a:off x="0" y="-19050"/>
              <a:ext cx="756044" cy="491528"/>
            </a:xfrm>
            <a:prstGeom prst="rect">
              <a:avLst/>
            </a:prstGeom>
          </p:spPr>
          <p:txBody>
            <a:bodyPr anchor="ctr" rtlCol="false" tIns="0" lIns="0" bIns="0" rIns="0"/>
            <a:lstStyle/>
            <a:p>
              <a:pPr algn="l">
                <a:lnSpc>
                  <a:spcPts val="2640"/>
                </a:lnSpc>
              </a:pPr>
              <a:r>
                <a:rPr lang="en-US" sz="2200">
                  <a:solidFill>
                    <a:srgbClr val="C9C2C0"/>
                  </a:solidFill>
                  <a:latin typeface="Arimo"/>
                  <a:ea typeface="Arimo"/>
                  <a:cs typeface="Arimo"/>
                  <a:sym typeface="Arimo"/>
                </a:rPr>
                <a:t>01</a:t>
              </a:r>
            </a:p>
          </p:txBody>
        </p:sp>
      </p:grpSp>
      <p:grpSp>
        <p:nvGrpSpPr>
          <p:cNvPr name="Group 11" id="11"/>
          <p:cNvGrpSpPr/>
          <p:nvPr/>
        </p:nvGrpSpPr>
        <p:grpSpPr>
          <a:xfrm rot="0">
            <a:off x="992238" y="5414220"/>
            <a:ext cx="5245446" cy="38100"/>
            <a:chOff x="0" y="0"/>
            <a:chExt cx="6993928" cy="50800"/>
          </a:xfrm>
        </p:grpSpPr>
        <p:sp>
          <p:nvSpPr>
            <p:cNvPr name="Freeform 12" id="12"/>
            <p:cNvSpPr/>
            <p:nvPr/>
          </p:nvSpPr>
          <p:spPr>
            <a:xfrm flipH="false" flipV="false" rot="0">
              <a:off x="0" y="0"/>
              <a:ext cx="6993890" cy="50800"/>
            </a:xfrm>
            <a:custGeom>
              <a:avLst/>
              <a:gdLst/>
              <a:ahLst/>
              <a:cxnLst/>
              <a:rect r="r" b="b" t="t" l="l"/>
              <a:pathLst>
                <a:path h="50800" w="6993890">
                  <a:moveTo>
                    <a:pt x="0" y="0"/>
                  </a:moveTo>
                  <a:lnTo>
                    <a:pt x="6993890" y="0"/>
                  </a:lnTo>
                  <a:lnTo>
                    <a:pt x="6993890" y="50800"/>
                  </a:lnTo>
                  <a:lnTo>
                    <a:pt x="0" y="50800"/>
                  </a:lnTo>
                  <a:close/>
                </a:path>
              </a:pathLst>
            </a:custGeom>
            <a:solidFill>
              <a:srgbClr val="C49F8C"/>
            </a:solidFill>
          </p:spPr>
        </p:sp>
      </p:grpSp>
      <p:sp>
        <p:nvSpPr>
          <p:cNvPr name="TextBox 13" id="13"/>
          <p:cNvSpPr txBox="true"/>
          <p:nvPr/>
        </p:nvSpPr>
        <p:spPr>
          <a:xfrm rot="0">
            <a:off x="992238" y="5603529"/>
            <a:ext cx="3753145" cy="471487"/>
          </a:xfrm>
          <a:prstGeom prst="rect">
            <a:avLst/>
          </a:prstGeom>
        </p:spPr>
        <p:txBody>
          <a:bodyPr anchor="t" rtlCol="false" tIns="0" lIns="0" bIns="0" rIns="0">
            <a:spAutoFit/>
          </a:bodyPr>
          <a:lstStyle/>
          <a:p>
            <a:pPr algn="l">
              <a:lnSpc>
                <a:spcPts val="3369"/>
              </a:lnSpc>
            </a:pPr>
            <a:r>
              <a:rPr lang="en-US" sz="2700">
                <a:solidFill>
                  <a:srgbClr val="C9C2C0"/>
                </a:solidFill>
                <a:latin typeface="Arimo"/>
                <a:ea typeface="Arimo"/>
                <a:cs typeface="Arimo"/>
                <a:sym typeface="Arimo"/>
              </a:rPr>
              <a:t>Teacher Captures Photo</a:t>
            </a:r>
          </a:p>
        </p:txBody>
      </p:sp>
      <p:sp>
        <p:nvSpPr>
          <p:cNvPr name="TextBox 14" id="14"/>
          <p:cNvSpPr txBox="true"/>
          <p:nvPr/>
        </p:nvSpPr>
        <p:spPr>
          <a:xfrm rot="0">
            <a:off x="992238" y="6140348"/>
            <a:ext cx="5245446" cy="1465659"/>
          </a:xfrm>
          <a:prstGeom prst="rect">
            <a:avLst/>
          </a:prstGeom>
        </p:spPr>
        <p:txBody>
          <a:bodyPr anchor="t" rtlCol="false" tIns="0" lIns="0" bIns="0" rIns="0">
            <a:spAutoFit/>
          </a:bodyPr>
          <a:lstStyle/>
          <a:p>
            <a:pPr algn="l">
              <a:lnSpc>
                <a:spcPts val="3511"/>
              </a:lnSpc>
            </a:pPr>
            <a:r>
              <a:rPr lang="en-US" sz="2200">
                <a:solidFill>
                  <a:srgbClr val="C9C2C0"/>
                </a:solidFill>
                <a:latin typeface="Arimo"/>
                <a:ea typeface="Arimo"/>
                <a:cs typeface="Arimo"/>
                <a:sym typeface="Arimo"/>
              </a:rPr>
              <a:t>The instructor takes a photo of the classroom using any device — phone, tablet, or laptop camera.</a:t>
            </a:r>
          </a:p>
        </p:txBody>
      </p:sp>
      <p:grpSp>
        <p:nvGrpSpPr>
          <p:cNvPr name="Group 15" id="15"/>
          <p:cNvGrpSpPr/>
          <p:nvPr/>
        </p:nvGrpSpPr>
        <p:grpSpPr>
          <a:xfrm rot="0">
            <a:off x="6521206" y="4970412"/>
            <a:ext cx="567033" cy="354359"/>
            <a:chOff x="0" y="0"/>
            <a:chExt cx="756044" cy="472478"/>
          </a:xfrm>
        </p:grpSpPr>
        <p:sp>
          <p:nvSpPr>
            <p:cNvPr name="Freeform 16" id="16"/>
            <p:cNvSpPr/>
            <p:nvPr/>
          </p:nvSpPr>
          <p:spPr>
            <a:xfrm flipH="false" flipV="false" rot="0">
              <a:off x="0" y="0"/>
              <a:ext cx="756048" cy="472480"/>
            </a:xfrm>
            <a:custGeom>
              <a:avLst/>
              <a:gdLst/>
              <a:ahLst/>
              <a:cxnLst/>
              <a:rect r="r" b="b" t="t" l="l"/>
              <a:pathLst>
                <a:path h="472480" w="756048">
                  <a:moveTo>
                    <a:pt x="0" y="0"/>
                  </a:moveTo>
                  <a:lnTo>
                    <a:pt x="756048" y="0"/>
                  </a:lnTo>
                  <a:lnTo>
                    <a:pt x="756048" y="472480"/>
                  </a:lnTo>
                  <a:lnTo>
                    <a:pt x="0" y="472480"/>
                  </a:lnTo>
                  <a:close/>
                </a:path>
              </a:pathLst>
            </a:custGeom>
            <a:blipFill>
              <a:blip r:embed="rId3">
                <a:alphaModFix amt="0"/>
              </a:blip>
              <a:stretch>
                <a:fillRect l="-30181" t="0" r="-30180" b="0"/>
              </a:stretch>
            </a:blipFill>
          </p:spPr>
        </p:sp>
        <p:sp>
          <p:nvSpPr>
            <p:cNvPr name="TextBox 17" id="17"/>
            <p:cNvSpPr txBox="true"/>
            <p:nvPr/>
          </p:nvSpPr>
          <p:spPr>
            <a:xfrm>
              <a:off x="0" y="-19050"/>
              <a:ext cx="756044" cy="491528"/>
            </a:xfrm>
            <a:prstGeom prst="rect">
              <a:avLst/>
            </a:prstGeom>
          </p:spPr>
          <p:txBody>
            <a:bodyPr anchor="ctr" rtlCol="false" tIns="0" lIns="0" bIns="0" rIns="0"/>
            <a:lstStyle/>
            <a:p>
              <a:pPr algn="l">
                <a:lnSpc>
                  <a:spcPts val="2640"/>
                </a:lnSpc>
              </a:pPr>
              <a:r>
                <a:rPr lang="en-US" sz="2200">
                  <a:solidFill>
                    <a:srgbClr val="C9C2C0"/>
                  </a:solidFill>
                  <a:latin typeface="Arimo"/>
                  <a:ea typeface="Arimo"/>
                  <a:cs typeface="Arimo"/>
                  <a:sym typeface="Arimo"/>
                </a:rPr>
                <a:t>02</a:t>
              </a:r>
            </a:p>
          </p:txBody>
        </p:sp>
      </p:grpSp>
      <p:grpSp>
        <p:nvGrpSpPr>
          <p:cNvPr name="Group 18" id="18"/>
          <p:cNvGrpSpPr/>
          <p:nvPr/>
        </p:nvGrpSpPr>
        <p:grpSpPr>
          <a:xfrm rot="0">
            <a:off x="6521206" y="5414220"/>
            <a:ext cx="5245446" cy="38100"/>
            <a:chOff x="0" y="0"/>
            <a:chExt cx="6993928" cy="50800"/>
          </a:xfrm>
        </p:grpSpPr>
        <p:sp>
          <p:nvSpPr>
            <p:cNvPr name="Freeform 19" id="19"/>
            <p:cNvSpPr/>
            <p:nvPr/>
          </p:nvSpPr>
          <p:spPr>
            <a:xfrm flipH="false" flipV="false" rot="0">
              <a:off x="0" y="0"/>
              <a:ext cx="6993890" cy="50800"/>
            </a:xfrm>
            <a:custGeom>
              <a:avLst/>
              <a:gdLst/>
              <a:ahLst/>
              <a:cxnLst/>
              <a:rect r="r" b="b" t="t" l="l"/>
              <a:pathLst>
                <a:path h="50800" w="6993890">
                  <a:moveTo>
                    <a:pt x="0" y="0"/>
                  </a:moveTo>
                  <a:lnTo>
                    <a:pt x="6993890" y="0"/>
                  </a:lnTo>
                  <a:lnTo>
                    <a:pt x="6993890" y="50800"/>
                  </a:lnTo>
                  <a:lnTo>
                    <a:pt x="0" y="50800"/>
                  </a:lnTo>
                  <a:close/>
                </a:path>
              </a:pathLst>
            </a:custGeom>
            <a:solidFill>
              <a:srgbClr val="C49F8C"/>
            </a:solidFill>
          </p:spPr>
        </p:sp>
      </p:grpSp>
      <p:sp>
        <p:nvSpPr>
          <p:cNvPr name="TextBox 20" id="20"/>
          <p:cNvSpPr txBox="true"/>
          <p:nvPr/>
        </p:nvSpPr>
        <p:spPr>
          <a:xfrm rot="0">
            <a:off x="6521206" y="5603529"/>
            <a:ext cx="4331789" cy="471487"/>
          </a:xfrm>
          <a:prstGeom prst="rect">
            <a:avLst/>
          </a:prstGeom>
        </p:spPr>
        <p:txBody>
          <a:bodyPr anchor="t" rtlCol="false" tIns="0" lIns="0" bIns="0" rIns="0">
            <a:spAutoFit/>
          </a:bodyPr>
          <a:lstStyle/>
          <a:p>
            <a:pPr algn="l">
              <a:lnSpc>
                <a:spcPts val="3369"/>
              </a:lnSpc>
            </a:pPr>
            <a:r>
              <a:rPr lang="en-US" sz="2700">
                <a:solidFill>
                  <a:srgbClr val="C9C2C0"/>
                </a:solidFill>
                <a:latin typeface="Arimo"/>
                <a:ea typeface="Arimo"/>
                <a:cs typeface="Arimo"/>
                <a:sym typeface="Arimo"/>
              </a:rPr>
              <a:t>AI Detects &amp; Matches Faces</a:t>
            </a:r>
          </a:p>
        </p:txBody>
      </p:sp>
      <p:sp>
        <p:nvSpPr>
          <p:cNvPr name="TextBox 21" id="21"/>
          <p:cNvSpPr txBox="true"/>
          <p:nvPr/>
        </p:nvSpPr>
        <p:spPr>
          <a:xfrm rot="0">
            <a:off x="6521206" y="6140348"/>
            <a:ext cx="5245446" cy="1465659"/>
          </a:xfrm>
          <a:prstGeom prst="rect">
            <a:avLst/>
          </a:prstGeom>
        </p:spPr>
        <p:txBody>
          <a:bodyPr anchor="t" rtlCol="false" tIns="0" lIns="0" bIns="0" rIns="0">
            <a:spAutoFit/>
          </a:bodyPr>
          <a:lstStyle/>
          <a:p>
            <a:pPr algn="l">
              <a:lnSpc>
                <a:spcPts val="3511"/>
              </a:lnSpc>
            </a:pPr>
            <a:r>
              <a:rPr lang="en-US" sz="2200">
                <a:solidFill>
                  <a:srgbClr val="C9C2C0"/>
                </a:solidFill>
                <a:latin typeface="Arimo"/>
                <a:ea typeface="Arimo"/>
                <a:cs typeface="Arimo"/>
                <a:sym typeface="Arimo"/>
              </a:rPr>
              <a:t>The software detects each face and compares it against the student database in the backend.</a:t>
            </a:r>
          </a:p>
        </p:txBody>
      </p:sp>
      <p:grpSp>
        <p:nvGrpSpPr>
          <p:cNvPr name="Group 22" id="22"/>
          <p:cNvGrpSpPr/>
          <p:nvPr/>
        </p:nvGrpSpPr>
        <p:grpSpPr>
          <a:xfrm rot="0">
            <a:off x="12050163" y="4970412"/>
            <a:ext cx="567033" cy="354359"/>
            <a:chOff x="0" y="0"/>
            <a:chExt cx="756044" cy="472478"/>
          </a:xfrm>
        </p:grpSpPr>
        <p:sp>
          <p:nvSpPr>
            <p:cNvPr name="Freeform 23" id="23"/>
            <p:cNvSpPr/>
            <p:nvPr/>
          </p:nvSpPr>
          <p:spPr>
            <a:xfrm flipH="false" flipV="false" rot="0">
              <a:off x="0" y="0"/>
              <a:ext cx="756048" cy="472480"/>
            </a:xfrm>
            <a:custGeom>
              <a:avLst/>
              <a:gdLst/>
              <a:ahLst/>
              <a:cxnLst/>
              <a:rect r="r" b="b" t="t" l="l"/>
              <a:pathLst>
                <a:path h="472480" w="756048">
                  <a:moveTo>
                    <a:pt x="0" y="0"/>
                  </a:moveTo>
                  <a:lnTo>
                    <a:pt x="756048" y="0"/>
                  </a:lnTo>
                  <a:lnTo>
                    <a:pt x="756048" y="472480"/>
                  </a:lnTo>
                  <a:lnTo>
                    <a:pt x="0" y="472480"/>
                  </a:lnTo>
                  <a:close/>
                </a:path>
              </a:pathLst>
            </a:custGeom>
            <a:blipFill>
              <a:blip r:embed="rId3">
                <a:alphaModFix amt="0"/>
              </a:blip>
              <a:stretch>
                <a:fillRect l="-30181" t="0" r="-30180" b="0"/>
              </a:stretch>
            </a:blipFill>
          </p:spPr>
        </p:sp>
        <p:sp>
          <p:nvSpPr>
            <p:cNvPr name="TextBox 24" id="24"/>
            <p:cNvSpPr txBox="true"/>
            <p:nvPr/>
          </p:nvSpPr>
          <p:spPr>
            <a:xfrm>
              <a:off x="0" y="-19050"/>
              <a:ext cx="756044" cy="491528"/>
            </a:xfrm>
            <a:prstGeom prst="rect">
              <a:avLst/>
            </a:prstGeom>
          </p:spPr>
          <p:txBody>
            <a:bodyPr anchor="ctr" rtlCol="false" tIns="0" lIns="0" bIns="0" rIns="0"/>
            <a:lstStyle/>
            <a:p>
              <a:pPr algn="l">
                <a:lnSpc>
                  <a:spcPts val="2640"/>
                </a:lnSpc>
              </a:pPr>
              <a:r>
                <a:rPr lang="en-US" sz="2200">
                  <a:solidFill>
                    <a:srgbClr val="C9C2C0"/>
                  </a:solidFill>
                  <a:latin typeface="Arimo"/>
                  <a:ea typeface="Arimo"/>
                  <a:cs typeface="Arimo"/>
                  <a:sym typeface="Arimo"/>
                </a:rPr>
                <a:t>03</a:t>
              </a:r>
            </a:p>
          </p:txBody>
        </p:sp>
      </p:grpSp>
      <p:grpSp>
        <p:nvGrpSpPr>
          <p:cNvPr name="Group 25" id="25"/>
          <p:cNvGrpSpPr/>
          <p:nvPr/>
        </p:nvGrpSpPr>
        <p:grpSpPr>
          <a:xfrm rot="0">
            <a:off x="12050163" y="5414220"/>
            <a:ext cx="5245446" cy="38100"/>
            <a:chOff x="0" y="0"/>
            <a:chExt cx="6993928" cy="50800"/>
          </a:xfrm>
        </p:grpSpPr>
        <p:sp>
          <p:nvSpPr>
            <p:cNvPr name="Freeform 26" id="26"/>
            <p:cNvSpPr/>
            <p:nvPr/>
          </p:nvSpPr>
          <p:spPr>
            <a:xfrm flipH="false" flipV="false" rot="0">
              <a:off x="0" y="0"/>
              <a:ext cx="6993890" cy="50800"/>
            </a:xfrm>
            <a:custGeom>
              <a:avLst/>
              <a:gdLst/>
              <a:ahLst/>
              <a:cxnLst/>
              <a:rect r="r" b="b" t="t" l="l"/>
              <a:pathLst>
                <a:path h="50800" w="6993890">
                  <a:moveTo>
                    <a:pt x="0" y="0"/>
                  </a:moveTo>
                  <a:lnTo>
                    <a:pt x="6993890" y="0"/>
                  </a:lnTo>
                  <a:lnTo>
                    <a:pt x="6993890" y="50800"/>
                  </a:lnTo>
                  <a:lnTo>
                    <a:pt x="0" y="50800"/>
                  </a:lnTo>
                  <a:close/>
                </a:path>
              </a:pathLst>
            </a:custGeom>
            <a:solidFill>
              <a:srgbClr val="C49F8C"/>
            </a:solidFill>
          </p:spPr>
        </p:sp>
      </p:grpSp>
      <p:sp>
        <p:nvSpPr>
          <p:cNvPr name="TextBox 27" id="27"/>
          <p:cNvSpPr txBox="true"/>
          <p:nvPr/>
        </p:nvSpPr>
        <p:spPr>
          <a:xfrm rot="0">
            <a:off x="12050163" y="5603529"/>
            <a:ext cx="3708349" cy="471487"/>
          </a:xfrm>
          <a:prstGeom prst="rect">
            <a:avLst/>
          </a:prstGeom>
        </p:spPr>
        <p:txBody>
          <a:bodyPr anchor="t" rtlCol="false" tIns="0" lIns="0" bIns="0" rIns="0">
            <a:spAutoFit/>
          </a:bodyPr>
          <a:lstStyle/>
          <a:p>
            <a:pPr algn="l">
              <a:lnSpc>
                <a:spcPts val="3369"/>
              </a:lnSpc>
            </a:pPr>
            <a:r>
              <a:rPr lang="en-US" sz="2700">
                <a:solidFill>
                  <a:srgbClr val="C9C2C0"/>
                </a:solidFill>
                <a:latin typeface="Arimo"/>
                <a:ea typeface="Arimo"/>
                <a:cs typeface="Arimo"/>
                <a:sym typeface="Arimo"/>
              </a:rPr>
              <a:t>Attendance is Recorded</a:t>
            </a:r>
          </a:p>
        </p:txBody>
      </p:sp>
      <p:sp>
        <p:nvSpPr>
          <p:cNvPr name="TextBox 28" id="28"/>
          <p:cNvSpPr txBox="true"/>
          <p:nvPr/>
        </p:nvSpPr>
        <p:spPr>
          <a:xfrm rot="0">
            <a:off x="12050163" y="6140348"/>
            <a:ext cx="5245446" cy="1919287"/>
          </a:xfrm>
          <a:prstGeom prst="rect">
            <a:avLst/>
          </a:prstGeom>
        </p:spPr>
        <p:txBody>
          <a:bodyPr anchor="t" rtlCol="false" tIns="0" lIns="0" bIns="0" rIns="0">
            <a:spAutoFit/>
          </a:bodyPr>
          <a:lstStyle/>
          <a:p>
            <a:pPr algn="l">
              <a:lnSpc>
                <a:spcPts val="3511"/>
              </a:lnSpc>
            </a:pPr>
            <a:r>
              <a:rPr lang="en-US" sz="2200">
                <a:solidFill>
                  <a:srgbClr val="C9C2C0"/>
                </a:solidFill>
                <a:latin typeface="Arimo"/>
                <a:ea typeface="Arimo"/>
                <a:cs typeface="Arimo"/>
                <a:sym typeface="Arimo"/>
              </a:rPr>
              <a:t>Matched students are marked present automatically; unmatched students are marked absent after the time window closes.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302D2C"/>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464342"/>
            </a:solidFill>
          </p:spPr>
        </p:sp>
      </p:grpSp>
      <p:grpSp>
        <p:nvGrpSpPr>
          <p:cNvPr name="Group 6" id="6"/>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3"/>
              <a:stretch>
                <a:fillRect l="0" t="0" r="0" b="0"/>
              </a:stretch>
            </a:blipFill>
          </p:spPr>
        </p:sp>
      </p:grpSp>
      <p:sp>
        <p:nvSpPr>
          <p:cNvPr name="TextBox 8" id="8"/>
          <p:cNvSpPr txBox="true"/>
          <p:nvPr/>
        </p:nvSpPr>
        <p:spPr>
          <a:xfrm rot="0">
            <a:off x="7850238" y="4181027"/>
            <a:ext cx="8870756" cy="746817"/>
          </a:xfrm>
          <a:prstGeom prst="rect">
            <a:avLst/>
          </a:prstGeom>
        </p:spPr>
        <p:txBody>
          <a:bodyPr anchor="t" rtlCol="false" tIns="0" lIns="0" bIns="0" rIns="0">
            <a:spAutoFit/>
          </a:bodyPr>
          <a:lstStyle/>
          <a:p>
            <a:pPr algn="l">
              <a:lnSpc>
                <a:spcPts val="5491"/>
              </a:lnSpc>
            </a:pPr>
            <a:r>
              <a:rPr lang="en-US" sz="4400">
                <a:solidFill>
                  <a:srgbClr val="D8B6A4"/>
                </a:solidFill>
                <a:latin typeface="Arimo"/>
                <a:ea typeface="Arimo"/>
                <a:cs typeface="Arimo"/>
                <a:sym typeface="Arimo"/>
              </a:rPr>
              <a:t>Key Challenges &amp; Our Solutions</a:t>
            </a:r>
          </a:p>
        </p:txBody>
      </p:sp>
      <p:sp>
        <p:nvSpPr>
          <p:cNvPr name="TextBox 9" id="9"/>
          <p:cNvSpPr txBox="true"/>
          <p:nvPr/>
        </p:nvSpPr>
        <p:spPr>
          <a:xfrm rot="0">
            <a:off x="7850238" y="5248275"/>
            <a:ext cx="9445523" cy="1465659"/>
          </a:xfrm>
          <a:prstGeom prst="rect">
            <a:avLst/>
          </a:prstGeom>
        </p:spPr>
        <p:txBody>
          <a:bodyPr anchor="t" rtlCol="false" tIns="0" lIns="0" bIns="0" rIns="0">
            <a:spAutoFit/>
          </a:bodyPr>
          <a:lstStyle/>
          <a:p>
            <a:pPr algn="l">
              <a:lnSpc>
                <a:spcPts val="3511"/>
              </a:lnSpc>
            </a:pPr>
            <a:r>
              <a:rPr lang="en-US" sz="2200">
                <a:solidFill>
                  <a:srgbClr val="C9C2C0"/>
                </a:solidFill>
                <a:latin typeface="Arimo"/>
                <a:ea typeface="Arimo"/>
                <a:cs typeface="Arimo"/>
                <a:sym typeface="Arimo"/>
              </a:rPr>
              <a:t>Building a reliable facial-attendance system comes with real engineering and ethical challenges. Below are six critical "W" and "H" questions we must address, along with how we plan to tackle each one.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302D2C"/>
            </a:solidFill>
          </p:spPr>
        </p:sp>
      </p:grpSp>
      <p:grpSp>
        <p:nvGrpSpPr>
          <p:cNvPr name="Group 4" id="4"/>
          <p:cNvGrpSpPr/>
          <p:nvPr/>
        </p:nvGrpSpPr>
        <p:grpSpPr>
          <a:xfrm rot="0">
            <a:off x="9525"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464342"/>
            </a:solidFill>
          </p:spPr>
        </p:sp>
      </p:grpSp>
      <p:sp>
        <p:nvSpPr>
          <p:cNvPr name="TextBox 6" id="6"/>
          <p:cNvSpPr txBox="true"/>
          <p:nvPr/>
        </p:nvSpPr>
        <p:spPr>
          <a:xfrm rot="0">
            <a:off x="992238" y="932555"/>
            <a:ext cx="8797976" cy="591893"/>
          </a:xfrm>
          <a:prstGeom prst="rect">
            <a:avLst/>
          </a:prstGeom>
        </p:spPr>
        <p:txBody>
          <a:bodyPr anchor="t" rtlCol="false" tIns="0" lIns="0" bIns="0" rIns="0">
            <a:spAutoFit/>
          </a:bodyPr>
          <a:lstStyle/>
          <a:p>
            <a:pPr algn="l">
              <a:lnSpc>
                <a:spcPts val="4243"/>
              </a:lnSpc>
            </a:pPr>
            <a:r>
              <a:rPr lang="en-US" sz="3400">
                <a:solidFill>
                  <a:srgbClr val="D8B6A4"/>
                </a:solidFill>
                <a:latin typeface="Arimo"/>
                <a:ea typeface="Arimo"/>
                <a:cs typeface="Arimo"/>
                <a:sym typeface="Arimo"/>
              </a:rPr>
              <a:t>Technical &amp; Ethical Problem Statements</a:t>
            </a:r>
          </a:p>
        </p:txBody>
      </p:sp>
      <p:sp>
        <p:nvSpPr>
          <p:cNvPr name="Freeform 7" id="7" descr="preencoded.png"/>
          <p:cNvSpPr/>
          <p:nvPr/>
        </p:nvSpPr>
        <p:spPr>
          <a:xfrm flipH="false" flipV="false" rot="0">
            <a:off x="992238" y="1870472"/>
            <a:ext cx="5319122" cy="3478711"/>
          </a:xfrm>
          <a:custGeom>
            <a:avLst/>
            <a:gdLst/>
            <a:ahLst/>
            <a:cxnLst/>
            <a:rect r="r" b="b" t="t" l="l"/>
            <a:pathLst>
              <a:path h="3478711" w="5319122">
                <a:moveTo>
                  <a:pt x="0" y="0"/>
                </a:moveTo>
                <a:lnTo>
                  <a:pt x="5319122" y="0"/>
                </a:lnTo>
                <a:lnTo>
                  <a:pt x="5319122" y="3478711"/>
                </a:lnTo>
                <a:lnTo>
                  <a:pt x="0" y="3478711"/>
                </a:lnTo>
                <a:lnTo>
                  <a:pt x="0" y="0"/>
                </a:lnTo>
                <a:close/>
              </a:path>
            </a:pathLst>
          </a:custGeom>
          <a:blipFill>
            <a:blip r:embed="rId3">
              <a:extLst>
                <a:ext uri="{96DAC541-7B7A-43D3-8B79-37D633B846F1}">
                  <asvg:svgBlip xmlns:asvg="http://schemas.microsoft.com/office/drawing/2016/SVG/main" r:embed="rId4"/>
                </a:ext>
              </a:extLst>
            </a:blip>
            <a:stretch>
              <a:fillRect l="0" t="-56" r="0" b="-56"/>
            </a:stretch>
          </a:blipFill>
        </p:spPr>
      </p:sp>
      <p:grpSp>
        <p:nvGrpSpPr>
          <p:cNvPr name="Group 8" id="8"/>
          <p:cNvGrpSpPr/>
          <p:nvPr/>
        </p:nvGrpSpPr>
        <p:grpSpPr>
          <a:xfrm rot="0">
            <a:off x="3518821" y="2036559"/>
            <a:ext cx="265805" cy="332184"/>
            <a:chOff x="0" y="0"/>
            <a:chExt cx="354406" cy="442912"/>
          </a:xfrm>
        </p:grpSpPr>
        <p:sp>
          <p:nvSpPr>
            <p:cNvPr name="Freeform 9" id="9"/>
            <p:cNvSpPr/>
            <p:nvPr/>
          </p:nvSpPr>
          <p:spPr>
            <a:xfrm flipH="false" flipV="false" rot="0">
              <a:off x="0" y="0"/>
              <a:ext cx="354411" cy="442912"/>
            </a:xfrm>
            <a:custGeom>
              <a:avLst/>
              <a:gdLst/>
              <a:ahLst/>
              <a:cxnLst/>
              <a:rect r="r" b="b" t="t" l="l"/>
              <a:pathLst>
                <a:path h="442912" w="354411">
                  <a:moveTo>
                    <a:pt x="0" y="0"/>
                  </a:moveTo>
                  <a:lnTo>
                    <a:pt x="354411" y="0"/>
                  </a:lnTo>
                  <a:lnTo>
                    <a:pt x="354411" y="442912"/>
                  </a:lnTo>
                  <a:lnTo>
                    <a:pt x="0" y="442912"/>
                  </a:lnTo>
                  <a:close/>
                </a:path>
              </a:pathLst>
            </a:custGeom>
            <a:blipFill>
              <a:blip r:embed="rId5">
                <a:alphaModFix amt="0"/>
              </a:blip>
              <a:stretch>
                <a:fillRect l="-110343" t="0" r="-110342" b="0"/>
              </a:stretch>
            </a:blipFill>
          </p:spPr>
        </p:sp>
        <p:sp>
          <p:nvSpPr>
            <p:cNvPr name="TextBox 10" id="10"/>
            <p:cNvSpPr txBox="true"/>
            <p:nvPr/>
          </p:nvSpPr>
          <p:spPr>
            <a:xfrm>
              <a:off x="0" y="-9525"/>
              <a:ext cx="354406" cy="452437"/>
            </a:xfrm>
            <a:prstGeom prst="rect">
              <a:avLst/>
            </a:prstGeom>
          </p:spPr>
          <p:txBody>
            <a:bodyPr anchor="ctr" rtlCol="false" tIns="0" lIns="0" bIns="0" rIns="0"/>
            <a:lstStyle/>
            <a:p>
              <a:pPr algn="ctr">
                <a:lnSpc>
                  <a:spcPts val="2400"/>
                </a:lnSpc>
              </a:pPr>
              <a:r>
                <a:rPr lang="en-US" sz="2000">
                  <a:solidFill>
                    <a:srgbClr val="000000"/>
                  </a:solidFill>
                  <a:latin typeface="Arimo"/>
                  <a:ea typeface="Arimo"/>
                  <a:cs typeface="Arimo"/>
                  <a:sym typeface="Arimo"/>
                </a:rPr>
                <a:t>1</a:t>
              </a:r>
            </a:p>
          </p:txBody>
        </p:sp>
      </p:grpSp>
      <p:sp>
        <p:nvSpPr>
          <p:cNvPr name="TextBox 11" id="11"/>
          <p:cNvSpPr txBox="true"/>
          <p:nvPr/>
        </p:nvSpPr>
        <p:spPr>
          <a:xfrm rot="0">
            <a:off x="1242270" y="2737247"/>
            <a:ext cx="2768794" cy="365074"/>
          </a:xfrm>
          <a:prstGeom prst="rect">
            <a:avLst/>
          </a:prstGeom>
        </p:spPr>
        <p:txBody>
          <a:bodyPr anchor="t" rtlCol="false" tIns="0" lIns="0" bIns="0" rIns="0">
            <a:spAutoFit/>
          </a:bodyPr>
          <a:lstStyle/>
          <a:p>
            <a:pPr algn="l">
              <a:lnSpc>
                <a:spcPts val="2620"/>
              </a:lnSpc>
            </a:pPr>
            <a:r>
              <a:rPr lang="en-US" sz="2100">
                <a:solidFill>
                  <a:srgbClr val="C9C2C0"/>
                </a:solidFill>
                <a:latin typeface="Arimo"/>
                <a:ea typeface="Arimo"/>
                <a:cs typeface="Arimo"/>
                <a:sym typeface="Arimo"/>
              </a:rPr>
              <a:t>What about privacy?</a:t>
            </a:r>
          </a:p>
        </p:txBody>
      </p:sp>
      <p:sp>
        <p:nvSpPr>
          <p:cNvPr name="TextBox 12" id="12"/>
          <p:cNvSpPr txBox="true"/>
          <p:nvPr/>
        </p:nvSpPr>
        <p:spPr>
          <a:xfrm rot="0">
            <a:off x="1242270" y="3148908"/>
            <a:ext cx="4819050" cy="2141525"/>
          </a:xfrm>
          <a:prstGeom prst="rect">
            <a:avLst/>
          </a:prstGeom>
        </p:spPr>
        <p:txBody>
          <a:bodyPr anchor="t" rtlCol="false" tIns="0" lIns="0" bIns="0" rIns="0">
            <a:spAutoFit/>
          </a:bodyPr>
          <a:lstStyle/>
          <a:p>
            <a:pPr algn="l">
              <a:lnSpc>
                <a:spcPts val="2427"/>
              </a:lnSpc>
            </a:pPr>
            <a:r>
              <a:rPr lang="en-US" sz="1700">
                <a:solidFill>
                  <a:srgbClr val="C9C2C0"/>
                </a:solidFill>
                <a:latin typeface="Arimo"/>
                <a:ea typeface="Arimo"/>
                <a:cs typeface="Arimo"/>
                <a:sym typeface="Arimo"/>
              </a:rPr>
              <a:t>Student facial data is sensitive biometric information. </a:t>
            </a:r>
          </a:p>
          <a:p>
            <a:pPr algn="l">
              <a:lnSpc>
                <a:spcPts val="2427"/>
              </a:lnSpc>
            </a:pPr>
            <a:r>
              <a:rPr lang="en-US" sz="1700" b="true">
                <a:solidFill>
                  <a:srgbClr val="C9C2C0"/>
                </a:solidFill>
                <a:latin typeface="Arimo Bold"/>
                <a:ea typeface="Arimo Bold"/>
                <a:cs typeface="Arimo Bold"/>
                <a:sym typeface="Arimo Bold"/>
              </a:rPr>
              <a:t>Solution:</a:t>
            </a:r>
            <a:r>
              <a:rPr lang="en-US" sz="1700">
                <a:solidFill>
                  <a:srgbClr val="C9C2C0"/>
                </a:solidFill>
                <a:latin typeface="Arimo"/>
                <a:ea typeface="Arimo"/>
                <a:cs typeface="Arimo"/>
                <a:sym typeface="Arimo"/>
              </a:rPr>
              <a:t> We will encrypt all facial embeddings at rest and in transit, restrict database access via role-based permissions, and design the system for on-campus deployment so data never leaves NSU servers.</a:t>
            </a:r>
          </a:p>
        </p:txBody>
      </p:sp>
      <p:sp>
        <p:nvSpPr>
          <p:cNvPr name="Freeform 13" id="13" descr="preencoded.png"/>
          <p:cNvSpPr/>
          <p:nvPr/>
        </p:nvSpPr>
        <p:spPr>
          <a:xfrm flipH="false" flipV="false" rot="0">
            <a:off x="6484296" y="1870472"/>
            <a:ext cx="5319265" cy="3478711"/>
          </a:xfrm>
          <a:custGeom>
            <a:avLst/>
            <a:gdLst/>
            <a:ahLst/>
            <a:cxnLst/>
            <a:rect r="r" b="b" t="t" l="l"/>
            <a:pathLst>
              <a:path h="3478711" w="5319265">
                <a:moveTo>
                  <a:pt x="0" y="0"/>
                </a:moveTo>
                <a:lnTo>
                  <a:pt x="5319265" y="0"/>
                </a:lnTo>
                <a:lnTo>
                  <a:pt x="5319265" y="3478711"/>
                </a:lnTo>
                <a:lnTo>
                  <a:pt x="0" y="3478711"/>
                </a:lnTo>
                <a:lnTo>
                  <a:pt x="0" y="0"/>
                </a:lnTo>
                <a:close/>
              </a:path>
            </a:pathLst>
          </a:custGeom>
          <a:blipFill>
            <a:blip r:embed="rId3">
              <a:extLst>
                <a:ext uri="{96DAC541-7B7A-43D3-8B79-37D633B846F1}">
                  <asvg:svgBlip xmlns:asvg="http://schemas.microsoft.com/office/drawing/2016/SVG/main" r:embed="rId4"/>
                </a:ext>
              </a:extLst>
            </a:blip>
            <a:stretch>
              <a:fillRect l="0" t="-58" r="0" b="-57"/>
            </a:stretch>
          </a:blipFill>
        </p:spPr>
      </p:sp>
      <p:grpSp>
        <p:nvGrpSpPr>
          <p:cNvPr name="Group 14" id="14"/>
          <p:cNvGrpSpPr/>
          <p:nvPr/>
        </p:nvGrpSpPr>
        <p:grpSpPr>
          <a:xfrm rot="0">
            <a:off x="9010879" y="2036559"/>
            <a:ext cx="265805" cy="332184"/>
            <a:chOff x="0" y="0"/>
            <a:chExt cx="354406" cy="442912"/>
          </a:xfrm>
        </p:grpSpPr>
        <p:sp>
          <p:nvSpPr>
            <p:cNvPr name="Freeform 15" id="15"/>
            <p:cNvSpPr/>
            <p:nvPr/>
          </p:nvSpPr>
          <p:spPr>
            <a:xfrm flipH="false" flipV="false" rot="0">
              <a:off x="0" y="0"/>
              <a:ext cx="354411" cy="442912"/>
            </a:xfrm>
            <a:custGeom>
              <a:avLst/>
              <a:gdLst/>
              <a:ahLst/>
              <a:cxnLst/>
              <a:rect r="r" b="b" t="t" l="l"/>
              <a:pathLst>
                <a:path h="442912" w="354411">
                  <a:moveTo>
                    <a:pt x="0" y="0"/>
                  </a:moveTo>
                  <a:lnTo>
                    <a:pt x="354411" y="0"/>
                  </a:lnTo>
                  <a:lnTo>
                    <a:pt x="354411" y="442912"/>
                  </a:lnTo>
                  <a:lnTo>
                    <a:pt x="0" y="442912"/>
                  </a:lnTo>
                  <a:close/>
                </a:path>
              </a:pathLst>
            </a:custGeom>
            <a:blipFill>
              <a:blip r:embed="rId5">
                <a:alphaModFix amt="0"/>
              </a:blip>
              <a:stretch>
                <a:fillRect l="-110343" t="0" r="-110342" b="0"/>
              </a:stretch>
            </a:blipFill>
          </p:spPr>
        </p:sp>
        <p:sp>
          <p:nvSpPr>
            <p:cNvPr name="TextBox 16" id="16"/>
            <p:cNvSpPr txBox="true"/>
            <p:nvPr/>
          </p:nvSpPr>
          <p:spPr>
            <a:xfrm>
              <a:off x="0" y="-9525"/>
              <a:ext cx="354406" cy="452437"/>
            </a:xfrm>
            <a:prstGeom prst="rect">
              <a:avLst/>
            </a:prstGeom>
          </p:spPr>
          <p:txBody>
            <a:bodyPr anchor="ctr" rtlCol="false" tIns="0" lIns="0" bIns="0" rIns="0"/>
            <a:lstStyle/>
            <a:p>
              <a:pPr algn="ctr">
                <a:lnSpc>
                  <a:spcPts val="2400"/>
                </a:lnSpc>
              </a:pPr>
              <a:r>
                <a:rPr lang="en-US" sz="2000">
                  <a:solidFill>
                    <a:srgbClr val="000000"/>
                  </a:solidFill>
                  <a:latin typeface="Arimo"/>
                  <a:ea typeface="Arimo"/>
                  <a:cs typeface="Arimo"/>
                  <a:sym typeface="Arimo"/>
                </a:rPr>
                <a:t>2</a:t>
              </a:r>
            </a:p>
          </p:txBody>
        </p:sp>
      </p:grpSp>
      <p:sp>
        <p:nvSpPr>
          <p:cNvPr name="TextBox 17" id="17"/>
          <p:cNvSpPr txBox="true"/>
          <p:nvPr/>
        </p:nvSpPr>
        <p:spPr>
          <a:xfrm rot="0">
            <a:off x="6734327" y="2737247"/>
            <a:ext cx="3835898" cy="365074"/>
          </a:xfrm>
          <a:prstGeom prst="rect">
            <a:avLst/>
          </a:prstGeom>
        </p:spPr>
        <p:txBody>
          <a:bodyPr anchor="t" rtlCol="false" tIns="0" lIns="0" bIns="0" rIns="0">
            <a:spAutoFit/>
          </a:bodyPr>
          <a:lstStyle/>
          <a:p>
            <a:pPr algn="l">
              <a:lnSpc>
                <a:spcPts val="2620"/>
              </a:lnSpc>
            </a:pPr>
            <a:r>
              <a:rPr lang="en-US" sz="2100">
                <a:solidFill>
                  <a:srgbClr val="C9C2C0"/>
                </a:solidFill>
                <a:latin typeface="Arimo"/>
                <a:ea typeface="Arimo"/>
                <a:cs typeface="Arimo"/>
                <a:sym typeface="Arimo"/>
              </a:rPr>
              <a:t>How accurate is face detection?</a:t>
            </a:r>
          </a:p>
        </p:txBody>
      </p:sp>
      <p:sp>
        <p:nvSpPr>
          <p:cNvPr name="TextBox 18" id="18"/>
          <p:cNvSpPr txBox="true"/>
          <p:nvPr/>
        </p:nvSpPr>
        <p:spPr>
          <a:xfrm rot="0">
            <a:off x="6734327" y="3148908"/>
            <a:ext cx="4819202" cy="1836725"/>
          </a:xfrm>
          <a:prstGeom prst="rect">
            <a:avLst/>
          </a:prstGeom>
        </p:spPr>
        <p:txBody>
          <a:bodyPr anchor="t" rtlCol="false" tIns="0" lIns="0" bIns="0" rIns="0">
            <a:spAutoFit/>
          </a:bodyPr>
          <a:lstStyle/>
          <a:p>
            <a:pPr algn="l">
              <a:lnSpc>
                <a:spcPts val="2427"/>
              </a:lnSpc>
            </a:pPr>
            <a:r>
              <a:rPr lang="en-US" sz="1700">
                <a:solidFill>
                  <a:srgbClr val="C9C2C0"/>
                </a:solidFill>
                <a:latin typeface="Arimo"/>
                <a:ea typeface="Arimo"/>
                <a:cs typeface="Arimo"/>
                <a:sym typeface="Arimo"/>
              </a:rPr>
              <a:t>Poor lighting, angled faces, and partial occlusion can reduce recognition accuracy. </a:t>
            </a:r>
          </a:p>
          <a:p>
            <a:pPr algn="l">
              <a:lnSpc>
                <a:spcPts val="2427"/>
              </a:lnSpc>
            </a:pPr>
            <a:r>
              <a:rPr lang="en-US" sz="1700" b="true">
                <a:solidFill>
                  <a:srgbClr val="C9C2C0"/>
                </a:solidFill>
                <a:latin typeface="Arimo Bold"/>
                <a:ea typeface="Arimo Bold"/>
                <a:cs typeface="Arimo Bold"/>
                <a:sym typeface="Arimo Bold"/>
              </a:rPr>
              <a:t>Solution:</a:t>
            </a:r>
            <a:r>
              <a:rPr lang="en-US" sz="1700">
                <a:solidFill>
                  <a:srgbClr val="C9C2C0"/>
                </a:solidFill>
                <a:latin typeface="Arimo"/>
                <a:ea typeface="Arimo"/>
                <a:cs typeface="Arimo"/>
                <a:sym typeface="Arimo"/>
              </a:rPr>
              <a:t> We will train on diverse datasets, apply image pre-processing (contrast enhancement, alignment), and fine-tune detection thresholds through iterative testing in real NSU classrooms.</a:t>
            </a:r>
          </a:p>
        </p:txBody>
      </p:sp>
      <p:sp>
        <p:nvSpPr>
          <p:cNvPr name="Freeform 19" id="19" descr="preencoded.png"/>
          <p:cNvSpPr/>
          <p:nvPr/>
        </p:nvSpPr>
        <p:spPr>
          <a:xfrm flipH="false" flipV="false" rot="0">
            <a:off x="11976497" y="1870472"/>
            <a:ext cx="5319122" cy="3478711"/>
          </a:xfrm>
          <a:custGeom>
            <a:avLst/>
            <a:gdLst/>
            <a:ahLst/>
            <a:cxnLst/>
            <a:rect r="r" b="b" t="t" l="l"/>
            <a:pathLst>
              <a:path h="3478711" w="5319122">
                <a:moveTo>
                  <a:pt x="0" y="0"/>
                </a:moveTo>
                <a:lnTo>
                  <a:pt x="5319122" y="0"/>
                </a:lnTo>
                <a:lnTo>
                  <a:pt x="5319122" y="3478711"/>
                </a:lnTo>
                <a:lnTo>
                  <a:pt x="0" y="3478711"/>
                </a:lnTo>
                <a:lnTo>
                  <a:pt x="0" y="0"/>
                </a:lnTo>
                <a:close/>
              </a:path>
            </a:pathLst>
          </a:custGeom>
          <a:blipFill>
            <a:blip r:embed="rId3">
              <a:extLst>
                <a:ext uri="{96DAC541-7B7A-43D3-8B79-37D633B846F1}">
                  <asvg:svgBlip xmlns:asvg="http://schemas.microsoft.com/office/drawing/2016/SVG/main" r:embed="rId4"/>
                </a:ext>
              </a:extLst>
            </a:blip>
            <a:stretch>
              <a:fillRect l="0" t="-56" r="0" b="-56"/>
            </a:stretch>
          </a:blipFill>
        </p:spPr>
      </p:sp>
      <p:grpSp>
        <p:nvGrpSpPr>
          <p:cNvPr name="Group 20" id="20"/>
          <p:cNvGrpSpPr/>
          <p:nvPr/>
        </p:nvGrpSpPr>
        <p:grpSpPr>
          <a:xfrm rot="0">
            <a:off x="14503079" y="2036559"/>
            <a:ext cx="265805" cy="332184"/>
            <a:chOff x="0" y="0"/>
            <a:chExt cx="354406" cy="442912"/>
          </a:xfrm>
        </p:grpSpPr>
        <p:sp>
          <p:nvSpPr>
            <p:cNvPr name="Freeform 21" id="21"/>
            <p:cNvSpPr/>
            <p:nvPr/>
          </p:nvSpPr>
          <p:spPr>
            <a:xfrm flipH="false" flipV="false" rot="0">
              <a:off x="0" y="0"/>
              <a:ext cx="354411" cy="442912"/>
            </a:xfrm>
            <a:custGeom>
              <a:avLst/>
              <a:gdLst/>
              <a:ahLst/>
              <a:cxnLst/>
              <a:rect r="r" b="b" t="t" l="l"/>
              <a:pathLst>
                <a:path h="442912" w="354411">
                  <a:moveTo>
                    <a:pt x="0" y="0"/>
                  </a:moveTo>
                  <a:lnTo>
                    <a:pt x="354411" y="0"/>
                  </a:lnTo>
                  <a:lnTo>
                    <a:pt x="354411" y="442912"/>
                  </a:lnTo>
                  <a:lnTo>
                    <a:pt x="0" y="442912"/>
                  </a:lnTo>
                  <a:close/>
                </a:path>
              </a:pathLst>
            </a:custGeom>
            <a:blipFill>
              <a:blip r:embed="rId5">
                <a:alphaModFix amt="0"/>
              </a:blip>
              <a:stretch>
                <a:fillRect l="-110343" t="0" r="-110342" b="0"/>
              </a:stretch>
            </a:blipFill>
          </p:spPr>
        </p:sp>
        <p:sp>
          <p:nvSpPr>
            <p:cNvPr name="TextBox 22" id="22"/>
            <p:cNvSpPr txBox="true"/>
            <p:nvPr/>
          </p:nvSpPr>
          <p:spPr>
            <a:xfrm>
              <a:off x="0" y="-9525"/>
              <a:ext cx="354406" cy="452437"/>
            </a:xfrm>
            <a:prstGeom prst="rect">
              <a:avLst/>
            </a:prstGeom>
          </p:spPr>
          <p:txBody>
            <a:bodyPr anchor="ctr" rtlCol="false" tIns="0" lIns="0" bIns="0" rIns="0"/>
            <a:lstStyle/>
            <a:p>
              <a:pPr algn="ctr">
                <a:lnSpc>
                  <a:spcPts val="2400"/>
                </a:lnSpc>
              </a:pPr>
              <a:r>
                <a:rPr lang="en-US" sz="2000">
                  <a:solidFill>
                    <a:srgbClr val="000000"/>
                  </a:solidFill>
                  <a:latin typeface="Arimo"/>
                  <a:ea typeface="Arimo"/>
                  <a:cs typeface="Arimo"/>
                  <a:sym typeface="Arimo"/>
                </a:rPr>
                <a:t>3</a:t>
              </a:r>
            </a:p>
          </p:txBody>
        </p:sp>
      </p:grpSp>
      <p:sp>
        <p:nvSpPr>
          <p:cNvPr name="TextBox 23" id="23"/>
          <p:cNvSpPr txBox="true"/>
          <p:nvPr/>
        </p:nvSpPr>
        <p:spPr>
          <a:xfrm rot="0">
            <a:off x="12226528" y="2737247"/>
            <a:ext cx="3653876" cy="365074"/>
          </a:xfrm>
          <a:prstGeom prst="rect">
            <a:avLst/>
          </a:prstGeom>
        </p:spPr>
        <p:txBody>
          <a:bodyPr anchor="t" rtlCol="false" tIns="0" lIns="0" bIns="0" rIns="0">
            <a:spAutoFit/>
          </a:bodyPr>
          <a:lstStyle/>
          <a:p>
            <a:pPr algn="l">
              <a:lnSpc>
                <a:spcPts val="2620"/>
              </a:lnSpc>
            </a:pPr>
            <a:r>
              <a:rPr lang="en-US" sz="2100">
                <a:solidFill>
                  <a:srgbClr val="C9C2C0"/>
                </a:solidFill>
                <a:latin typeface="Arimo"/>
                <a:ea typeface="Arimo"/>
                <a:cs typeface="Arimo"/>
                <a:sym typeface="Arimo"/>
              </a:rPr>
              <a:t>What if a student arrives late?</a:t>
            </a:r>
          </a:p>
        </p:txBody>
      </p:sp>
      <p:sp>
        <p:nvSpPr>
          <p:cNvPr name="TextBox 24" id="24"/>
          <p:cNvSpPr txBox="true"/>
          <p:nvPr/>
        </p:nvSpPr>
        <p:spPr>
          <a:xfrm rot="0">
            <a:off x="12226528" y="3148908"/>
            <a:ext cx="4819050" cy="1634728"/>
          </a:xfrm>
          <a:prstGeom prst="rect">
            <a:avLst/>
          </a:prstGeom>
        </p:spPr>
        <p:txBody>
          <a:bodyPr anchor="t" rtlCol="false" tIns="0" lIns="0" bIns="0" rIns="0">
            <a:spAutoFit/>
          </a:bodyPr>
          <a:lstStyle/>
          <a:p>
            <a:pPr algn="l">
              <a:lnSpc>
                <a:spcPts val="2427"/>
              </a:lnSpc>
            </a:pPr>
            <a:r>
              <a:rPr lang="en-US" sz="1700">
                <a:solidFill>
                  <a:srgbClr val="C9C2C0"/>
                </a:solidFill>
                <a:latin typeface="Arimo"/>
                <a:ea typeface="Arimo"/>
                <a:cs typeface="Arimo"/>
                <a:sym typeface="Arimo"/>
              </a:rPr>
              <a:t>A rigid cutoff could unfairly penalize students. </a:t>
            </a:r>
            <a:r>
              <a:rPr lang="en-US" sz="1700" b="true">
                <a:solidFill>
                  <a:srgbClr val="C9C2C0"/>
                </a:solidFill>
                <a:latin typeface="Arimo Bold"/>
                <a:ea typeface="Arimo Bold"/>
                <a:cs typeface="Arimo Bold"/>
                <a:sym typeface="Arimo Bold"/>
              </a:rPr>
              <a:t>Solution:</a:t>
            </a:r>
            <a:r>
              <a:rPr lang="en-US" sz="1700">
                <a:solidFill>
                  <a:srgbClr val="C9C2C0"/>
                </a:solidFill>
                <a:latin typeface="Arimo"/>
                <a:ea typeface="Arimo"/>
                <a:cs typeface="Arimo"/>
                <a:sym typeface="Arimo"/>
              </a:rPr>
              <a:t> The system will include a configurable grace period — defaulting to 20 minutes — after which any unmatched student is automatically marked absent.</a:t>
            </a:r>
          </a:p>
        </p:txBody>
      </p:sp>
      <p:sp>
        <p:nvSpPr>
          <p:cNvPr name="Freeform 25" id="25" descr="preencoded.png"/>
          <p:cNvSpPr/>
          <p:nvPr/>
        </p:nvSpPr>
        <p:spPr>
          <a:xfrm flipH="false" flipV="false" rot="0">
            <a:off x="992238" y="5522119"/>
            <a:ext cx="5319122" cy="3794227"/>
          </a:xfrm>
          <a:custGeom>
            <a:avLst/>
            <a:gdLst/>
            <a:ahLst/>
            <a:cxnLst/>
            <a:rect r="r" b="b" t="t" l="l"/>
            <a:pathLst>
              <a:path h="3794227" w="5319122">
                <a:moveTo>
                  <a:pt x="0" y="0"/>
                </a:moveTo>
                <a:lnTo>
                  <a:pt x="5319122" y="0"/>
                </a:lnTo>
                <a:lnTo>
                  <a:pt x="5319122" y="3794226"/>
                </a:lnTo>
                <a:lnTo>
                  <a:pt x="0" y="3794226"/>
                </a:lnTo>
                <a:lnTo>
                  <a:pt x="0" y="0"/>
                </a:lnTo>
                <a:close/>
              </a:path>
            </a:pathLst>
          </a:custGeom>
          <a:blipFill>
            <a:blip r:embed="rId6">
              <a:extLst>
                <a:ext uri="{96DAC541-7B7A-43D3-8B79-37D633B846F1}">
                  <asvg:svgBlip xmlns:asvg="http://schemas.microsoft.com/office/drawing/2016/SVG/main" r:embed="rId7"/>
                </a:ext>
              </a:extLst>
            </a:blip>
            <a:stretch>
              <a:fillRect l="0" t="-31" r="0" b="-32"/>
            </a:stretch>
          </a:blipFill>
        </p:spPr>
      </p:sp>
      <p:grpSp>
        <p:nvGrpSpPr>
          <p:cNvPr name="Group 26" id="26"/>
          <p:cNvGrpSpPr/>
          <p:nvPr/>
        </p:nvGrpSpPr>
        <p:grpSpPr>
          <a:xfrm rot="0">
            <a:off x="3518821" y="5688206"/>
            <a:ext cx="265805" cy="332184"/>
            <a:chOff x="0" y="0"/>
            <a:chExt cx="354406" cy="442912"/>
          </a:xfrm>
        </p:grpSpPr>
        <p:sp>
          <p:nvSpPr>
            <p:cNvPr name="Freeform 27" id="27"/>
            <p:cNvSpPr/>
            <p:nvPr/>
          </p:nvSpPr>
          <p:spPr>
            <a:xfrm flipH="false" flipV="false" rot="0">
              <a:off x="0" y="0"/>
              <a:ext cx="354411" cy="442912"/>
            </a:xfrm>
            <a:custGeom>
              <a:avLst/>
              <a:gdLst/>
              <a:ahLst/>
              <a:cxnLst/>
              <a:rect r="r" b="b" t="t" l="l"/>
              <a:pathLst>
                <a:path h="442912" w="354411">
                  <a:moveTo>
                    <a:pt x="0" y="0"/>
                  </a:moveTo>
                  <a:lnTo>
                    <a:pt x="354411" y="0"/>
                  </a:lnTo>
                  <a:lnTo>
                    <a:pt x="354411" y="442912"/>
                  </a:lnTo>
                  <a:lnTo>
                    <a:pt x="0" y="442912"/>
                  </a:lnTo>
                  <a:close/>
                </a:path>
              </a:pathLst>
            </a:custGeom>
            <a:blipFill>
              <a:blip r:embed="rId5">
                <a:alphaModFix amt="0"/>
              </a:blip>
              <a:stretch>
                <a:fillRect l="-110343" t="0" r="-110342" b="0"/>
              </a:stretch>
            </a:blipFill>
          </p:spPr>
        </p:sp>
        <p:sp>
          <p:nvSpPr>
            <p:cNvPr name="TextBox 28" id="28"/>
            <p:cNvSpPr txBox="true"/>
            <p:nvPr/>
          </p:nvSpPr>
          <p:spPr>
            <a:xfrm>
              <a:off x="0" y="-9525"/>
              <a:ext cx="354406" cy="452437"/>
            </a:xfrm>
            <a:prstGeom prst="rect">
              <a:avLst/>
            </a:prstGeom>
          </p:spPr>
          <p:txBody>
            <a:bodyPr anchor="ctr" rtlCol="false" tIns="0" lIns="0" bIns="0" rIns="0"/>
            <a:lstStyle/>
            <a:p>
              <a:pPr algn="ctr">
                <a:lnSpc>
                  <a:spcPts val="2400"/>
                </a:lnSpc>
              </a:pPr>
              <a:r>
                <a:rPr lang="en-US" sz="2000">
                  <a:solidFill>
                    <a:srgbClr val="000000"/>
                  </a:solidFill>
                  <a:latin typeface="Arimo"/>
                  <a:ea typeface="Arimo"/>
                  <a:cs typeface="Arimo"/>
                  <a:sym typeface="Arimo"/>
                </a:rPr>
                <a:t>4</a:t>
              </a:r>
            </a:p>
          </p:txBody>
        </p:sp>
      </p:grpSp>
      <p:sp>
        <p:nvSpPr>
          <p:cNvPr name="TextBox 29" id="29"/>
          <p:cNvSpPr txBox="true"/>
          <p:nvPr/>
        </p:nvSpPr>
        <p:spPr>
          <a:xfrm rot="0">
            <a:off x="1242270" y="6388894"/>
            <a:ext cx="4571400" cy="365074"/>
          </a:xfrm>
          <a:prstGeom prst="rect">
            <a:avLst/>
          </a:prstGeom>
        </p:spPr>
        <p:txBody>
          <a:bodyPr anchor="t" rtlCol="false" tIns="0" lIns="0" bIns="0" rIns="0">
            <a:spAutoFit/>
          </a:bodyPr>
          <a:lstStyle/>
          <a:p>
            <a:pPr algn="l">
              <a:lnSpc>
                <a:spcPts val="2620"/>
              </a:lnSpc>
            </a:pPr>
            <a:r>
              <a:rPr lang="en-US" sz="2100">
                <a:solidFill>
                  <a:srgbClr val="C9C2C0"/>
                </a:solidFill>
                <a:latin typeface="Arimo"/>
                <a:ea typeface="Arimo"/>
                <a:cs typeface="Arimo"/>
                <a:sym typeface="Arimo"/>
              </a:rPr>
              <a:t>How do we handle proxy attendance?</a:t>
            </a:r>
          </a:p>
        </p:txBody>
      </p:sp>
      <p:sp>
        <p:nvSpPr>
          <p:cNvPr name="TextBox 30" id="30"/>
          <p:cNvSpPr txBox="true"/>
          <p:nvPr/>
        </p:nvSpPr>
        <p:spPr>
          <a:xfrm rot="0">
            <a:off x="1242270" y="6800555"/>
            <a:ext cx="4819050" cy="2265759"/>
          </a:xfrm>
          <a:prstGeom prst="rect">
            <a:avLst/>
          </a:prstGeom>
        </p:spPr>
        <p:txBody>
          <a:bodyPr anchor="t" rtlCol="false" tIns="0" lIns="0" bIns="0" rIns="0">
            <a:spAutoFit/>
          </a:bodyPr>
          <a:lstStyle/>
          <a:p>
            <a:pPr algn="l">
              <a:lnSpc>
                <a:spcPts val="2427"/>
              </a:lnSpc>
            </a:pPr>
            <a:r>
              <a:rPr lang="en-US" sz="1700">
                <a:solidFill>
                  <a:srgbClr val="C9C2C0"/>
                </a:solidFill>
                <a:latin typeface="Arimo"/>
                <a:ea typeface="Arimo"/>
                <a:cs typeface="Arimo"/>
                <a:sym typeface="Arimo"/>
              </a:rPr>
              <a:t>Unlike RFID, faces are difficult to fake — but twins or look-alikes could cause false positives. </a:t>
            </a:r>
            <a:r>
              <a:rPr lang="en-US" sz="1700" b="true">
                <a:solidFill>
                  <a:srgbClr val="C9C2C0"/>
                </a:solidFill>
                <a:latin typeface="Arimo Bold"/>
                <a:ea typeface="Arimo Bold"/>
                <a:cs typeface="Arimo Bold"/>
                <a:sym typeface="Arimo Bold"/>
              </a:rPr>
              <a:t>Solution:</a:t>
            </a:r>
            <a:r>
              <a:rPr lang="en-US" sz="1700">
                <a:solidFill>
                  <a:srgbClr val="C9C2C0"/>
                </a:solidFill>
                <a:latin typeface="Arimo"/>
                <a:ea typeface="Arimo"/>
                <a:cs typeface="Arimo"/>
                <a:sym typeface="Arimo"/>
              </a:rPr>
              <a:t> We will use deep metric learning models that map faces to high-dimensional embedding spaces, significantly reducing misidentifications among similar-looking individuals.</a:t>
            </a:r>
          </a:p>
        </p:txBody>
      </p:sp>
      <p:sp>
        <p:nvSpPr>
          <p:cNvPr name="Freeform 31" id="31" descr="preencoded.png"/>
          <p:cNvSpPr/>
          <p:nvPr/>
        </p:nvSpPr>
        <p:spPr>
          <a:xfrm flipH="false" flipV="false" rot="0">
            <a:off x="6484296" y="5522119"/>
            <a:ext cx="5319265" cy="3794227"/>
          </a:xfrm>
          <a:custGeom>
            <a:avLst/>
            <a:gdLst/>
            <a:ahLst/>
            <a:cxnLst/>
            <a:rect r="r" b="b" t="t" l="l"/>
            <a:pathLst>
              <a:path h="3794227" w="5319265">
                <a:moveTo>
                  <a:pt x="0" y="0"/>
                </a:moveTo>
                <a:lnTo>
                  <a:pt x="5319265" y="0"/>
                </a:lnTo>
                <a:lnTo>
                  <a:pt x="5319265" y="3794226"/>
                </a:lnTo>
                <a:lnTo>
                  <a:pt x="0" y="3794226"/>
                </a:lnTo>
                <a:lnTo>
                  <a:pt x="0" y="0"/>
                </a:lnTo>
                <a:close/>
              </a:path>
            </a:pathLst>
          </a:custGeom>
          <a:blipFill>
            <a:blip r:embed="rId6">
              <a:extLst>
                <a:ext uri="{96DAC541-7B7A-43D3-8B79-37D633B846F1}">
                  <asvg:svgBlip xmlns:asvg="http://schemas.microsoft.com/office/drawing/2016/SVG/main" r:embed="rId7"/>
                </a:ext>
              </a:extLst>
            </a:blip>
            <a:stretch>
              <a:fillRect l="0" t="-33" r="0" b="-33"/>
            </a:stretch>
          </a:blipFill>
        </p:spPr>
      </p:sp>
      <p:grpSp>
        <p:nvGrpSpPr>
          <p:cNvPr name="Group 32" id="32"/>
          <p:cNvGrpSpPr/>
          <p:nvPr/>
        </p:nvGrpSpPr>
        <p:grpSpPr>
          <a:xfrm rot="0">
            <a:off x="9010879" y="5688206"/>
            <a:ext cx="265805" cy="332184"/>
            <a:chOff x="0" y="0"/>
            <a:chExt cx="354406" cy="442912"/>
          </a:xfrm>
        </p:grpSpPr>
        <p:sp>
          <p:nvSpPr>
            <p:cNvPr name="Freeform 33" id="33"/>
            <p:cNvSpPr/>
            <p:nvPr/>
          </p:nvSpPr>
          <p:spPr>
            <a:xfrm flipH="false" flipV="false" rot="0">
              <a:off x="0" y="0"/>
              <a:ext cx="354411" cy="442912"/>
            </a:xfrm>
            <a:custGeom>
              <a:avLst/>
              <a:gdLst/>
              <a:ahLst/>
              <a:cxnLst/>
              <a:rect r="r" b="b" t="t" l="l"/>
              <a:pathLst>
                <a:path h="442912" w="354411">
                  <a:moveTo>
                    <a:pt x="0" y="0"/>
                  </a:moveTo>
                  <a:lnTo>
                    <a:pt x="354411" y="0"/>
                  </a:lnTo>
                  <a:lnTo>
                    <a:pt x="354411" y="442912"/>
                  </a:lnTo>
                  <a:lnTo>
                    <a:pt x="0" y="442912"/>
                  </a:lnTo>
                  <a:close/>
                </a:path>
              </a:pathLst>
            </a:custGeom>
            <a:blipFill>
              <a:blip r:embed="rId5">
                <a:alphaModFix amt="0"/>
              </a:blip>
              <a:stretch>
                <a:fillRect l="-110343" t="0" r="-110342" b="0"/>
              </a:stretch>
            </a:blipFill>
          </p:spPr>
        </p:sp>
        <p:sp>
          <p:nvSpPr>
            <p:cNvPr name="TextBox 34" id="34"/>
            <p:cNvSpPr txBox="true"/>
            <p:nvPr/>
          </p:nvSpPr>
          <p:spPr>
            <a:xfrm>
              <a:off x="0" y="-9525"/>
              <a:ext cx="354406" cy="452437"/>
            </a:xfrm>
            <a:prstGeom prst="rect">
              <a:avLst/>
            </a:prstGeom>
          </p:spPr>
          <p:txBody>
            <a:bodyPr anchor="ctr" rtlCol="false" tIns="0" lIns="0" bIns="0" rIns="0"/>
            <a:lstStyle/>
            <a:p>
              <a:pPr algn="ctr">
                <a:lnSpc>
                  <a:spcPts val="2400"/>
                </a:lnSpc>
              </a:pPr>
              <a:r>
                <a:rPr lang="en-US" sz="2000">
                  <a:solidFill>
                    <a:srgbClr val="000000"/>
                  </a:solidFill>
                  <a:latin typeface="Arimo"/>
                  <a:ea typeface="Arimo"/>
                  <a:cs typeface="Arimo"/>
                  <a:sym typeface="Arimo"/>
                </a:rPr>
                <a:t>5</a:t>
              </a:r>
            </a:p>
          </p:txBody>
        </p:sp>
      </p:grpSp>
      <p:sp>
        <p:nvSpPr>
          <p:cNvPr name="TextBox 35" id="35"/>
          <p:cNvSpPr txBox="true"/>
          <p:nvPr/>
        </p:nvSpPr>
        <p:spPr>
          <a:xfrm rot="0">
            <a:off x="6734327" y="6388894"/>
            <a:ext cx="3805238" cy="365074"/>
          </a:xfrm>
          <a:prstGeom prst="rect">
            <a:avLst/>
          </a:prstGeom>
        </p:spPr>
        <p:txBody>
          <a:bodyPr anchor="t" rtlCol="false" tIns="0" lIns="0" bIns="0" rIns="0">
            <a:spAutoFit/>
          </a:bodyPr>
          <a:lstStyle/>
          <a:p>
            <a:pPr algn="l">
              <a:lnSpc>
                <a:spcPts val="2620"/>
              </a:lnSpc>
            </a:pPr>
            <a:r>
              <a:rPr lang="en-US" sz="2100">
                <a:solidFill>
                  <a:srgbClr val="C9C2C0"/>
                </a:solidFill>
                <a:latin typeface="Arimo"/>
                <a:ea typeface="Arimo"/>
                <a:cs typeface="Arimo"/>
                <a:sym typeface="Arimo"/>
              </a:rPr>
              <a:t>Where do we get training data?</a:t>
            </a:r>
          </a:p>
        </p:txBody>
      </p:sp>
      <p:sp>
        <p:nvSpPr>
          <p:cNvPr name="TextBox 36" id="36"/>
          <p:cNvSpPr txBox="true"/>
          <p:nvPr/>
        </p:nvSpPr>
        <p:spPr>
          <a:xfrm rot="0">
            <a:off x="6734327" y="6800555"/>
            <a:ext cx="4819202" cy="1836725"/>
          </a:xfrm>
          <a:prstGeom prst="rect">
            <a:avLst/>
          </a:prstGeom>
        </p:spPr>
        <p:txBody>
          <a:bodyPr anchor="t" rtlCol="false" tIns="0" lIns="0" bIns="0" rIns="0">
            <a:spAutoFit/>
          </a:bodyPr>
          <a:lstStyle/>
          <a:p>
            <a:pPr algn="l">
              <a:lnSpc>
                <a:spcPts val="2427"/>
              </a:lnSpc>
            </a:pPr>
            <a:r>
              <a:rPr lang="en-US" sz="1700">
                <a:solidFill>
                  <a:srgbClr val="C9C2C0"/>
                </a:solidFill>
                <a:latin typeface="Arimo"/>
                <a:ea typeface="Arimo"/>
                <a:cs typeface="Arimo"/>
                <a:sym typeface="Arimo"/>
              </a:rPr>
              <a:t>Pre-built datasets may not reflect NSU's student demographics, impacting accuracy. </a:t>
            </a:r>
          </a:p>
          <a:p>
            <a:pPr algn="l">
              <a:lnSpc>
                <a:spcPts val="2427"/>
              </a:lnSpc>
            </a:pPr>
            <a:r>
              <a:rPr lang="en-US" sz="1700" b="true">
                <a:solidFill>
                  <a:srgbClr val="C9C2C0"/>
                </a:solidFill>
                <a:latin typeface="Arimo Bold"/>
                <a:ea typeface="Arimo Bold"/>
                <a:cs typeface="Arimo Bold"/>
                <a:sym typeface="Arimo Bold"/>
              </a:rPr>
              <a:t>Solution:</a:t>
            </a:r>
            <a:r>
              <a:rPr lang="en-US" sz="1700">
                <a:solidFill>
                  <a:srgbClr val="C9C2C0"/>
                </a:solidFill>
                <a:latin typeface="Arimo"/>
                <a:ea typeface="Arimo"/>
                <a:cs typeface="Arimo"/>
                <a:sym typeface="Arimo"/>
              </a:rPr>
              <a:t> We will combine public datasets like LFW with a locally collected dataset of consenting NSU students, captured under real classroom lighting conditions.</a:t>
            </a:r>
          </a:p>
        </p:txBody>
      </p:sp>
      <p:sp>
        <p:nvSpPr>
          <p:cNvPr name="Freeform 37" id="37" descr="preencoded.png"/>
          <p:cNvSpPr/>
          <p:nvPr/>
        </p:nvSpPr>
        <p:spPr>
          <a:xfrm flipH="false" flipV="false" rot="0">
            <a:off x="11976497" y="5522119"/>
            <a:ext cx="5319122" cy="3794227"/>
          </a:xfrm>
          <a:custGeom>
            <a:avLst/>
            <a:gdLst/>
            <a:ahLst/>
            <a:cxnLst/>
            <a:rect r="r" b="b" t="t" l="l"/>
            <a:pathLst>
              <a:path h="3794227" w="5319122">
                <a:moveTo>
                  <a:pt x="0" y="0"/>
                </a:moveTo>
                <a:lnTo>
                  <a:pt x="5319122" y="0"/>
                </a:lnTo>
                <a:lnTo>
                  <a:pt x="5319122" y="3794226"/>
                </a:lnTo>
                <a:lnTo>
                  <a:pt x="0" y="3794226"/>
                </a:lnTo>
                <a:lnTo>
                  <a:pt x="0" y="0"/>
                </a:lnTo>
                <a:close/>
              </a:path>
            </a:pathLst>
          </a:custGeom>
          <a:blipFill>
            <a:blip r:embed="rId6">
              <a:extLst>
                <a:ext uri="{96DAC541-7B7A-43D3-8B79-37D633B846F1}">
                  <asvg:svgBlip xmlns:asvg="http://schemas.microsoft.com/office/drawing/2016/SVG/main" r:embed="rId7"/>
                </a:ext>
              </a:extLst>
            </a:blip>
            <a:stretch>
              <a:fillRect l="0" t="-31" r="0" b="-32"/>
            </a:stretch>
          </a:blipFill>
        </p:spPr>
      </p:sp>
      <p:grpSp>
        <p:nvGrpSpPr>
          <p:cNvPr name="Group 38" id="38"/>
          <p:cNvGrpSpPr/>
          <p:nvPr/>
        </p:nvGrpSpPr>
        <p:grpSpPr>
          <a:xfrm rot="0">
            <a:off x="14503079" y="5688206"/>
            <a:ext cx="265805" cy="332184"/>
            <a:chOff x="0" y="0"/>
            <a:chExt cx="354406" cy="442912"/>
          </a:xfrm>
        </p:grpSpPr>
        <p:sp>
          <p:nvSpPr>
            <p:cNvPr name="Freeform 39" id="39"/>
            <p:cNvSpPr/>
            <p:nvPr/>
          </p:nvSpPr>
          <p:spPr>
            <a:xfrm flipH="false" flipV="false" rot="0">
              <a:off x="0" y="0"/>
              <a:ext cx="354411" cy="442912"/>
            </a:xfrm>
            <a:custGeom>
              <a:avLst/>
              <a:gdLst/>
              <a:ahLst/>
              <a:cxnLst/>
              <a:rect r="r" b="b" t="t" l="l"/>
              <a:pathLst>
                <a:path h="442912" w="354411">
                  <a:moveTo>
                    <a:pt x="0" y="0"/>
                  </a:moveTo>
                  <a:lnTo>
                    <a:pt x="354411" y="0"/>
                  </a:lnTo>
                  <a:lnTo>
                    <a:pt x="354411" y="442912"/>
                  </a:lnTo>
                  <a:lnTo>
                    <a:pt x="0" y="442912"/>
                  </a:lnTo>
                  <a:close/>
                </a:path>
              </a:pathLst>
            </a:custGeom>
            <a:blipFill>
              <a:blip r:embed="rId5">
                <a:alphaModFix amt="0"/>
              </a:blip>
              <a:stretch>
                <a:fillRect l="-110343" t="0" r="-110342" b="0"/>
              </a:stretch>
            </a:blipFill>
          </p:spPr>
        </p:sp>
        <p:sp>
          <p:nvSpPr>
            <p:cNvPr name="TextBox 40" id="40"/>
            <p:cNvSpPr txBox="true"/>
            <p:nvPr/>
          </p:nvSpPr>
          <p:spPr>
            <a:xfrm>
              <a:off x="0" y="-9525"/>
              <a:ext cx="354406" cy="452437"/>
            </a:xfrm>
            <a:prstGeom prst="rect">
              <a:avLst/>
            </a:prstGeom>
          </p:spPr>
          <p:txBody>
            <a:bodyPr anchor="ctr" rtlCol="false" tIns="0" lIns="0" bIns="0" rIns="0"/>
            <a:lstStyle/>
            <a:p>
              <a:pPr algn="ctr">
                <a:lnSpc>
                  <a:spcPts val="2400"/>
                </a:lnSpc>
              </a:pPr>
              <a:r>
                <a:rPr lang="en-US" sz="2000">
                  <a:solidFill>
                    <a:srgbClr val="000000"/>
                  </a:solidFill>
                  <a:latin typeface="Arimo"/>
                  <a:ea typeface="Arimo"/>
                  <a:cs typeface="Arimo"/>
                  <a:sym typeface="Arimo"/>
                </a:rPr>
                <a:t>6</a:t>
              </a:r>
            </a:p>
          </p:txBody>
        </p:sp>
      </p:grpSp>
      <p:sp>
        <p:nvSpPr>
          <p:cNvPr name="TextBox 41" id="41"/>
          <p:cNvSpPr txBox="true"/>
          <p:nvPr/>
        </p:nvSpPr>
        <p:spPr>
          <a:xfrm rot="0">
            <a:off x="12226528" y="6388894"/>
            <a:ext cx="4493266" cy="365074"/>
          </a:xfrm>
          <a:prstGeom prst="rect">
            <a:avLst/>
          </a:prstGeom>
        </p:spPr>
        <p:txBody>
          <a:bodyPr anchor="t" rtlCol="false" tIns="0" lIns="0" bIns="0" rIns="0">
            <a:spAutoFit/>
          </a:bodyPr>
          <a:lstStyle/>
          <a:p>
            <a:pPr algn="l">
              <a:lnSpc>
                <a:spcPts val="2620"/>
              </a:lnSpc>
            </a:pPr>
            <a:r>
              <a:rPr lang="en-US" sz="2100">
                <a:solidFill>
                  <a:srgbClr val="C9C2C0"/>
                </a:solidFill>
                <a:latin typeface="Arimo"/>
                <a:ea typeface="Arimo"/>
                <a:cs typeface="Arimo"/>
                <a:sym typeface="Arimo"/>
              </a:rPr>
              <a:t>How will the app run across devices?</a:t>
            </a:r>
          </a:p>
        </p:txBody>
      </p:sp>
      <p:sp>
        <p:nvSpPr>
          <p:cNvPr name="TextBox 42" id="42"/>
          <p:cNvSpPr txBox="true"/>
          <p:nvPr/>
        </p:nvSpPr>
        <p:spPr>
          <a:xfrm rot="0">
            <a:off x="12226528" y="6800555"/>
            <a:ext cx="4819050" cy="1836725"/>
          </a:xfrm>
          <a:prstGeom prst="rect">
            <a:avLst/>
          </a:prstGeom>
        </p:spPr>
        <p:txBody>
          <a:bodyPr anchor="t" rtlCol="false" tIns="0" lIns="0" bIns="0" rIns="0">
            <a:spAutoFit/>
          </a:bodyPr>
          <a:lstStyle/>
          <a:p>
            <a:pPr algn="l">
              <a:lnSpc>
                <a:spcPts val="2427"/>
              </a:lnSpc>
            </a:pPr>
            <a:r>
              <a:rPr lang="en-US" sz="1700">
                <a:solidFill>
                  <a:srgbClr val="C9C2C0"/>
                </a:solidFill>
                <a:latin typeface="Arimo"/>
                <a:ea typeface="Arimo"/>
                <a:cs typeface="Arimo"/>
                <a:sym typeface="Arimo"/>
              </a:rPr>
              <a:t>Teachers use different platforms — PC, Mac, and phones. </a:t>
            </a:r>
          </a:p>
          <a:p>
            <a:pPr algn="l">
              <a:lnSpc>
                <a:spcPts val="2427"/>
              </a:lnSpc>
            </a:pPr>
            <a:r>
              <a:rPr lang="en-US" sz="1700" b="true">
                <a:solidFill>
                  <a:srgbClr val="C9C2C0"/>
                </a:solidFill>
                <a:latin typeface="Arimo Bold"/>
                <a:ea typeface="Arimo Bold"/>
                <a:cs typeface="Arimo Bold"/>
                <a:sym typeface="Arimo Bold"/>
              </a:rPr>
              <a:t>Solution:</a:t>
            </a:r>
            <a:r>
              <a:rPr lang="en-US" sz="1700">
                <a:solidFill>
                  <a:srgbClr val="C9C2C0"/>
                </a:solidFill>
                <a:latin typeface="Arimo"/>
                <a:ea typeface="Arimo"/>
                <a:cs typeface="Arimo"/>
                <a:sym typeface="Arimo"/>
              </a:rPr>
              <a:t> We will build a responsive cross-platform frontend and a cloud-backed REST API, ensuring consistent performance regardless of the device used to capture or review attendance.</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302D2C"/>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464342"/>
            </a:solidFill>
          </p:spPr>
        </p:sp>
      </p:grpSp>
      <p:sp>
        <p:nvSpPr>
          <p:cNvPr name="TextBox 6" id="6"/>
          <p:cNvSpPr txBox="true"/>
          <p:nvPr/>
        </p:nvSpPr>
        <p:spPr>
          <a:xfrm rot="0">
            <a:off x="992238" y="1708699"/>
            <a:ext cx="7345118" cy="746817"/>
          </a:xfrm>
          <a:prstGeom prst="rect">
            <a:avLst/>
          </a:prstGeom>
        </p:spPr>
        <p:txBody>
          <a:bodyPr anchor="t" rtlCol="false" tIns="0" lIns="0" bIns="0" rIns="0">
            <a:spAutoFit/>
          </a:bodyPr>
          <a:lstStyle/>
          <a:p>
            <a:pPr algn="l">
              <a:lnSpc>
                <a:spcPts val="5491"/>
              </a:lnSpc>
            </a:pPr>
            <a:r>
              <a:rPr lang="en-US" sz="4400">
                <a:solidFill>
                  <a:srgbClr val="D8B6A4"/>
                </a:solidFill>
                <a:latin typeface="Arimo"/>
                <a:ea typeface="Arimo"/>
                <a:cs typeface="Arimo"/>
                <a:sym typeface="Arimo"/>
              </a:rPr>
              <a:t>Technology Stack &amp; Tools</a:t>
            </a:r>
          </a:p>
        </p:txBody>
      </p:sp>
      <p:grpSp>
        <p:nvGrpSpPr>
          <p:cNvPr name="Group 7" id="7"/>
          <p:cNvGrpSpPr/>
          <p:nvPr/>
        </p:nvGrpSpPr>
        <p:grpSpPr>
          <a:xfrm rot="0">
            <a:off x="788041" y="2880722"/>
            <a:ext cx="8214274" cy="5659336"/>
            <a:chOff x="0" y="0"/>
            <a:chExt cx="10952366" cy="7545781"/>
          </a:xfrm>
        </p:grpSpPr>
        <p:sp>
          <p:nvSpPr>
            <p:cNvPr name="Freeform 8" id="8"/>
            <p:cNvSpPr/>
            <p:nvPr/>
          </p:nvSpPr>
          <p:spPr>
            <a:xfrm flipH="false" flipV="false" rot="0">
              <a:off x="0" y="0"/>
              <a:ext cx="10952352" cy="7545832"/>
            </a:xfrm>
            <a:custGeom>
              <a:avLst/>
              <a:gdLst/>
              <a:ahLst/>
              <a:cxnLst/>
              <a:rect r="r" b="b" t="t" l="l"/>
              <a:pathLst>
                <a:path h="7545832" w="10952352">
                  <a:moveTo>
                    <a:pt x="0" y="56769"/>
                  </a:moveTo>
                  <a:cubicBezTo>
                    <a:pt x="0" y="25400"/>
                    <a:pt x="25400" y="0"/>
                    <a:pt x="56769" y="0"/>
                  </a:cubicBezTo>
                  <a:lnTo>
                    <a:pt x="10895584" y="0"/>
                  </a:lnTo>
                  <a:cubicBezTo>
                    <a:pt x="10926952" y="0"/>
                    <a:pt x="10952352" y="25400"/>
                    <a:pt x="10952352" y="56769"/>
                  </a:cubicBezTo>
                  <a:lnTo>
                    <a:pt x="10952352" y="7489063"/>
                  </a:lnTo>
                  <a:cubicBezTo>
                    <a:pt x="10952352" y="7520432"/>
                    <a:pt x="10926952" y="7545832"/>
                    <a:pt x="10895584" y="7545832"/>
                  </a:cubicBezTo>
                  <a:lnTo>
                    <a:pt x="56769" y="7545832"/>
                  </a:lnTo>
                  <a:cubicBezTo>
                    <a:pt x="25400" y="7545832"/>
                    <a:pt x="0" y="7520432"/>
                    <a:pt x="0" y="7489063"/>
                  </a:cubicBezTo>
                  <a:close/>
                </a:path>
              </a:pathLst>
            </a:custGeom>
            <a:solidFill>
              <a:srgbClr val="C49F8C"/>
            </a:solidFill>
          </p:spPr>
        </p:sp>
      </p:grpSp>
      <p:sp>
        <p:nvSpPr>
          <p:cNvPr name="TextBox 9" id="9"/>
          <p:cNvSpPr txBox="true"/>
          <p:nvPr/>
        </p:nvSpPr>
        <p:spPr>
          <a:xfrm rot="0">
            <a:off x="1071562" y="3135659"/>
            <a:ext cx="4458443" cy="471487"/>
          </a:xfrm>
          <a:prstGeom prst="rect">
            <a:avLst/>
          </a:prstGeom>
        </p:spPr>
        <p:txBody>
          <a:bodyPr anchor="t" rtlCol="false" tIns="0" lIns="0" bIns="0" rIns="0">
            <a:spAutoFit/>
          </a:bodyPr>
          <a:lstStyle/>
          <a:p>
            <a:pPr algn="l">
              <a:lnSpc>
                <a:spcPts val="3369"/>
              </a:lnSpc>
            </a:pPr>
            <a:r>
              <a:rPr lang="en-US" sz="2700">
                <a:solidFill>
                  <a:srgbClr val="000000"/>
                </a:solidFill>
                <a:latin typeface="Arimo"/>
                <a:ea typeface="Arimo"/>
                <a:cs typeface="Arimo"/>
                <a:sym typeface="Arimo"/>
              </a:rPr>
              <a:t>Backend &amp; AI Layer</a:t>
            </a:r>
          </a:p>
        </p:txBody>
      </p:sp>
      <p:sp>
        <p:nvSpPr>
          <p:cNvPr name="TextBox 10" id="10"/>
          <p:cNvSpPr txBox="true"/>
          <p:nvPr/>
        </p:nvSpPr>
        <p:spPr>
          <a:xfrm rot="0">
            <a:off x="1071562" y="3785892"/>
            <a:ext cx="7647232" cy="4499077"/>
          </a:xfrm>
          <a:prstGeom prst="rect">
            <a:avLst/>
          </a:prstGeom>
        </p:spPr>
        <p:txBody>
          <a:bodyPr anchor="t" rtlCol="false" tIns="0" lIns="0" bIns="0" rIns="0">
            <a:spAutoFit/>
          </a:bodyPr>
          <a:lstStyle/>
          <a:p>
            <a:pPr algn="l">
              <a:lnSpc>
                <a:spcPts val="3511"/>
              </a:lnSpc>
            </a:pPr>
            <a:r>
              <a:rPr lang="en-US" sz="2200" b="true">
                <a:solidFill>
                  <a:srgbClr val="000000"/>
                </a:solidFill>
                <a:latin typeface="Arimo Bold"/>
                <a:ea typeface="Arimo Bold"/>
                <a:cs typeface="Arimo Bold"/>
                <a:sym typeface="Arimo Bold"/>
              </a:rPr>
              <a:t>Python · Flask</a:t>
            </a:r>
          </a:p>
          <a:p>
            <a:pPr algn="l">
              <a:lnSpc>
                <a:spcPts val="3511"/>
              </a:lnSpc>
            </a:pPr>
            <a:r>
              <a:rPr lang="en-US" sz="2200">
                <a:solidFill>
                  <a:srgbClr val="000000"/>
                </a:solidFill>
                <a:latin typeface="Arimo"/>
                <a:ea typeface="Arimo"/>
                <a:cs typeface="Arimo"/>
                <a:sym typeface="Arimo"/>
              </a:rPr>
              <a:t>REST API &amp; server logic</a:t>
            </a:r>
          </a:p>
          <a:p>
            <a:pPr algn="l">
              <a:lnSpc>
                <a:spcPts val="3511"/>
              </a:lnSpc>
            </a:pPr>
            <a:r>
              <a:rPr lang="en-US" sz="2200" b="true">
                <a:solidFill>
                  <a:srgbClr val="000000"/>
                </a:solidFill>
                <a:latin typeface="Arimo Bold"/>
                <a:ea typeface="Arimo Bold"/>
                <a:cs typeface="Arimo Bold"/>
                <a:sym typeface="Arimo Bold"/>
              </a:rPr>
              <a:t>OpenCV</a:t>
            </a:r>
          </a:p>
          <a:p>
            <a:pPr algn="l">
              <a:lnSpc>
                <a:spcPts val="3511"/>
              </a:lnSpc>
            </a:pPr>
            <a:r>
              <a:rPr lang="en-US" sz="2200">
                <a:solidFill>
                  <a:srgbClr val="000000"/>
                </a:solidFill>
                <a:latin typeface="Arimo"/>
                <a:ea typeface="Arimo"/>
                <a:cs typeface="Arimo"/>
                <a:sym typeface="Arimo"/>
              </a:rPr>
              <a:t>Face detection &amp; preprocessing</a:t>
            </a:r>
          </a:p>
          <a:p>
            <a:pPr algn="l">
              <a:lnSpc>
                <a:spcPts val="3511"/>
              </a:lnSpc>
            </a:pPr>
            <a:r>
              <a:rPr lang="en-US" sz="2200" b="true">
                <a:solidFill>
                  <a:srgbClr val="000000"/>
                </a:solidFill>
                <a:latin typeface="Arimo Bold"/>
                <a:ea typeface="Arimo Bold"/>
                <a:cs typeface="Arimo Bold"/>
                <a:sym typeface="Arimo Bold"/>
              </a:rPr>
              <a:t>FaceNet / dlib</a:t>
            </a:r>
          </a:p>
          <a:p>
            <a:pPr algn="l">
              <a:lnSpc>
                <a:spcPts val="3511"/>
              </a:lnSpc>
            </a:pPr>
            <a:r>
              <a:rPr lang="en-US" sz="2200">
                <a:solidFill>
                  <a:srgbClr val="000000"/>
                </a:solidFill>
                <a:latin typeface="Arimo"/>
                <a:ea typeface="Arimo"/>
                <a:cs typeface="Arimo"/>
                <a:sym typeface="Arimo"/>
              </a:rPr>
              <a:t>Facial embedding &amp; recognition</a:t>
            </a:r>
          </a:p>
          <a:p>
            <a:pPr algn="l">
              <a:lnSpc>
                <a:spcPts val="3511"/>
              </a:lnSpc>
            </a:pPr>
            <a:r>
              <a:rPr lang="en-US" sz="2200" b="true">
                <a:solidFill>
                  <a:srgbClr val="000000"/>
                </a:solidFill>
                <a:latin typeface="Arimo Bold"/>
                <a:ea typeface="Arimo Bold"/>
                <a:cs typeface="Arimo Bold"/>
                <a:sym typeface="Arimo Bold"/>
              </a:rPr>
              <a:t>MySQL / PostgreSQL</a:t>
            </a:r>
          </a:p>
          <a:p>
            <a:pPr algn="l">
              <a:lnSpc>
                <a:spcPts val="3511"/>
              </a:lnSpc>
            </a:pPr>
            <a:r>
              <a:rPr lang="en-US" sz="2200">
                <a:solidFill>
                  <a:srgbClr val="000000"/>
                </a:solidFill>
                <a:latin typeface="Arimo"/>
                <a:ea typeface="Arimo"/>
                <a:cs typeface="Arimo"/>
                <a:sym typeface="Arimo"/>
              </a:rPr>
              <a:t>Student &amp; attendance database</a:t>
            </a:r>
          </a:p>
        </p:txBody>
      </p:sp>
      <p:sp>
        <p:nvSpPr>
          <p:cNvPr name="TextBox 11" id="11"/>
          <p:cNvSpPr txBox="true"/>
          <p:nvPr/>
        </p:nvSpPr>
        <p:spPr>
          <a:xfrm rot="0">
            <a:off x="9499406" y="3135659"/>
            <a:ext cx="4720981" cy="471487"/>
          </a:xfrm>
          <a:prstGeom prst="rect">
            <a:avLst/>
          </a:prstGeom>
        </p:spPr>
        <p:txBody>
          <a:bodyPr anchor="t" rtlCol="false" tIns="0" lIns="0" bIns="0" rIns="0">
            <a:spAutoFit/>
          </a:bodyPr>
          <a:lstStyle/>
          <a:p>
            <a:pPr algn="l">
              <a:lnSpc>
                <a:spcPts val="3369"/>
              </a:lnSpc>
            </a:pPr>
            <a:r>
              <a:rPr lang="en-US" sz="2700">
                <a:solidFill>
                  <a:srgbClr val="D8B6A4"/>
                </a:solidFill>
                <a:latin typeface="Arimo"/>
                <a:ea typeface="Arimo"/>
                <a:cs typeface="Arimo"/>
                <a:sym typeface="Arimo"/>
              </a:rPr>
              <a:t>Frontend &amp; Deployment</a:t>
            </a:r>
          </a:p>
        </p:txBody>
      </p:sp>
      <p:sp>
        <p:nvSpPr>
          <p:cNvPr name="TextBox 12" id="12"/>
          <p:cNvSpPr txBox="true"/>
          <p:nvPr/>
        </p:nvSpPr>
        <p:spPr>
          <a:xfrm rot="0">
            <a:off x="9499406" y="3785892"/>
            <a:ext cx="7805890" cy="3676650"/>
          </a:xfrm>
          <a:prstGeom prst="rect">
            <a:avLst/>
          </a:prstGeom>
        </p:spPr>
        <p:txBody>
          <a:bodyPr anchor="t" rtlCol="false" tIns="0" lIns="0" bIns="0" rIns="0">
            <a:spAutoFit/>
          </a:bodyPr>
          <a:lstStyle/>
          <a:p>
            <a:pPr algn="l" marL="530860" indent="-265430" lvl="1">
              <a:lnSpc>
                <a:spcPts val="3511"/>
              </a:lnSpc>
              <a:buFont typeface="Arial"/>
              <a:buChar char="•"/>
            </a:pPr>
            <a:r>
              <a:rPr lang="en-US" b="true" sz="2200">
                <a:solidFill>
                  <a:srgbClr val="C9C2C0"/>
                </a:solidFill>
                <a:latin typeface="Arimo Bold"/>
                <a:ea typeface="Arimo Bold"/>
                <a:cs typeface="Arimo Bold"/>
                <a:sym typeface="Arimo Bold"/>
              </a:rPr>
              <a:t>React.js / Flutter</a:t>
            </a:r>
            <a:r>
              <a:rPr lang="en-US" sz="2200">
                <a:solidFill>
                  <a:srgbClr val="C9C2C0"/>
                </a:solidFill>
                <a:latin typeface="Arimo"/>
                <a:ea typeface="Arimo"/>
                <a:cs typeface="Arimo"/>
                <a:sym typeface="Arimo"/>
              </a:rPr>
              <a:t> — Cross-platform UI for PC, Mac, and mobile</a:t>
            </a:r>
          </a:p>
          <a:p>
            <a:pPr algn="l" marL="530860" indent="-265430" lvl="1">
              <a:lnSpc>
                <a:spcPts val="3511"/>
              </a:lnSpc>
              <a:buFont typeface="Arial"/>
              <a:buChar char="•"/>
            </a:pPr>
            <a:r>
              <a:rPr lang="en-US" b="true" sz="2200">
                <a:solidFill>
                  <a:srgbClr val="C9C2C0"/>
                </a:solidFill>
                <a:latin typeface="Arimo Bold"/>
                <a:ea typeface="Arimo Bold"/>
                <a:cs typeface="Arimo Bold"/>
                <a:sym typeface="Arimo Bold"/>
              </a:rPr>
              <a:t>Firebase / Docker</a:t>
            </a:r>
            <a:r>
              <a:rPr lang="en-US" sz="2200">
                <a:solidFill>
                  <a:srgbClr val="C9C2C0"/>
                </a:solidFill>
                <a:latin typeface="Arimo"/>
                <a:ea typeface="Arimo"/>
                <a:cs typeface="Arimo"/>
                <a:sym typeface="Arimo"/>
              </a:rPr>
              <a:t> — Deployment and containerized hosting</a:t>
            </a:r>
          </a:p>
          <a:p>
            <a:pPr algn="l" marL="530860" indent="-265430" lvl="1">
              <a:lnSpc>
                <a:spcPts val="3511"/>
              </a:lnSpc>
              <a:buFont typeface="Arial"/>
              <a:buChar char="•"/>
            </a:pPr>
            <a:r>
              <a:rPr lang="en-US" b="true" sz="2200">
                <a:solidFill>
                  <a:srgbClr val="C9C2C0"/>
                </a:solidFill>
                <a:latin typeface="Arimo Bold"/>
                <a:ea typeface="Arimo Bold"/>
                <a:cs typeface="Arimo Bold"/>
                <a:sym typeface="Arimo Bold"/>
              </a:rPr>
              <a:t>Git &amp; GitHub</a:t>
            </a:r>
            <a:r>
              <a:rPr lang="en-US" sz="2200">
                <a:solidFill>
                  <a:srgbClr val="C9C2C0"/>
                </a:solidFill>
                <a:latin typeface="Arimo"/>
                <a:ea typeface="Arimo"/>
                <a:cs typeface="Arimo"/>
                <a:sym typeface="Arimo"/>
              </a:rPr>
              <a:t> — Version control and team collaboration</a:t>
            </a:r>
          </a:p>
          <a:p>
            <a:pPr algn="l" marL="530860" indent="-265430" lvl="1">
              <a:lnSpc>
                <a:spcPts val="3511"/>
              </a:lnSpc>
              <a:buFont typeface="Arial"/>
              <a:buChar char="•"/>
            </a:pPr>
            <a:r>
              <a:rPr lang="en-US" b="true" sz="2200">
                <a:solidFill>
                  <a:srgbClr val="C9C2C0"/>
                </a:solidFill>
                <a:latin typeface="Arimo Bold"/>
                <a:ea typeface="Arimo Bold"/>
                <a:cs typeface="Arimo Bold"/>
                <a:sym typeface="Arimo Bold"/>
              </a:rPr>
              <a:t>Figma</a:t>
            </a:r>
            <a:r>
              <a:rPr lang="en-US" sz="2200">
                <a:solidFill>
                  <a:srgbClr val="C9C2C0"/>
                </a:solidFill>
                <a:latin typeface="Arimo"/>
                <a:ea typeface="Arimo"/>
                <a:cs typeface="Arimo"/>
                <a:sym typeface="Arimo"/>
              </a:rPr>
              <a:t> — UI/UX prototyping and design</a:t>
            </a:r>
          </a:p>
          <a:p>
            <a:pPr algn="l" marL="530860" indent="-265430" lvl="1">
              <a:lnSpc>
                <a:spcPts val="3511"/>
              </a:lnSpc>
              <a:buFont typeface="Arial"/>
              <a:buChar char="•"/>
            </a:pPr>
            <a:r>
              <a:rPr lang="en-US" b="true" sz="2200">
                <a:solidFill>
                  <a:srgbClr val="C9C2C0"/>
                </a:solidFill>
                <a:latin typeface="Arimo Bold"/>
                <a:ea typeface="Arimo Bold"/>
                <a:cs typeface="Arimo Bold"/>
                <a:sym typeface="Arimo Bold"/>
              </a:rPr>
              <a:t>Postman</a:t>
            </a:r>
            <a:r>
              <a:rPr lang="en-US" sz="2200">
                <a:solidFill>
                  <a:srgbClr val="C9C2C0"/>
                </a:solidFill>
                <a:latin typeface="Arimo"/>
                <a:ea typeface="Arimo"/>
                <a:cs typeface="Arimo"/>
                <a:sym typeface="Arimo"/>
              </a:rPr>
              <a:t> — API testing and documentation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302D2C"/>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464342"/>
            </a:solidFill>
          </p:spPr>
        </p:sp>
      </p:grpSp>
      <p:sp>
        <p:nvSpPr>
          <p:cNvPr name="TextBox 6" id="6"/>
          <p:cNvSpPr txBox="true"/>
          <p:nvPr/>
        </p:nvSpPr>
        <p:spPr>
          <a:xfrm rot="0">
            <a:off x="992238" y="814540"/>
            <a:ext cx="7385596" cy="761314"/>
          </a:xfrm>
          <a:prstGeom prst="rect">
            <a:avLst/>
          </a:prstGeom>
        </p:spPr>
        <p:txBody>
          <a:bodyPr anchor="t" rtlCol="false" tIns="0" lIns="0" bIns="0" rIns="0">
            <a:spAutoFit/>
          </a:bodyPr>
          <a:lstStyle/>
          <a:p>
            <a:pPr algn="l">
              <a:lnSpc>
                <a:spcPts val="5990"/>
              </a:lnSpc>
            </a:pPr>
            <a:r>
              <a:rPr lang="en-US" sz="4799">
                <a:solidFill>
                  <a:srgbClr val="D8B6A4"/>
                </a:solidFill>
                <a:latin typeface="Arimo"/>
                <a:ea typeface="Arimo"/>
                <a:cs typeface="Arimo"/>
                <a:sym typeface="Arimo"/>
              </a:rPr>
              <a:t>Dataset Collection Strategy</a:t>
            </a:r>
          </a:p>
        </p:txBody>
      </p:sp>
      <p:grpSp>
        <p:nvGrpSpPr>
          <p:cNvPr name="Group 7" id="7"/>
          <p:cNvGrpSpPr/>
          <p:nvPr/>
        </p:nvGrpSpPr>
        <p:grpSpPr>
          <a:xfrm rot="0">
            <a:off x="8132497" y="2286252"/>
            <a:ext cx="9126803" cy="6774172"/>
            <a:chOff x="0" y="0"/>
            <a:chExt cx="13183984" cy="9785527"/>
          </a:xfrm>
        </p:grpSpPr>
        <p:sp>
          <p:nvSpPr>
            <p:cNvPr name="Freeform 8" id="8" descr="preencoded.png"/>
            <p:cNvSpPr/>
            <p:nvPr/>
          </p:nvSpPr>
          <p:spPr>
            <a:xfrm flipH="false" flipV="false" rot="0">
              <a:off x="0" y="0"/>
              <a:ext cx="13183997" cy="9785552"/>
            </a:xfrm>
            <a:custGeom>
              <a:avLst/>
              <a:gdLst/>
              <a:ahLst/>
              <a:cxnLst/>
              <a:rect r="r" b="b" t="t" l="l"/>
              <a:pathLst>
                <a:path h="9785552" w="13183997">
                  <a:moveTo>
                    <a:pt x="0" y="0"/>
                  </a:moveTo>
                  <a:lnTo>
                    <a:pt x="13183997" y="0"/>
                  </a:lnTo>
                  <a:lnTo>
                    <a:pt x="13183997" y="9785552"/>
                  </a:lnTo>
                  <a:lnTo>
                    <a:pt x="0" y="9785552"/>
                  </a:lnTo>
                  <a:lnTo>
                    <a:pt x="0" y="0"/>
                  </a:lnTo>
                  <a:close/>
                </a:path>
              </a:pathLst>
            </a:custGeom>
            <a:blipFill>
              <a:blip r:embed="rId3"/>
              <a:stretch>
                <a:fillRect l="0" t="-507" r="0" b="-507"/>
              </a:stretch>
            </a:blipFill>
          </p:spPr>
        </p:sp>
      </p:grpSp>
      <p:sp>
        <p:nvSpPr>
          <p:cNvPr name="TextBox 9" id="9"/>
          <p:cNvSpPr txBox="true"/>
          <p:nvPr/>
        </p:nvSpPr>
        <p:spPr>
          <a:xfrm rot="0">
            <a:off x="1028700" y="3309284"/>
            <a:ext cx="5986318" cy="3887897"/>
          </a:xfrm>
          <a:prstGeom prst="rect">
            <a:avLst/>
          </a:prstGeom>
        </p:spPr>
        <p:txBody>
          <a:bodyPr anchor="t" rtlCol="false" tIns="0" lIns="0" bIns="0" rIns="0">
            <a:spAutoFit/>
          </a:bodyPr>
          <a:lstStyle/>
          <a:p>
            <a:pPr algn="l" marL="655347" indent="-327673" lvl="1">
              <a:lnSpc>
                <a:spcPts val="3845"/>
              </a:lnSpc>
              <a:buFont typeface="Arial"/>
              <a:buChar char="•"/>
            </a:pPr>
            <a:r>
              <a:rPr lang="en-US" b="true" sz="2715">
                <a:solidFill>
                  <a:srgbClr val="C9C2C0"/>
                </a:solidFill>
                <a:latin typeface="Arimo Bold"/>
                <a:ea typeface="Arimo Bold"/>
                <a:cs typeface="Arimo Bold"/>
                <a:sym typeface="Arimo Bold"/>
              </a:rPr>
              <a:t>Students register their profile before using the system during the admission.</a:t>
            </a:r>
          </a:p>
          <a:p>
            <a:pPr algn="l">
              <a:lnSpc>
                <a:spcPts val="3845"/>
              </a:lnSpc>
            </a:pPr>
          </a:p>
          <a:p>
            <a:pPr algn="l" marL="655347" indent="-327673" lvl="1">
              <a:lnSpc>
                <a:spcPts val="3845"/>
              </a:lnSpc>
              <a:buFont typeface="Arial"/>
              <a:buChar char="•"/>
            </a:pPr>
            <a:r>
              <a:rPr lang="en-US" b="true" sz="2715">
                <a:solidFill>
                  <a:srgbClr val="C9C2C0"/>
                </a:solidFill>
                <a:latin typeface="Arimo Bold"/>
                <a:ea typeface="Arimo Bold"/>
                <a:cs typeface="Arimo Bold"/>
                <a:sym typeface="Arimo Bold"/>
              </a:rPr>
              <a:t>Multiple facial images (5–10) will be captured from different angles and expressions in suitable lighting condition.</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464342"/>
        </a:solidFill>
      </p:bgPr>
    </p:bg>
    <p:spTree>
      <p:nvGrpSpPr>
        <p:cNvPr id="1" name=""/>
        <p:cNvGrpSpPr/>
        <p:nvPr/>
      </p:nvGrpSpPr>
      <p:grpSpPr>
        <a:xfrm>
          <a:off x="0" y="0"/>
          <a:ext cx="0" cy="0"/>
          <a:chOff x="0" y="0"/>
          <a:chExt cx="0" cy="0"/>
        </a:xfrm>
      </p:grpSpPr>
      <p:sp>
        <p:nvSpPr>
          <p:cNvPr name="TextBox 2" id="2"/>
          <p:cNvSpPr txBox="true"/>
          <p:nvPr/>
        </p:nvSpPr>
        <p:spPr>
          <a:xfrm rot="0">
            <a:off x="992238" y="773611"/>
            <a:ext cx="5128320" cy="669722"/>
          </a:xfrm>
          <a:prstGeom prst="rect">
            <a:avLst/>
          </a:prstGeom>
        </p:spPr>
        <p:txBody>
          <a:bodyPr anchor="t" rtlCol="false" tIns="0" lIns="0" bIns="0" rIns="0">
            <a:spAutoFit/>
          </a:bodyPr>
          <a:lstStyle/>
          <a:p>
            <a:pPr algn="l">
              <a:lnSpc>
                <a:spcPts val="5241"/>
              </a:lnSpc>
            </a:pPr>
            <a:r>
              <a:rPr lang="en-US" b="true" sz="4200">
                <a:solidFill>
                  <a:srgbClr val="D8B6A4"/>
                </a:solidFill>
                <a:latin typeface="Arimo Bold"/>
                <a:ea typeface="Arimo Bold"/>
                <a:cs typeface="Arimo Bold"/>
                <a:sym typeface="Arimo Bold"/>
              </a:rPr>
              <a:t>Expected Outcomes</a:t>
            </a:r>
          </a:p>
        </p:txBody>
      </p:sp>
      <p:sp>
        <p:nvSpPr>
          <p:cNvPr name="TextBox 3" id="3"/>
          <p:cNvSpPr txBox="true"/>
          <p:nvPr/>
        </p:nvSpPr>
        <p:spPr>
          <a:xfrm rot="0">
            <a:off x="1857670" y="1938042"/>
            <a:ext cx="9669246" cy="495452"/>
          </a:xfrm>
          <a:prstGeom prst="rect">
            <a:avLst/>
          </a:prstGeom>
        </p:spPr>
        <p:txBody>
          <a:bodyPr anchor="t" rtlCol="false" tIns="0" lIns="0" bIns="0" rIns="0">
            <a:spAutoFit/>
          </a:bodyPr>
          <a:lstStyle/>
          <a:p>
            <a:pPr algn="l" marL="669288" indent="-334644" lvl="1">
              <a:lnSpc>
                <a:spcPts val="3868"/>
              </a:lnSpc>
              <a:buFont typeface="Arial"/>
              <a:buChar char="•"/>
            </a:pPr>
            <a:r>
              <a:rPr lang="en-US" b="true" sz="3099">
                <a:solidFill>
                  <a:srgbClr val="C9C2C0"/>
                </a:solidFill>
                <a:latin typeface="Arimo Bold"/>
                <a:ea typeface="Arimo Bold"/>
                <a:cs typeface="Arimo Bold"/>
                <a:sym typeface="Arimo Bold"/>
              </a:rPr>
              <a:t>Automated attendance recording</a:t>
            </a:r>
          </a:p>
        </p:txBody>
      </p:sp>
      <p:sp>
        <p:nvSpPr>
          <p:cNvPr name="TextBox 4" id="4"/>
          <p:cNvSpPr txBox="true"/>
          <p:nvPr/>
        </p:nvSpPr>
        <p:spPr>
          <a:xfrm rot="0">
            <a:off x="2707180" y="2434399"/>
            <a:ext cx="12133071" cy="1014604"/>
          </a:xfrm>
          <a:prstGeom prst="rect">
            <a:avLst/>
          </a:prstGeom>
        </p:spPr>
        <p:txBody>
          <a:bodyPr anchor="t" rtlCol="false" tIns="0" lIns="0" bIns="0" rIns="0">
            <a:spAutoFit/>
          </a:bodyPr>
          <a:lstStyle/>
          <a:p>
            <a:pPr algn="l">
              <a:lnSpc>
                <a:spcPts val="4055"/>
              </a:lnSpc>
            </a:pPr>
            <a:r>
              <a:rPr lang="en-US" sz="2599">
                <a:solidFill>
                  <a:srgbClr val="C9C2C0"/>
                </a:solidFill>
                <a:latin typeface="Arimo"/>
                <a:ea typeface="Arimo"/>
                <a:cs typeface="Arimo"/>
                <a:sym typeface="Arimo"/>
              </a:rPr>
              <a:t>Photos processed into reliable attendance logs with timestamps and confidence metrics.</a:t>
            </a:r>
          </a:p>
        </p:txBody>
      </p:sp>
      <p:sp>
        <p:nvSpPr>
          <p:cNvPr name="TextBox 5" id="5"/>
          <p:cNvSpPr txBox="true"/>
          <p:nvPr/>
        </p:nvSpPr>
        <p:spPr>
          <a:xfrm rot="0">
            <a:off x="1857670" y="3967163"/>
            <a:ext cx="4473689" cy="495452"/>
          </a:xfrm>
          <a:prstGeom prst="rect">
            <a:avLst/>
          </a:prstGeom>
        </p:spPr>
        <p:txBody>
          <a:bodyPr anchor="t" rtlCol="false" tIns="0" lIns="0" bIns="0" rIns="0">
            <a:spAutoFit/>
          </a:bodyPr>
          <a:lstStyle/>
          <a:p>
            <a:pPr algn="l" marL="669288" indent="-334644" lvl="1">
              <a:lnSpc>
                <a:spcPts val="3868"/>
              </a:lnSpc>
              <a:buFont typeface="Arial"/>
              <a:buChar char="•"/>
            </a:pPr>
            <a:r>
              <a:rPr lang="en-US" b="true" sz="3099">
                <a:solidFill>
                  <a:srgbClr val="C9C2C0"/>
                </a:solidFill>
                <a:latin typeface="Arimo Bold"/>
                <a:ea typeface="Arimo Bold"/>
                <a:cs typeface="Arimo Bold"/>
                <a:sym typeface="Arimo Bold"/>
              </a:rPr>
              <a:t>Time savings</a:t>
            </a:r>
          </a:p>
        </p:txBody>
      </p:sp>
      <p:sp>
        <p:nvSpPr>
          <p:cNvPr name="TextBox 6" id="6"/>
          <p:cNvSpPr txBox="true"/>
          <p:nvPr/>
        </p:nvSpPr>
        <p:spPr>
          <a:xfrm rot="0">
            <a:off x="2707180" y="4465663"/>
            <a:ext cx="12133071" cy="1014604"/>
          </a:xfrm>
          <a:prstGeom prst="rect">
            <a:avLst/>
          </a:prstGeom>
        </p:spPr>
        <p:txBody>
          <a:bodyPr anchor="t" rtlCol="false" tIns="0" lIns="0" bIns="0" rIns="0">
            <a:spAutoFit/>
          </a:bodyPr>
          <a:lstStyle/>
          <a:p>
            <a:pPr algn="l">
              <a:lnSpc>
                <a:spcPts val="4055"/>
              </a:lnSpc>
            </a:pPr>
            <a:r>
              <a:rPr lang="en-US" sz="2599">
                <a:solidFill>
                  <a:srgbClr val="C9C2C0"/>
                </a:solidFill>
                <a:latin typeface="Arimo"/>
                <a:ea typeface="Arimo"/>
                <a:cs typeface="Arimo"/>
                <a:sym typeface="Arimo"/>
              </a:rPr>
              <a:t>Significant reduction in class time lost to manual roll-calls and administrative overhead.</a:t>
            </a:r>
          </a:p>
        </p:txBody>
      </p:sp>
      <p:sp>
        <p:nvSpPr>
          <p:cNvPr name="TextBox 7" id="7"/>
          <p:cNvSpPr txBox="true"/>
          <p:nvPr/>
        </p:nvSpPr>
        <p:spPr>
          <a:xfrm rot="0">
            <a:off x="1857670" y="5996283"/>
            <a:ext cx="8246977" cy="495452"/>
          </a:xfrm>
          <a:prstGeom prst="rect">
            <a:avLst/>
          </a:prstGeom>
        </p:spPr>
        <p:txBody>
          <a:bodyPr anchor="t" rtlCol="false" tIns="0" lIns="0" bIns="0" rIns="0">
            <a:spAutoFit/>
          </a:bodyPr>
          <a:lstStyle/>
          <a:p>
            <a:pPr algn="l" marL="669288" indent="-334644" lvl="1">
              <a:lnSpc>
                <a:spcPts val="3868"/>
              </a:lnSpc>
              <a:buFont typeface="Arial"/>
              <a:buChar char="•"/>
            </a:pPr>
            <a:r>
              <a:rPr lang="en-US" b="true" sz="3099">
                <a:solidFill>
                  <a:srgbClr val="C9C2C0"/>
                </a:solidFill>
                <a:latin typeface="Arimo Bold"/>
                <a:ea typeface="Arimo Bold"/>
                <a:cs typeface="Arimo Bold"/>
                <a:sym typeface="Arimo Bold"/>
              </a:rPr>
              <a:t>Accuracy &amp; fraud reduction</a:t>
            </a:r>
          </a:p>
        </p:txBody>
      </p:sp>
      <p:sp>
        <p:nvSpPr>
          <p:cNvPr name="TextBox 8" id="8"/>
          <p:cNvSpPr txBox="true"/>
          <p:nvPr/>
        </p:nvSpPr>
        <p:spPr>
          <a:xfrm rot="0">
            <a:off x="2707180" y="6494783"/>
            <a:ext cx="12133071" cy="1014604"/>
          </a:xfrm>
          <a:prstGeom prst="rect">
            <a:avLst/>
          </a:prstGeom>
        </p:spPr>
        <p:txBody>
          <a:bodyPr anchor="t" rtlCol="false" tIns="0" lIns="0" bIns="0" rIns="0">
            <a:spAutoFit/>
          </a:bodyPr>
          <a:lstStyle/>
          <a:p>
            <a:pPr algn="l">
              <a:lnSpc>
                <a:spcPts val="4055"/>
              </a:lnSpc>
            </a:pPr>
            <a:r>
              <a:rPr lang="en-US" sz="2599">
                <a:solidFill>
                  <a:srgbClr val="C9C2C0"/>
                </a:solidFill>
                <a:latin typeface="Arimo"/>
                <a:ea typeface="Arimo"/>
                <a:cs typeface="Arimo"/>
                <a:sym typeface="Arimo"/>
              </a:rPr>
              <a:t>Lower incidence of proxy attendance through identity verification and confidence thresholds.</a:t>
            </a:r>
          </a:p>
        </p:txBody>
      </p:sp>
      <p:sp>
        <p:nvSpPr>
          <p:cNvPr name="TextBox 9" id="9"/>
          <p:cNvSpPr txBox="true"/>
          <p:nvPr/>
        </p:nvSpPr>
        <p:spPr>
          <a:xfrm rot="0">
            <a:off x="1857670" y="8025403"/>
            <a:ext cx="8989470" cy="495452"/>
          </a:xfrm>
          <a:prstGeom prst="rect">
            <a:avLst/>
          </a:prstGeom>
        </p:spPr>
        <p:txBody>
          <a:bodyPr anchor="t" rtlCol="false" tIns="0" lIns="0" bIns="0" rIns="0">
            <a:spAutoFit/>
          </a:bodyPr>
          <a:lstStyle/>
          <a:p>
            <a:pPr algn="l" marL="669288" indent="-334644" lvl="1">
              <a:lnSpc>
                <a:spcPts val="3868"/>
              </a:lnSpc>
              <a:buFont typeface="Arial"/>
              <a:buChar char="•"/>
            </a:pPr>
            <a:r>
              <a:rPr lang="en-US" b="true" sz="3099">
                <a:solidFill>
                  <a:srgbClr val="C9C2C0"/>
                </a:solidFill>
                <a:latin typeface="Arimo Bold"/>
                <a:ea typeface="Arimo Bold"/>
                <a:cs typeface="Arimo Bold"/>
                <a:sym typeface="Arimo Bold"/>
              </a:rPr>
              <a:t>Usable dashboard and reports</a:t>
            </a:r>
          </a:p>
        </p:txBody>
      </p:sp>
      <p:sp>
        <p:nvSpPr>
          <p:cNvPr name="TextBox 10" id="10"/>
          <p:cNvSpPr txBox="true"/>
          <p:nvPr/>
        </p:nvSpPr>
        <p:spPr>
          <a:xfrm rot="0">
            <a:off x="2707180" y="8430387"/>
            <a:ext cx="12133071" cy="1014604"/>
          </a:xfrm>
          <a:prstGeom prst="rect">
            <a:avLst/>
          </a:prstGeom>
        </p:spPr>
        <p:txBody>
          <a:bodyPr anchor="t" rtlCol="false" tIns="0" lIns="0" bIns="0" rIns="0">
            <a:spAutoFit/>
          </a:bodyPr>
          <a:lstStyle/>
          <a:p>
            <a:pPr algn="l">
              <a:lnSpc>
                <a:spcPts val="4055"/>
              </a:lnSpc>
            </a:pPr>
            <a:r>
              <a:rPr lang="en-US" sz="2599">
                <a:solidFill>
                  <a:srgbClr val="C9C2C0"/>
                </a:solidFill>
                <a:latin typeface="Arimo"/>
                <a:ea typeface="Arimo"/>
                <a:cs typeface="Arimo"/>
                <a:sym typeface="Arimo"/>
              </a:rPr>
              <a:t>Faculty can review, correct, and export attendance data for record-keeping and analytics.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464342"/>
        </a:solidFill>
      </p:bgPr>
    </p:bg>
    <p:spTree>
      <p:nvGrpSpPr>
        <p:cNvPr id="1" name=""/>
        <p:cNvGrpSpPr/>
        <p:nvPr/>
      </p:nvGrpSpPr>
      <p:grpSpPr>
        <a:xfrm>
          <a:off x="0" y="0"/>
          <a:ext cx="0" cy="0"/>
          <a:chOff x="0" y="0"/>
          <a:chExt cx="0" cy="0"/>
        </a:xfrm>
      </p:grpSpPr>
      <p:sp>
        <p:nvSpPr>
          <p:cNvPr name="TextBox 2" id="2"/>
          <p:cNvSpPr txBox="true"/>
          <p:nvPr/>
        </p:nvSpPr>
        <p:spPr>
          <a:xfrm rot="0">
            <a:off x="1028700" y="1583053"/>
            <a:ext cx="5820769" cy="954024"/>
          </a:xfrm>
          <a:prstGeom prst="rect">
            <a:avLst/>
          </a:prstGeom>
        </p:spPr>
        <p:txBody>
          <a:bodyPr anchor="t" rtlCol="false" tIns="0" lIns="0" bIns="0" rIns="0">
            <a:spAutoFit/>
          </a:bodyPr>
          <a:lstStyle/>
          <a:p>
            <a:pPr algn="l">
              <a:lnSpc>
                <a:spcPts val="7487"/>
              </a:lnSpc>
            </a:pPr>
            <a:r>
              <a:rPr lang="en-US" b="true" sz="5999">
                <a:solidFill>
                  <a:srgbClr val="D8B6A4"/>
                </a:solidFill>
                <a:latin typeface="Arimo Bold"/>
                <a:ea typeface="Arimo Bold"/>
                <a:cs typeface="Arimo Bold"/>
                <a:sym typeface="Arimo Bold"/>
              </a:rPr>
              <a:t>Future Scope</a:t>
            </a:r>
          </a:p>
        </p:txBody>
      </p:sp>
      <p:grpSp>
        <p:nvGrpSpPr>
          <p:cNvPr name="Group 3" id="3"/>
          <p:cNvGrpSpPr/>
          <p:nvPr/>
        </p:nvGrpSpPr>
        <p:grpSpPr>
          <a:xfrm rot="-2130495">
            <a:off x="5320669" y="3516638"/>
            <a:ext cx="16303523" cy="7336479"/>
            <a:chOff x="0" y="0"/>
            <a:chExt cx="21738031" cy="9781972"/>
          </a:xfrm>
        </p:grpSpPr>
        <p:sp>
          <p:nvSpPr>
            <p:cNvPr name="Freeform 4" id="4" descr="preencoded.png"/>
            <p:cNvSpPr/>
            <p:nvPr/>
          </p:nvSpPr>
          <p:spPr>
            <a:xfrm flipH="false" flipV="false" rot="0">
              <a:off x="0" y="0"/>
              <a:ext cx="21738082" cy="9781921"/>
            </a:xfrm>
            <a:custGeom>
              <a:avLst/>
              <a:gdLst/>
              <a:ahLst/>
              <a:cxnLst/>
              <a:rect r="r" b="b" t="t" l="l"/>
              <a:pathLst>
                <a:path h="9781921" w="21738082">
                  <a:moveTo>
                    <a:pt x="0" y="0"/>
                  </a:moveTo>
                  <a:lnTo>
                    <a:pt x="21738082" y="0"/>
                  </a:lnTo>
                  <a:lnTo>
                    <a:pt x="21738082" y="9781921"/>
                  </a:lnTo>
                  <a:lnTo>
                    <a:pt x="0" y="9781921"/>
                  </a:lnTo>
                  <a:lnTo>
                    <a:pt x="0" y="0"/>
                  </a:lnTo>
                  <a:close/>
                </a:path>
              </a:pathLst>
            </a:custGeom>
            <a:blipFill>
              <a:blip r:embed="rId2"/>
              <a:stretch>
                <a:fillRect l="0" t="-39" r="0" b="-40"/>
              </a:stretch>
            </a:blipFill>
          </p:spPr>
        </p:sp>
      </p:grpSp>
      <p:sp>
        <p:nvSpPr>
          <p:cNvPr name="TextBox 5" id="5"/>
          <p:cNvSpPr txBox="true"/>
          <p:nvPr/>
        </p:nvSpPr>
        <p:spPr>
          <a:xfrm rot="0">
            <a:off x="1028700" y="3182820"/>
            <a:ext cx="12573127" cy="4626179"/>
          </a:xfrm>
          <a:prstGeom prst="rect">
            <a:avLst/>
          </a:prstGeom>
        </p:spPr>
        <p:txBody>
          <a:bodyPr anchor="t" rtlCol="false" tIns="0" lIns="0" bIns="0" rIns="0">
            <a:spAutoFit/>
          </a:bodyPr>
          <a:lstStyle/>
          <a:p>
            <a:pPr algn="l" marL="699767" indent="-349883" lvl="1">
              <a:lnSpc>
                <a:spcPts val="4628"/>
              </a:lnSpc>
              <a:buFont typeface="Arial"/>
              <a:buChar char="•"/>
            </a:pPr>
            <a:r>
              <a:rPr lang="en-US" sz="2899">
                <a:solidFill>
                  <a:srgbClr val="C9C2C0"/>
                </a:solidFill>
                <a:latin typeface="Arimo"/>
                <a:ea typeface="Arimo"/>
                <a:cs typeface="Arimo"/>
                <a:sym typeface="Arimo"/>
              </a:rPr>
              <a:t>Version 2: Hybrid RFID + face verification to combine convenience and stronger anti-proxy checks.</a:t>
            </a:r>
          </a:p>
          <a:p>
            <a:pPr algn="l" marL="699767" indent="-349883" lvl="1">
              <a:lnSpc>
                <a:spcPts val="4628"/>
              </a:lnSpc>
              <a:buFont typeface="Arial"/>
              <a:buChar char="•"/>
            </a:pPr>
            <a:r>
              <a:rPr lang="en-US" sz="2899">
                <a:solidFill>
                  <a:srgbClr val="C9C2C0"/>
                </a:solidFill>
                <a:latin typeface="Arimo"/>
                <a:ea typeface="Arimo"/>
                <a:cs typeface="Arimo"/>
                <a:sym typeface="Arimo"/>
              </a:rPr>
              <a:t>Version 3: CCTV-based continuous monitoring and real-time alerts for absenteeism patterns.</a:t>
            </a:r>
          </a:p>
          <a:p>
            <a:pPr algn="l" marL="699767" indent="-349883" lvl="1">
              <a:lnSpc>
                <a:spcPts val="4628"/>
              </a:lnSpc>
              <a:buFont typeface="Arial"/>
              <a:buChar char="•"/>
            </a:pPr>
            <a:r>
              <a:rPr lang="en-US" sz="2899">
                <a:solidFill>
                  <a:srgbClr val="C9C2C0"/>
                </a:solidFill>
                <a:latin typeface="Arimo"/>
                <a:ea typeface="Arimo"/>
                <a:cs typeface="Arimo"/>
                <a:sym typeface="Arimo"/>
              </a:rPr>
              <a:t>Mobile app for student self-check and push notifications for attendance status.</a:t>
            </a:r>
          </a:p>
          <a:p>
            <a:pPr algn="l" marL="699767" indent="-349883" lvl="1">
              <a:lnSpc>
                <a:spcPts val="4628"/>
              </a:lnSpc>
              <a:buFont typeface="Arial"/>
              <a:buChar char="•"/>
            </a:pPr>
            <a:r>
              <a:rPr lang="en-US" sz="2899">
                <a:solidFill>
                  <a:srgbClr val="C9C2C0"/>
                </a:solidFill>
                <a:latin typeface="Arimo"/>
                <a:ea typeface="Arimo"/>
                <a:cs typeface="Arimo"/>
                <a:sym typeface="Arimo"/>
              </a:rPr>
              <a:t>Advanced analytics: longitudinal attendance trends, at-risk student detection, and integration with LMS.</a:t>
            </a: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302D2C"/>
            </a:solidFill>
          </p:spPr>
        </p:sp>
      </p:grpSp>
      <p:grpSp>
        <p:nvGrpSpPr>
          <p:cNvPr name="Group 4" id="4"/>
          <p:cNvGrpSpPr/>
          <p:nvPr/>
        </p:nvGrpSpPr>
        <p:grpSpPr>
          <a:xfrm rot="0">
            <a:off x="1905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464342"/>
            </a:solidFill>
          </p:spPr>
        </p:sp>
      </p:grpSp>
      <p:sp>
        <p:nvSpPr>
          <p:cNvPr name="TextBox 6" id="6"/>
          <p:cNvSpPr txBox="true"/>
          <p:nvPr/>
        </p:nvSpPr>
        <p:spPr>
          <a:xfrm rot="0">
            <a:off x="992238" y="3260785"/>
            <a:ext cx="5260777" cy="1293649"/>
          </a:xfrm>
          <a:prstGeom prst="rect">
            <a:avLst/>
          </a:prstGeom>
        </p:spPr>
        <p:txBody>
          <a:bodyPr anchor="t" rtlCol="false" tIns="0" lIns="0" bIns="0" rIns="0">
            <a:spAutoFit/>
          </a:bodyPr>
          <a:lstStyle/>
          <a:p>
            <a:pPr algn="l">
              <a:lnSpc>
                <a:spcPts val="10108"/>
              </a:lnSpc>
            </a:pPr>
            <a:r>
              <a:rPr lang="en-US" sz="8099">
                <a:solidFill>
                  <a:srgbClr val="D8B6A4"/>
                </a:solidFill>
                <a:latin typeface="Arimo"/>
                <a:ea typeface="Arimo"/>
                <a:cs typeface="Arimo"/>
                <a:sym typeface="Arimo"/>
              </a:rPr>
              <a:t>Thank You </a:t>
            </a:r>
          </a:p>
        </p:txBody>
      </p:sp>
      <p:sp>
        <p:nvSpPr>
          <p:cNvPr name="TextBox 7" id="7"/>
          <p:cNvSpPr txBox="true"/>
          <p:nvPr/>
        </p:nvSpPr>
        <p:spPr>
          <a:xfrm rot="0">
            <a:off x="992238" y="4726181"/>
            <a:ext cx="16303523" cy="1308583"/>
          </a:xfrm>
          <a:prstGeom prst="rect">
            <a:avLst/>
          </a:prstGeom>
        </p:spPr>
        <p:txBody>
          <a:bodyPr anchor="t" rtlCol="false" tIns="0" lIns="0" bIns="0" rIns="0">
            <a:spAutoFit/>
          </a:bodyPr>
          <a:lstStyle/>
          <a:p>
            <a:pPr algn="l">
              <a:lnSpc>
                <a:spcPts val="3511"/>
              </a:lnSpc>
            </a:pPr>
            <a:r>
              <a:rPr lang="en-US" sz="2200">
                <a:solidFill>
                  <a:srgbClr val="C9C2C0"/>
                </a:solidFill>
                <a:latin typeface="Arimo"/>
                <a:ea typeface="Arimo"/>
                <a:cs typeface="Arimo"/>
                <a:sym typeface="Arimo"/>
              </a:rPr>
              <a:t>We are a team of five NSU CSE students passionate about applying AI to solve real campus challenges. This project represents our CSE 499A planning phase, and we welcome feedback from classmates and faculty to refine our approach before implementation.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DAHNanI51TY</dc:identifier>
  <dcterms:modified xsi:type="dcterms:W3CDTF">2011-08-01T06:04:30Z</dcterms:modified>
  <cp:revision>1</cp:revision>
  <dc:title>Class-Attendance-Management-System-1.pptx</dc:title>
</cp:coreProperties>
</file>