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29E9E7-9ED4-4FBF-8B52-004EE1C8E646}">
  <a:tblStyle styleId="{6F29E9E7-9ED4-4FBF-8B52-004EE1C8E64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both members and the supervisor. State in one sentence what the semester produced: a working single-photo attendance system, grounded in a five-paper review, with the remaining scope planned for CSE499B. Roughly 45 seconds.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Land the closing sentence clearly — it is the justification for the entire project. Roughly one minute.</a:t>
            </a:r>
            <a:endParaRPr/>
          </a:p>
        </p:txBody>
      </p:sp>
      <p:sp>
        <p:nvSpPr>
          <p:cNvPr id="36" name="Google Shape;3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scope split is the most important slide for a 499A panel — it tells them what to judge this semester on. Be explicit that the right-hand column is planned and scheduled, not forgotten. About one minute.</a:t>
            </a:r>
            <a:endParaRPr/>
          </a:p>
        </p:txBody>
      </p:sp>
      <p:sp>
        <p:nvSpPr>
          <p:cNvPr id="72" name="Google Shape;7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this slide the most time — around two minutes. P5 is the closest architectural relative; expect a question on why our threshold is 0.6 when P5 found 0.5 optimal. Answer: different embedding model, so the threshold is recalibrated rather than copied. Thresholds do not transfer between embedding spaces.</a:t>
            </a:r>
            <a:endParaRPr/>
          </a:p>
        </p:txBody>
      </p:sp>
      <p:sp>
        <p:nvSpPr>
          <p:cNvPr id="107" name="Google Shape;10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second gap is our strongest claim to originality — none of the five reviewed papers resolves absentees against a roster. Say that plainly; it is the difference between a recognition demo and an attendance system.</a:t>
            </a:r>
            <a:endParaRPr/>
          </a:p>
        </p:txBody>
      </p:sp>
      <p:sp>
        <p:nvSpPr>
          <p:cNvPr id="127" name="Google Shape;1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italic line in each column is the literature justification — that is what makes this methodology rather than a tool list. About 1.5 minutes.</a:t>
            </a:r>
            <a:endParaRPr/>
          </a:p>
        </p:txBody>
      </p:sp>
      <p:sp>
        <p:nvSpPr>
          <p:cNvPr id="165" name="Google Shape;16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Because both paths share detection and embedding, improving either one improves enrolment and attendance together. Note the line at the bottom left — that is the roster-difference step, which is our addition and the reason the register is complete.</a:t>
            </a:r>
            <a:endParaRPr/>
          </a:p>
        </p:txBody>
      </p:sp>
      <p:sp>
        <p:nvSpPr>
          <p:cNvPr id="204" name="Google Shape;20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Keep this brisk — it is an inventory, not an explanation. The next slide shows it running, which is more persuasive than describing it. About 45 seconds.</a:t>
            </a:r>
            <a:endParaRPr/>
          </a:p>
        </p:txBody>
      </p:sp>
      <p:sp>
        <p:nvSpPr>
          <p:cNvPr id="247" name="Google Shape;24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 screenshot of the running application, not a mock-up. If the room allows it, switch to a live demo here — the system runs locally and needs no internet. Otherwise these two screens carry it.</a:t>
            </a:r>
            <a:endParaRPr/>
          </a:p>
        </p:txBody>
      </p:sp>
      <p:sp>
        <p:nvSpPr>
          <p:cNvPr id="291" name="Google Shape;29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out that every absent row carries a real name. Those students were never photographed — the names come from the imported course roster, which is exactly why the roster layer had to exist.</a:t>
            </a:r>
            <a:endParaRPr/>
          </a:p>
        </p:txBody>
      </p:sp>
      <p:sp>
        <p:nvSpPr>
          <p:cNvPr id="319" name="Google Shape;31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precise about coverage: the 25 tests cover account isolation, roster and absentee logic, and the schema migration. They do not measure recognition accuracy — that benchmark is CSE499B work. Saying so before you are asked is better than being caught by it.</a:t>
            </a:r>
            <a:endParaRPr/>
          </a:p>
        </p:txBody>
      </p:sp>
      <p:sp>
        <p:nvSpPr>
          <p:cNvPr id="347" name="Google Shape;34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 this as maturity, not apology. Stating the accuracy limitation yourself removes the single most likely hostile question. Every item here has a named owner in the next semester or an identified fix.</a:t>
            </a:r>
            <a:endParaRPr/>
          </a:p>
        </p:txBody>
      </p:sp>
      <p:sp>
        <p:nvSpPr>
          <p:cNvPr id="377" name="Google Shape;37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on the third and fourth points. Grounded in literature and honestly measured are what separate a capstone from a demo. About one minute.</a:t>
            </a:r>
            <a:endParaRPr/>
          </a:p>
        </p:txBody>
      </p:sp>
      <p:sp>
        <p:nvSpPr>
          <p:cNvPr id="421" name="Google Shape;42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Say clearly that Week 1 is already done, so 499B starts from Week 2 rather than from zero. Flag Weeks 3 and 4 as the risk concentration — a panel respects a team that knows where its plan is hardest.</a:t>
            </a:r>
            <a:endParaRPr/>
          </a:p>
        </p:txBody>
      </p:sp>
      <p:sp>
        <p:nvSpPr>
          <p:cNvPr id="455" name="Google Shape;45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Leave this on screen during questions — the panel can see the citations while asking about them. Full PDFs are in the repository under Literature Review Paper/.</a:t>
            </a:r>
            <a:endParaRPr/>
          </a:p>
        </p:txBody>
      </p:sp>
      <p:sp>
        <p:nvSpPr>
          <p:cNvPr id="501" name="Google Shape;50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18"/>
        </a:solidFill>
      </p:bgPr>
    </p:bg>
    <p:spTree>
      <p:nvGrpSpPr>
        <p:cNvPr id="15" name="Shape 15"/>
        <p:cNvGrpSpPr/>
        <p:nvPr/>
      </p:nvGrpSpPr>
      <p:grpSpPr>
        <a:xfrm>
          <a:off x="0" y="0"/>
          <a:ext cx="0" cy="0"/>
          <a:chOff x="0" y="0"/>
          <a:chExt cx="0" cy="0"/>
        </a:xfrm>
      </p:grpSpPr>
      <p:sp>
        <p:nvSpPr>
          <p:cNvPr id="16" name="Google Shape;16;p3"/>
          <p:cNvSpPr/>
          <p:nvPr/>
        </p:nvSpPr>
        <p:spPr>
          <a:xfrm>
            <a:off x="502920" y="457200"/>
            <a:ext cx="365760" cy="27432"/>
          </a:xfrm>
          <a:prstGeom prst="rect">
            <a:avLst/>
          </a:prstGeom>
          <a:solidFill>
            <a:srgbClr val="2B38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 name="Google Shape;17;p3"/>
          <p:cNvSpPr/>
          <p:nvPr/>
        </p:nvSpPr>
        <p:spPr>
          <a:xfrm>
            <a:off x="502920" y="457200"/>
            <a:ext cx="27432" cy="365760"/>
          </a:xfrm>
          <a:prstGeom prst="rect">
            <a:avLst/>
          </a:prstGeom>
          <a:solidFill>
            <a:srgbClr val="2B38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 name="Google Shape;18;p3"/>
          <p:cNvSpPr/>
          <p:nvPr/>
        </p:nvSpPr>
        <p:spPr>
          <a:xfrm>
            <a:off x="11323015" y="457200"/>
            <a:ext cx="365760" cy="27432"/>
          </a:xfrm>
          <a:prstGeom prst="rect">
            <a:avLst/>
          </a:prstGeom>
          <a:solidFill>
            <a:srgbClr val="2B38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 name="Google Shape;19;p3"/>
          <p:cNvSpPr/>
          <p:nvPr/>
        </p:nvSpPr>
        <p:spPr>
          <a:xfrm>
            <a:off x="11661343" y="457200"/>
            <a:ext cx="27432" cy="365760"/>
          </a:xfrm>
          <a:prstGeom prst="rect">
            <a:avLst/>
          </a:prstGeom>
          <a:solidFill>
            <a:srgbClr val="2B38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3"/>
          <p:cNvSpPr/>
          <p:nvPr/>
        </p:nvSpPr>
        <p:spPr>
          <a:xfrm>
            <a:off x="502920" y="6373368"/>
            <a:ext cx="365760" cy="27432"/>
          </a:xfrm>
          <a:prstGeom prst="rect">
            <a:avLst/>
          </a:prstGeom>
          <a:solidFill>
            <a:srgbClr val="2B38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 name="Google Shape;21;p3"/>
          <p:cNvSpPr/>
          <p:nvPr/>
        </p:nvSpPr>
        <p:spPr>
          <a:xfrm>
            <a:off x="502920" y="6035040"/>
            <a:ext cx="27432" cy="365760"/>
          </a:xfrm>
          <a:prstGeom prst="rect">
            <a:avLst/>
          </a:prstGeom>
          <a:solidFill>
            <a:srgbClr val="2B38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3"/>
          <p:cNvSpPr/>
          <p:nvPr/>
        </p:nvSpPr>
        <p:spPr>
          <a:xfrm>
            <a:off x="11323015" y="6373368"/>
            <a:ext cx="365760" cy="27432"/>
          </a:xfrm>
          <a:prstGeom prst="rect">
            <a:avLst/>
          </a:prstGeom>
          <a:solidFill>
            <a:srgbClr val="2B38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 name="Google Shape;23;p3"/>
          <p:cNvSpPr/>
          <p:nvPr/>
        </p:nvSpPr>
        <p:spPr>
          <a:xfrm>
            <a:off x="11661343" y="6035040"/>
            <a:ext cx="27432" cy="365760"/>
          </a:xfrm>
          <a:prstGeom prst="rect">
            <a:avLst/>
          </a:prstGeom>
          <a:solidFill>
            <a:srgbClr val="2B38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 name="Google Shape;24;p3"/>
          <p:cNvSpPr txBox="1"/>
          <p:nvPr/>
        </p:nvSpPr>
        <p:spPr>
          <a:xfrm>
            <a:off x="1188720" y="1600200"/>
            <a:ext cx="9784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D399"/>
              </a:buClr>
              <a:buSzPts val="1300"/>
              <a:buFont typeface="Calibri"/>
              <a:buNone/>
            </a:pPr>
            <a:r>
              <a:rPr b="1" lang="en-US" sz="1300">
                <a:solidFill>
                  <a:srgbClr val="34D399"/>
                </a:solidFill>
                <a:latin typeface="Calibri"/>
                <a:ea typeface="Calibri"/>
                <a:cs typeface="Calibri"/>
                <a:sym typeface="Calibri"/>
              </a:rPr>
              <a:t>CSE499A  ·  FINAL PRESENTATION</a:t>
            </a:r>
            <a:endParaRPr sz="1300">
              <a:solidFill>
                <a:schemeClr val="dk1"/>
              </a:solidFill>
              <a:latin typeface="Calibri"/>
              <a:ea typeface="Calibri"/>
              <a:cs typeface="Calibri"/>
              <a:sym typeface="Calibri"/>
            </a:endParaRPr>
          </a:p>
        </p:txBody>
      </p:sp>
      <p:sp>
        <p:nvSpPr>
          <p:cNvPr id="25" name="Google Shape;25;p3"/>
          <p:cNvSpPr txBox="1"/>
          <p:nvPr/>
        </p:nvSpPr>
        <p:spPr>
          <a:xfrm>
            <a:off x="1188720" y="2011680"/>
            <a:ext cx="978408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600"/>
              <a:buFont typeface="Cambria"/>
              <a:buNone/>
            </a:pPr>
            <a:r>
              <a:rPr b="1" lang="en-US" sz="5600">
                <a:solidFill>
                  <a:srgbClr val="FFFFFF"/>
                </a:solidFill>
                <a:latin typeface="Cambria"/>
                <a:ea typeface="Cambria"/>
                <a:cs typeface="Cambria"/>
                <a:sym typeface="Cambria"/>
              </a:rPr>
              <a:t>CampusEye</a:t>
            </a:r>
            <a:endParaRPr sz="5600">
              <a:solidFill>
                <a:schemeClr val="dk1"/>
              </a:solidFill>
              <a:latin typeface="Calibri"/>
              <a:ea typeface="Calibri"/>
              <a:cs typeface="Calibri"/>
              <a:sym typeface="Calibri"/>
            </a:endParaRPr>
          </a:p>
        </p:txBody>
      </p:sp>
      <p:sp>
        <p:nvSpPr>
          <p:cNvPr id="26" name="Google Shape;26;p3"/>
          <p:cNvSpPr txBox="1"/>
          <p:nvPr/>
        </p:nvSpPr>
        <p:spPr>
          <a:xfrm>
            <a:off x="1188720" y="2999232"/>
            <a:ext cx="9784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9B6BF"/>
              </a:buClr>
              <a:buSzPts val="2100"/>
              <a:buFont typeface="Cambria"/>
              <a:buNone/>
            </a:pPr>
            <a:r>
              <a:rPr i="1" lang="en-US" sz="2100">
                <a:solidFill>
                  <a:srgbClr val="2FAE7A"/>
                </a:solidFill>
                <a:latin typeface="Cambria"/>
                <a:ea typeface="Cambria"/>
                <a:cs typeface="Cambria"/>
                <a:sym typeface="Cambria"/>
              </a:rPr>
              <a:t>Sophisticated Campus Monitoring System</a:t>
            </a:r>
            <a:endParaRPr sz="2100">
              <a:solidFill>
                <a:srgbClr val="2FAE7A"/>
              </a:solidFill>
              <a:latin typeface="Calibri"/>
              <a:ea typeface="Calibri"/>
              <a:cs typeface="Calibri"/>
              <a:sym typeface="Calibri"/>
            </a:endParaRPr>
          </a:p>
        </p:txBody>
      </p:sp>
      <p:sp>
        <p:nvSpPr>
          <p:cNvPr id="27" name="Google Shape;27;p3"/>
          <p:cNvSpPr txBox="1"/>
          <p:nvPr/>
        </p:nvSpPr>
        <p:spPr>
          <a:xfrm>
            <a:off x="1188720" y="3547872"/>
            <a:ext cx="8686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9AA5"/>
              </a:buClr>
              <a:buSzPts val="1450"/>
              <a:buFont typeface="Calibri"/>
              <a:buNone/>
            </a:pPr>
            <a:r>
              <a:rPr lang="en-US" sz="1450">
                <a:solidFill>
                  <a:srgbClr val="8C9AA5"/>
                </a:solidFill>
                <a:latin typeface="Calibri"/>
                <a:ea typeface="Calibri"/>
                <a:cs typeface="Calibri"/>
                <a:sym typeface="Calibri"/>
              </a:rPr>
              <a:t>An automated classroom attendance system using face recognition.</a:t>
            </a:r>
            <a:endParaRPr sz="1450">
              <a:solidFill>
                <a:schemeClr val="dk1"/>
              </a:solidFill>
              <a:latin typeface="Calibri"/>
              <a:ea typeface="Calibri"/>
              <a:cs typeface="Calibri"/>
              <a:sym typeface="Calibri"/>
            </a:endParaRPr>
          </a:p>
        </p:txBody>
      </p:sp>
      <p:sp>
        <p:nvSpPr>
          <p:cNvPr id="28" name="Google Shape;28;p3"/>
          <p:cNvSpPr/>
          <p:nvPr/>
        </p:nvSpPr>
        <p:spPr>
          <a:xfrm>
            <a:off x="1188720" y="4343400"/>
            <a:ext cx="2926080" cy="18288"/>
          </a:xfrm>
          <a:prstGeom prst="rect">
            <a:avLst/>
          </a:prstGeom>
          <a:solidFill>
            <a:srgbClr val="2B38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 name="Google Shape;29;p3"/>
          <p:cNvSpPr txBox="1"/>
          <p:nvPr/>
        </p:nvSpPr>
        <p:spPr>
          <a:xfrm>
            <a:off x="1188720" y="4526280"/>
            <a:ext cx="9144000" cy="1280160"/>
          </a:xfrm>
          <a:prstGeom prst="rect">
            <a:avLst/>
          </a:prstGeom>
          <a:noFill/>
          <a:ln>
            <a:noFill/>
          </a:ln>
        </p:spPr>
        <p:txBody>
          <a:bodyPr anchorCtr="0" anchor="ctr" bIns="0" lIns="0" spcFirstLastPara="1" rIns="0" wrap="square" tIns="0">
            <a:noAutofit/>
          </a:bodyPr>
          <a:lstStyle/>
          <a:p>
            <a:pPr indent="0" lvl="0" marL="0" marR="0" rtl="0" algn="l">
              <a:lnSpc>
                <a:spcPct val="155555"/>
              </a:lnSpc>
              <a:spcBef>
                <a:spcPts val="0"/>
              </a:spcBef>
              <a:spcAft>
                <a:spcPts val="0"/>
              </a:spcAft>
              <a:buClr>
                <a:srgbClr val="FFFFFF"/>
              </a:buClr>
              <a:buSzPts val="1350"/>
              <a:buFont typeface="Calibri"/>
              <a:buNone/>
            </a:pPr>
            <a:r>
              <a:rPr b="1" lang="en-US" sz="1850">
                <a:solidFill>
                  <a:srgbClr val="FFFFFF"/>
                </a:solidFill>
                <a:latin typeface="Calibri"/>
                <a:ea typeface="Calibri"/>
                <a:cs typeface="Calibri"/>
                <a:sym typeface="Calibri"/>
              </a:rPr>
              <a:t>Rafiqul Islam   ·   Safayat Ibrahim</a:t>
            </a:r>
            <a:endParaRPr sz="1850">
              <a:solidFill>
                <a:schemeClr val="dk1"/>
              </a:solidFill>
              <a:latin typeface="Calibri"/>
              <a:ea typeface="Calibri"/>
              <a:cs typeface="Calibri"/>
              <a:sym typeface="Calibri"/>
            </a:endParaRPr>
          </a:p>
          <a:p>
            <a:pPr indent="0" lvl="0" marL="0" marR="0" rtl="0" algn="l">
              <a:lnSpc>
                <a:spcPct val="155555"/>
              </a:lnSpc>
              <a:spcBef>
                <a:spcPts val="0"/>
              </a:spcBef>
              <a:spcAft>
                <a:spcPts val="0"/>
              </a:spcAft>
              <a:buClr>
                <a:srgbClr val="A9B6BF"/>
              </a:buClr>
              <a:buSzPts val="1350"/>
              <a:buFont typeface="Calibri"/>
              <a:buNone/>
            </a:pPr>
            <a:r>
              <a:rPr lang="en-US" sz="1850">
                <a:solidFill>
                  <a:srgbClr val="A9B6BF"/>
                </a:solidFill>
                <a:latin typeface="Calibri"/>
                <a:ea typeface="Calibri"/>
                <a:cs typeface="Calibri"/>
                <a:sym typeface="Calibri"/>
              </a:rPr>
              <a:t>Supervisor:  </a:t>
            </a:r>
            <a:r>
              <a:rPr b="1" lang="en-US" sz="1850">
                <a:solidFill>
                  <a:schemeClr val="lt1"/>
                </a:solidFill>
                <a:latin typeface="Calibri"/>
                <a:ea typeface="Calibri"/>
                <a:cs typeface="Calibri"/>
                <a:sym typeface="Calibri"/>
              </a:rPr>
              <a:t>Mohammad Shifat-E-Rabbi</a:t>
            </a:r>
            <a:endParaRPr b="1" sz="1850">
              <a:solidFill>
                <a:schemeClr val="lt1"/>
              </a:solidFill>
              <a:latin typeface="Calibri"/>
              <a:ea typeface="Calibri"/>
              <a:cs typeface="Calibri"/>
              <a:sym typeface="Calibri"/>
            </a:endParaRPr>
          </a:p>
          <a:p>
            <a:pPr indent="0" lvl="0" marL="0" marR="0" rtl="0" algn="l">
              <a:lnSpc>
                <a:spcPct val="155555"/>
              </a:lnSpc>
              <a:spcBef>
                <a:spcPts val="0"/>
              </a:spcBef>
              <a:spcAft>
                <a:spcPts val="0"/>
              </a:spcAft>
              <a:buClr>
                <a:srgbClr val="8C9AA5"/>
              </a:buClr>
              <a:buSzPts val="1350"/>
              <a:buFont typeface="Calibri"/>
              <a:buNone/>
            </a:pPr>
            <a:r>
              <a:rPr lang="en-US" sz="1850">
                <a:solidFill>
                  <a:srgbClr val="8C9AA5"/>
                </a:solidFill>
                <a:latin typeface="Calibri"/>
                <a:ea typeface="Calibri"/>
                <a:cs typeface="Calibri"/>
                <a:sym typeface="Calibri"/>
              </a:rPr>
              <a:t>CSE499A.15  ·  Dept. of Electrical &amp; Computer Engineering</a:t>
            </a:r>
            <a:endParaRPr sz="1850">
              <a:solidFill>
                <a:schemeClr val="dk1"/>
              </a:solidFill>
              <a:latin typeface="Calibri"/>
              <a:ea typeface="Calibri"/>
              <a:cs typeface="Calibri"/>
              <a:sym typeface="Calibri"/>
            </a:endParaRPr>
          </a:p>
          <a:p>
            <a:pPr indent="0" lvl="0" marL="0" marR="0" rtl="0" algn="l">
              <a:lnSpc>
                <a:spcPct val="155555"/>
              </a:lnSpc>
              <a:spcBef>
                <a:spcPts val="0"/>
              </a:spcBef>
              <a:spcAft>
                <a:spcPts val="0"/>
              </a:spcAft>
              <a:buClr>
                <a:srgbClr val="8C9AA5"/>
              </a:buClr>
              <a:buSzPts val="1350"/>
              <a:buFont typeface="Calibri"/>
              <a:buNone/>
            </a:pPr>
            <a:r>
              <a:rPr lang="en-US" sz="1850">
                <a:solidFill>
                  <a:srgbClr val="8C9AA5"/>
                </a:solidFill>
                <a:latin typeface="Calibri"/>
                <a:ea typeface="Calibri"/>
                <a:cs typeface="Calibri"/>
                <a:sym typeface="Calibri"/>
              </a:rPr>
              <a:t>North South University  ·  August 2026</a:t>
            </a:r>
            <a:endParaRPr sz="1850">
              <a:solidFill>
                <a:schemeClr val="dk1"/>
              </a:solidFill>
              <a:latin typeface="Calibri"/>
              <a:ea typeface="Calibri"/>
              <a:cs typeface="Calibri"/>
              <a:sym typeface="Calibri"/>
            </a:endParaRPr>
          </a:p>
        </p:txBody>
      </p:sp>
      <p:sp>
        <p:nvSpPr>
          <p:cNvPr id="30" name="Google Shape;30;p3"/>
          <p:cNvSpPr/>
          <p:nvPr/>
        </p:nvSpPr>
        <p:spPr>
          <a:xfrm>
            <a:off x="640080" y="6416040"/>
            <a:ext cx="10881360" cy="3175"/>
          </a:xfrm>
          <a:prstGeom prst="rect">
            <a:avLst/>
          </a:prstGeom>
          <a:solidFill>
            <a:srgbClr val="2A3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 name="Google Shape;31;p3"/>
          <p:cNvSpPr txBox="1"/>
          <p:nvPr/>
        </p:nvSpPr>
        <p:spPr>
          <a:xfrm>
            <a:off x="640080" y="6470000"/>
            <a:ext cx="4000000" cy="2286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900">
                <a:solidFill>
                  <a:srgbClr val="4A5860"/>
                </a:solidFill>
                <a:latin typeface="Calibri"/>
                <a:ea typeface="Calibri"/>
                <a:cs typeface="Calibri"/>
                <a:sym typeface="Calibri"/>
              </a:rPr>
              <a:t>CAMPUSEYE  ·  CSE499A</a:t>
            </a:r>
            <a:endParaRPr/>
          </a:p>
        </p:txBody>
      </p:sp>
      <p:sp>
        <p:nvSpPr>
          <p:cNvPr id="32" name="Google Shape;32;p3"/>
          <p:cNvSpPr txBox="1"/>
          <p:nvPr/>
        </p:nvSpPr>
        <p:spPr>
          <a:xfrm>
            <a:off x="9521440" y="6470000"/>
            <a:ext cx="2000000" cy="228600"/>
          </a:xfrm>
          <a:prstGeom prst="rect">
            <a:avLst/>
          </a:prstGeom>
          <a:noFill/>
          <a:ln>
            <a:noFill/>
          </a:ln>
        </p:spPr>
        <p:txBody>
          <a:bodyPr anchorCtr="0" anchor="t" bIns="45700" lIns="0" spcFirstLastPara="1" rIns="91425" wrap="square" tIns="0">
            <a:spAutoFit/>
          </a:bodyPr>
          <a:lstStyle/>
          <a:p>
            <a:pPr indent="0" lvl="0" marL="0" marR="0" rtl="0" algn="r">
              <a:spcBef>
                <a:spcPts val="0"/>
              </a:spcBef>
              <a:spcAft>
                <a:spcPts val="0"/>
              </a:spcAft>
              <a:buNone/>
            </a:pPr>
            <a:r>
              <a:rPr lang="en-US" sz="900">
                <a:solidFill>
                  <a:srgbClr val="4A5860"/>
                </a:solidFill>
                <a:latin typeface="Calibri"/>
                <a:ea typeface="Calibri"/>
                <a:cs typeface="Calibri"/>
                <a:sym typeface="Calibri"/>
              </a:rPr>
              <a:t>01 / 15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18"/>
        </a:solidFill>
      </p:bgPr>
    </p:bg>
    <p:spTree>
      <p:nvGrpSpPr>
        <p:cNvPr id="37" name="Shape 37"/>
        <p:cNvGrpSpPr/>
        <p:nvPr/>
      </p:nvGrpSpPr>
      <p:grpSpPr>
        <a:xfrm>
          <a:off x="0" y="0"/>
          <a:ext cx="0" cy="0"/>
          <a:chOff x="0" y="0"/>
          <a:chExt cx="0" cy="0"/>
        </a:xfrm>
      </p:grpSpPr>
      <p:sp>
        <p:nvSpPr>
          <p:cNvPr id="38" name="Google Shape;38;p4"/>
          <p:cNvSpPr txBox="1"/>
          <p:nvPr/>
        </p:nvSpPr>
        <p:spPr>
          <a:xfrm>
            <a:off x="640080" y="411480"/>
            <a:ext cx="10881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0AA"/>
              </a:buClr>
              <a:buSzPts val="1200"/>
              <a:buFont typeface="Calibri"/>
              <a:buNone/>
            </a:pPr>
            <a:r>
              <a:rPr b="1" lang="en-US" sz="1200">
                <a:solidFill>
                  <a:srgbClr val="8FA0AA"/>
                </a:solidFill>
                <a:latin typeface="Calibri"/>
                <a:ea typeface="Calibri"/>
                <a:cs typeface="Calibri"/>
                <a:sym typeface="Calibri"/>
              </a:rPr>
              <a:t>01  ·  INTRODUCTION</a:t>
            </a:r>
            <a:endParaRPr sz="1200">
              <a:solidFill>
                <a:schemeClr val="dk1"/>
              </a:solidFill>
              <a:latin typeface="Calibri"/>
              <a:ea typeface="Calibri"/>
              <a:cs typeface="Calibri"/>
              <a:sym typeface="Calibri"/>
            </a:endParaRPr>
          </a:p>
        </p:txBody>
      </p:sp>
      <p:sp>
        <p:nvSpPr>
          <p:cNvPr id="39" name="Google Shape;39;p4"/>
          <p:cNvSpPr txBox="1"/>
          <p:nvPr/>
        </p:nvSpPr>
        <p:spPr>
          <a:xfrm>
            <a:off x="640080" y="694944"/>
            <a:ext cx="1088136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3300"/>
              <a:buFont typeface="Cambria"/>
              <a:buNone/>
            </a:pPr>
            <a:r>
              <a:rPr b="1" lang="en-US" sz="3300">
                <a:solidFill>
                  <a:srgbClr val="F5F8F9"/>
                </a:solidFill>
                <a:latin typeface="Cambria"/>
                <a:ea typeface="Cambria"/>
                <a:cs typeface="Cambria"/>
                <a:sym typeface="Cambria"/>
              </a:rPr>
              <a:t>The problem with how attendance is taken</a:t>
            </a:r>
            <a:endParaRPr sz="3300">
              <a:solidFill>
                <a:schemeClr val="dk1"/>
              </a:solidFill>
              <a:latin typeface="Calibri"/>
              <a:ea typeface="Calibri"/>
              <a:cs typeface="Calibri"/>
              <a:sym typeface="Calibri"/>
            </a:endParaRPr>
          </a:p>
        </p:txBody>
      </p:sp>
      <p:sp>
        <p:nvSpPr>
          <p:cNvPr id="40" name="Google Shape;40;p4"/>
          <p:cNvSpPr txBox="1"/>
          <p:nvPr/>
        </p:nvSpPr>
        <p:spPr>
          <a:xfrm>
            <a:off x="640080" y="1463040"/>
            <a:ext cx="10881360" cy="502920"/>
          </a:xfrm>
          <a:prstGeom prst="rect">
            <a:avLst/>
          </a:prstGeom>
          <a:noFill/>
          <a:ln>
            <a:noFill/>
          </a:ln>
        </p:spPr>
        <p:txBody>
          <a:bodyPr anchorCtr="0" anchor="ctr" bIns="0" lIns="0" spcFirstLastPara="1" rIns="0" wrap="square" tIns="0">
            <a:noAutofit/>
          </a:bodyPr>
          <a:lstStyle/>
          <a:p>
            <a:pPr indent="0" lvl="0" marL="0" marR="0" rtl="0" algn="l">
              <a:lnSpc>
                <a:spcPct val="135714"/>
              </a:lnSpc>
              <a:spcBef>
                <a:spcPts val="0"/>
              </a:spcBef>
              <a:spcAft>
                <a:spcPts val="0"/>
              </a:spcAft>
              <a:buClr>
                <a:srgbClr val="C3CED4"/>
              </a:buClr>
              <a:buSzPts val="1400"/>
              <a:buFont typeface="Calibri"/>
              <a:buNone/>
            </a:pPr>
            <a:r>
              <a:rPr lang="en-US" sz="1500">
                <a:solidFill>
                  <a:srgbClr val="C3CED4"/>
                </a:solidFill>
                <a:latin typeface="Calibri"/>
                <a:ea typeface="Calibri"/>
                <a:cs typeface="Calibri"/>
                <a:sym typeface="Calibri"/>
              </a:rPr>
              <a:t>Universities still record attendance with a roll call or an RFID card. Both record a token — a spoken name or a tapped card — rather than confirming that a specific person is physically present.</a:t>
            </a:r>
            <a:endParaRPr sz="1500">
              <a:solidFill>
                <a:schemeClr val="dk1"/>
              </a:solidFill>
              <a:latin typeface="Calibri"/>
              <a:ea typeface="Calibri"/>
              <a:cs typeface="Calibri"/>
              <a:sym typeface="Calibri"/>
            </a:endParaRPr>
          </a:p>
        </p:txBody>
      </p:sp>
      <p:sp>
        <p:nvSpPr>
          <p:cNvPr id="41" name="Google Shape;41;p4"/>
          <p:cNvSpPr/>
          <p:nvPr/>
        </p:nvSpPr>
        <p:spPr>
          <a:xfrm>
            <a:off x="640080" y="2194560"/>
            <a:ext cx="2615184" cy="237744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4"/>
          <p:cNvSpPr/>
          <p:nvPr/>
        </p:nvSpPr>
        <p:spPr>
          <a:xfrm>
            <a:off x="932688" y="2487168"/>
            <a:ext cx="292608" cy="292608"/>
          </a:xfrm>
          <a:prstGeom prst="ellipse">
            <a:avLst/>
          </a:prstGeom>
          <a:solidFill>
            <a:srgbClr val="F2A9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4"/>
          <p:cNvSpPr txBox="1"/>
          <p:nvPr/>
        </p:nvSpPr>
        <p:spPr>
          <a:xfrm>
            <a:off x="932688" y="2907792"/>
            <a:ext cx="2194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00"/>
              <a:buFont typeface="Cambria"/>
              <a:buNone/>
            </a:pPr>
            <a:r>
              <a:rPr b="1" lang="en-US" sz="1400">
                <a:solidFill>
                  <a:srgbClr val="F5F8F9"/>
                </a:solidFill>
                <a:latin typeface="Cambria"/>
                <a:ea typeface="Cambria"/>
                <a:cs typeface="Cambria"/>
                <a:sym typeface="Cambria"/>
              </a:rPr>
              <a:t>Proxy attendance</a:t>
            </a:r>
            <a:endParaRPr sz="1400">
              <a:solidFill>
                <a:schemeClr val="dk1"/>
              </a:solidFill>
              <a:latin typeface="Calibri"/>
              <a:ea typeface="Calibri"/>
              <a:cs typeface="Calibri"/>
              <a:sym typeface="Calibri"/>
            </a:endParaRPr>
          </a:p>
        </p:txBody>
      </p:sp>
      <p:sp>
        <p:nvSpPr>
          <p:cNvPr id="44" name="Google Shape;44;p4"/>
          <p:cNvSpPr txBox="1"/>
          <p:nvPr/>
        </p:nvSpPr>
        <p:spPr>
          <a:xfrm>
            <a:off x="932688" y="3383280"/>
            <a:ext cx="2194560" cy="105156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350">
                <a:solidFill>
                  <a:srgbClr val="C3CED4"/>
                </a:solidFill>
                <a:latin typeface="Calibri"/>
                <a:ea typeface="Calibri"/>
                <a:cs typeface="Calibri"/>
                <a:sym typeface="Calibri"/>
              </a:rPr>
              <a:t>A classmate answers for an absent student, or taps their card. Neither method verifies the person.</a:t>
            </a:r>
            <a:endParaRPr sz="1350">
              <a:solidFill>
                <a:schemeClr val="dk1"/>
              </a:solidFill>
              <a:latin typeface="Calibri"/>
              <a:ea typeface="Calibri"/>
              <a:cs typeface="Calibri"/>
              <a:sym typeface="Calibri"/>
            </a:endParaRPr>
          </a:p>
        </p:txBody>
      </p:sp>
      <p:sp>
        <p:nvSpPr>
          <p:cNvPr id="45" name="Google Shape;45;p4"/>
          <p:cNvSpPr/>
          <p:nvPr/>
        </p:nvSpPr>
        <p:spPr>
          <a:xfrm>
            <a:off x="3401568" y="2194560"/>
            <a:ext cx="2615184" cy="237744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4"/>
          <p:cNvSpPr/>
          <p:nvPr/>
        </p:nvSpPr>
        <p:spPr>
          <a:xfrm>
            <a:off x="3694176" y="2487168"/>
            <a:ext cx="292608" cy="292608"/>
          </a:xfrm>
          <a:prstGeom prst="ellipse">
            <a:avLst/>
          </a:prstGeom>
          <a:solidFill>
            <a:srgbClr val="F2A9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4"/>
          <p:cNvSpPr txBox="1"/>
          <p:nvPr/>
        </p:nvSpPr>
        <p:spPr>
          <a:xfrm>
            <a:off x="3694176" y="2907792"/>
            <a:ext cx="2194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00"/>
              <a:buFont typeface="Cambria"/>
              <a:buNone/>
            </a:pPr>
            <a:r>
              <a:rPr b="1" lang="en-US" sz="1400">
                <a:solidFill>
                  <a:srgbClr val="F5F8F9"/>
                </a:solidFill>
                <a:latin typeface="Cambria"/>
                <a:ea typeface="Cambria"/>
                <a:cs typeface="Cambria"/>
                <a:sym typeface="Cambria"/>
              </a:rPr>
              <a:t>Class time lost</a:t>
            </a:r>
            <a:endParaRPr sz="1400">
              <a:solidFill>
                <a:schemeClr val="dk1"/>
              </a:solidFill>
              <a:latin typeface="Calibri"/>
              <a:ea typeface="Calibri"/>
              <a:cs typeface="Calibri"/>
              <a:sym typeface="Calibri"/>
            </a:endParaRPr>
          </a:p>
        </p:txBody>
      </p:sp>
      <p:sp>
        <p:nvSpPr>
          <p:cNvPr id="48" name="Google Shape;48;p4"/>
          <p:cNvSpPr txBox="1"/>
          <p:nvPr/>
        </p:nvSpPr>
        <p:spPr>
          <a:xfrm>
            <a:off x="3694176" y="3383280"/>
            <a:ext cx="2194560" cy="105156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350">
                <a:solidFill>
                  <a:srgbClr val="C3CED4"/>
                </a:solidFill>
                <a:latin typeface="Calibri"/>
                <a:ea typeface="Calibri"/>
                <a:cs typeface="Calibri"/>
                <a:sym typeface="Calibri"/>
              </a:rPr>
              <a:t>Calling 30–100 names costs several minutes of every lecture, in every course, every week.</a:t>
            </a:r>
            <a:endParaRPr sz="1350">
              <a:solidFill>
                <a:schemeClr val="dk1"/>
              </a:solidFill>
              <a:latin typeface="Calibri"/>
              <a:ea typeface="Calibri"/>
              <a:cs typeface="Calibri"/>
              <a:sym typeface="Calibri"/>
            </a:endParaRPr>
          </a:p>
        </p:txBody>
      </p:sp>
      <p:sp>
        <p:nvSpPr>
          <p:cNvPr id="49" name="Google Shape;49;p4"/>
          <p:cNvSpPr/>
          <p:nvPr/>
        </p:nvSpPr>
        <p:spPr>
          <a:xfrm>
            <a:off x="6163056" y="2194560"/>
            <a:ext cx="2615184" cy="237744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4"/>
          <p:cNvSpPr/>
          <p:nvPr/>
        </p:nvSpPr>
        <p:spPr>
          <a:xfrm>
            <a:off x="6455664" y="2487168"/>
            <a:ext cx="292608" cy="292608"/>
          </a:xfrm>
          <a:prstGeom prst="ellipse">
            <a:avLst/>
          </a:prstGeom>
          <a:solidFill>
            <a:srgbClr val="F2A9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4"/>
          <p:cNvSpPr txBox="1"/>
          <p:nvPr/>
        </p:nvSpPr>
        <p:spPr>
          <a:xfrm>
            <a:off x="6455664" y="2907792"/>
            <a:ext cx="2194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00"/>
              <a:buFont typeface="Cambria"/>
              <a:buNone/>
            </a:pPr>
            <a:r>
              <a:rPr b="1" lang="en-US" sz="1400">
                <a:solidFill>
                  <a:srgbClr val="F5F8F9"/>
                </a:solidFill>
                <a:latin typeface="Cambria"/>
                <a:ea typeface="Cambria"/>
                <a:cs typeface="Cambria"/>
                <a:sym typeface="Cambria"/>
              </a:rPr>
              <a:t>Lost or shared cards</a:t>
            </a:r>
            <a:endParaRPr sz="1400">
              <a:solidFill>
                <a:schemeClr val="dk1"/>
              </a:solidFill>
              <a:latin typeface="Calibri"/>
              <a:ea typeface="Calibri"/>
              <a:cs typeface="Calibri"/>
              <a:sym typeface="Calibri"/>
            </a:endParaRPr>
          </a:p>
        </p:txBody>
      </p:sp>
      <p:sp>
        <p:nvSpPr>
          <p:cNvPr id="52" name="Google Shape;52;p4"/>
          <p:cNvSpPr txBox="1"/>
          <p:nvPr/>
        </p:nvSpPr>
        <p:spPr>
          <a:xfrm>
            <a:off x="6455664" y="3383280"/>
            <a:ext cx="2194560" cy="105156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350">
                <a:solidFill>
                  <a:srgbClr val="C3CED4"/>
                </a:solidFill>
                <a:latin typeface="Calibri"/>
                <a:ea typeface="Calibri"/>
                <a:cs typeface="Calibri"/>
                <a:sym typeface="Calibri"/>
              </a:rPr>
              <a:t>Cards are forgotten, lost or handed over. The card proves nothing about who is holding it.</a:t>
            </a:r>
            <a:endParaRPr sz="1350">
              <a:solidFill>
                <a:schemeClr val="dk1"/>
              </a:solidFill>
              <a:latin typeface="Calibri"/>
              <a:ea typeface="Calibri"/>
              <a:cs typeface="Calibri"/>
              <a:sym typeface="Calibri"/>
            </a:endParaRPr>
          </a:p>
        </p:txBody>
      </p:sp>
      <p:sp>
        <p:nvSpPr>
          <p:cNvPr id="53" name="Google Shape;53;p4"/>
          <p:cNvSpPr/>
          <p:nvPr/>
        </p:nvSpPr>
        <p:spPr>
          <a:xfrm>
            <a:off x="8924544" y="2194560"/>
            <a:ext cx="2615184" cy="237744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4"/>
          <p:cNvSpPr/>
          <p:nvPr/>
        </p:nvSpPr>
        <p:spPr>
          <a:xfrm>
            <a:off x="9217152" y="2487168"/>
            <a:ext cx="292608" cy="292608"/>
          </a:xfrm>
          <a:prstGeom prst="ellipse">
            <a:avLst/>
          </a:prstGeom>
          <a:solidFill>
            <a:srgbClr val="F2A9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4"/>
          <p:cNvSpPr txBox="1"/>
          <p:nvPr/>
        </p:nvSpPr>
        <p:spPr>
          <a:xfrm>
            <a:off x="9217152" y="2907792"/>
            <a:ext cx="2194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00"/>
              <a:buFont typeface="Cambria"/>
              <a:buNone/>
            </a:pPr>
            <a:r>
              <a:rPr b="1" lang="en-US" sz="1400">
                <a:solidFill>
                  <a:srgbClr val="F5F8F9"/>
                </a:solidFill>
                <a:latin typeface="Cambria"/>
                <a:ea typeface="Cambria"/>
                <a:cs typeface="Cambria"/>
                <a:sym typeface="Cambria"/>
              </a:rPr>
              <a:t>Entrance congestion</a:t>
            </a:r>
            <a:endParaRPr sz="1400">
              <a:solidFill>
                <a:schemeClr val="dk1"/>
              </a:solidFill>
              <a:latin typeface="Calibri"/>
              <a:ea typeface="Calibri"/>
              <a:cs typeface="Calibri"/>
              <a:sym typeface="Calibri"/>
            </a:endParaRPr>
          </a:p>
        </p:txBody>
      </p:sp>
      <p:sp>
        <p:nvSpPr>
          <p:cNvPr id="56" name="Google Shape;56;p4"/>
          <p:cNvSpPr txBox="1"/>
          <p:nvPr/>
        </p:nvSpPr>
        <p:spPr>
          <a:xfrm>
            <a:off x="9217152" y="3383280"/>
            <a:ext cx="2194560" cy="105156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350">
                <a:solidFill>
                  <a:srgbClr val="C3CED4"/>
                </a:solidFill>
                <a:latin typeface="Calibri"/>
                <a:ea typeface="Calibri"/>
                <a:cs typeface="Calibri"/>
                <a:sym typeface="Calibri"/>
              </a:rPr>
              <a:t>Card readers form queues at doorways — precisely where a campus can least afford them.</a:t>
            </a:r>
            <a:endParaRPr sz="1350">
              <a:solidFill>
                <a:schemeClr val="dk1"/>
              </a:solidFill>
              <a:latin typeface="Calibri"/>
              <a:ea typeface="Calibri"/>
              <a:cs typeface="Calibri"/>
              <a:sym typeface="Calibri"/>
            </a:endParaRPr>
          </a:p>
        </p:txBody>
      </p:sp>
      <p:sp>
        <p:nvSpPr>
          <p:cNvPr id="57" name="Google Shape;57;p4"/>
          <p:cNvSpPr txBox="1"/>
          <p:nvPr/>
        </p:nvSpPr>
        <p:spPr>
          <a:xfrm>
            <a:off x="640080" y="493776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35714"/>
              </a:lnSpc>
              <a:spcBef>
                <a:spcPts val="0"/>
              </a:spcBef>
              <a:spcAft>
                <a:spcPts val="0"/>
              </a:spcAft>
              <a:buClr>
                <a:srgbClr val="F5F8F9"/>
              </a:buClr>
              <a:buSzPts val="1400"/>
              <a:buFont typeface="Calibri"/>
              <a:buNone/>
            </a:pPr>
            <a:r>
              <a:rPr b="1" lang="en-US" sz="1500">
                <a:solidFill>
                  <a:srgbClr val="F5F8F9"/>
                </a:solidFill>
                <a:latin typeface="Calibri"/>
                <a:ea typeface="Calibri"/>
                <a:cs typeface="Calibri"/>
                <a:sym typeface="Calibri"/>
              </a:rPr>
              <a:t>The physical-verification gap.  </a:t>
            </a:r>
            <a:r>
              <a:rPr lang="en-US" sz="1500">
                <a:solidFill>
                  <a:srgbClr val="C3CED4"/>
                </a:solidFill>
                <a:latin typeface="Calibri"/>
                <a:ea typeface="Calibri"/>
                <a:cs typeface="Calibri"/>
                <a:sym typeface="Calibri"/>
              </a:rPr>
              <a:t>Every failure above shares one root cause. Closing it requires a system that checks a face, not a token — which is what computer vision makes practical.</a:t>
            </a:r>
            <a:endParaRPr sz="1500">
              <a:solidFill>
                <a:schemeClr val="dk1"/>
              </a:solidFill>
              <a:latin typeface="Calibri"/>
              <a:ea typeface="Calibri"/>
              <a:cs typeface="Calibri"/>
              <a:sym typeface="Calibri"/>
            </a:endParaRPr>
          </a:p>
        </p:txBody>
      </p:sp>
      <p:sp>
        <p:nvSpPr>
          <p:cNvPr id="58" name="Google Shape;58;p4"/>
          <p:cNvSpPr/>
          <p:nvPr/>
        </p:nvSpPr>
        <p:spPr>
          <a:xfrm>
            <a:off x="502920"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4"/>
          <p:cNvSpPr/>
          <p:nvPr/>
        </p:nvSpPr>
        <p:spPr>
          <a:xfrm>
            <a:off x="502920"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4"/>
          <p:cNvSpPr/>
          <p:nvPr/>
        </p:nvSpPr>
        <p:spPr>
          <a:xfrm>
            <a:off x="11323015"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1" name="Google Shape;61;p4"/>
          <p:cNvSpPr/>
          <p:nvPr/>
        </p:nvSpPr>
        <p:spPr>
          <a:xfrm>
            <a:off x="11661343"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4"/>
          <p:cNvSpPr/>
          <p:nvPr/>
        </p:nvSpPr>
        <p:spPr>
          <a:xfrm>
            <a:off x="502920"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3" name="Google Shape;63;p4"/>
          <p:cNvSpPr/>
          <p:nvPr/>
        </p:nvSpPr>
        <p:spPr>
          <a:xfrm>
            <a:off x="502920"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4"/>
          <p:cNvSpPr/>
          <p:nvPr/>
        </p:nvSpPr>
        <p:spPr>
          <a:xfrm>
            <a:off x="11323015"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4"/>
          <p:cNvSpPr/>
          <p:nvPr/>
        </p:nvSpPr>
        <p:spPr>
          <a:xfrm>
            <a:off x="11661343"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4"/>
          <p:cNvSpPr/>
          <p:nvPr/>
        </p:nvSpPr>
        <p:spPr>
          <a:xfrm>
            <a:off x="640080" y="6416040"/>
            <a:ext cx="10881360" cy="3175"/>
          </a:xfrm>
          <a:prstGeom prst="rect">
            <a:avLst/>
          </a:prstGeom>
          <a:solidFill>
            <a:srgbClr val="2A3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p4"/>
          <p:cNvSpPr txBox="1"/>
          <p:nvPr/>
        </p:nvSpPr>
        <p:spPr>
          <a:xfrm>
            <a:off x="640080" y="6470000"/>
            <a:ext cx="4000000" cy="2286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900">
                <a:solidFill>
                  <a:srgbClr val="4A5860"/>
                </a:solidFill>
                <a:latin typeface="Calibri"/>
                <a:ea typeface="Calibri"/>
                <a:cs typeface="Calibri"/>
                <a:sym typeface="Calibri"/>
              </a:rPr>
              <a:t>CAMPUSEYE  ·  CSE499A</a:t>
            </a:r>
            <a:endParaRPr/>
          </a:p>
        </p:txBody>
      </p:sp>
      <p:sp>
        <p:nvSpPr>
          <p:cNvPr id="68" name="Google Shape;68;p4"/>
          <p:cNvSpPr txBox="1"/>
          <p:nvPr/>
        </p:nvSpPr>
        <p:spPr>
          <a:xfrm>
            <a:off x="9521440" y="6470000"/>
            <a:ext cx="2000000" cy="228600"/>
          </a:xfrm>
          <a:prstGeom prst="rect">
            <a:avLst/>
          </a:prstGeom>
          <a:noFill/>
          <a:ln>
            <a:noFill/>
          </a:ln>
        </p:spPr>
        <p:txBody>
          <a:bodyPr anchorCtr="0" anchor="t" bIns="45700" lIns="0" spcFirstLastPara="1" rIns="91425" wrap="square" tIns="0">
            <a:spAutoFit/>
          </a:bodyPr>
          <a:lstStyle/>
          <a:p>
            <a:pPr indent="0" lvl="0" marL="0" marR="0" rtl="0" algn="r">
              <a:spcBef>
                <a:spcPts val="0"/>
              </a:spcBef>
              <a:spcAft>
                <a:spcPts val="0"/>
              </a:spcAft>
              <a:buNone/>
            </a:pPr>
            <a:r>
              <a:rPr lang="en-US" sz="900">
                <a:solidFill>
                  <a:srgbClr val="4A5860"/>
                </a:solidFill>
                <a:latin typeface="Calibri"/>
                <a:ea typeface="Calibri"/>
                <a:cs typeface="Calibri"/>
                <a:sym typeface="Calibri"/>
              </a:rPr>
              <a:t>02 / 15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18"/>
        </a:solidFill>
      </p:bgPr>
    </p:bg>
    <p:spTree>
      <p:nvGrpSpPr>
        <p:cNvPr id="73" name="Shape 73"/>
        <p:cNvGrpSpPr/>
        <p:nvPr/>
      </p:nvGrpSpPr>
      <p:grpSpPr>
        <a:xfrm>
          <a:off x="0" y="0"/>
          <a:ext cx="0" cy="0"/>
          <a:chOff x="0" y="0"/>
          <a:chExt cx="0" cy="0"/>
        </a:xfrm>
      </p:grpSpPr>
      <p:sp>
        <p:nvSpPr>
          <p:cNvPr id="74" name="Google Shape;74;p5"/>
          <p:cNvSpPr txBox="1"/>
          <p:nvPr/>
        </p:nvSpPr>
        <p:spPr>
          <a:xfrm>
            <a:off x="640080" y="411480"/>
            <a:ext cx="10881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0AA"/>
              </a:buClr>
              <a:buSzPts val="1200"/>
              <a:buFont typeface="Calibri"/>
              <a:buNone/>
            </a:pPr>
            <a:r>
              <a:rPr b="1" lang="en-US" sz="1200">
                <a:solidFill>
                  <a:srgbClr val="8FA0AA"/>
                </a:solidFill>
                <a:latin typeface="Calibri"/>
                <a:ea typeface="Calibri"/>
                <a:cs typeface="Calibri"/>
                <a:sym typeface="Calibri"/>
              </a:rPr>
              <a:t>02  ·  OBJECTIVES &amp; SCOPE</a:t>
            </a:r>
            <a:endParaRPr sz="1200">
              <a:solidFill>
                <a:schemeClr val="dk1"/>
              </a:solidFill>
              <a:latin typeface="Calibri"/>
              <a:ea typeface="Calibri"/>
              <a:cs typeface="Calibri"/>
              <a:sym typeface="Calibri"/>
            </a:endParaRPr>
          </a:p>
        </p:txBody>
      </p:sp>
      <p:sp>
        <p:nvSpPr>
          <p:cNvPr id="75" name="Google Shape;75;p5"/>
          <p:cNvSpPr txBox="1"/>
          <p:nvPr/>
        </p:nvSpPr>
        <p:spPr>
          <a:xfrm>
            <a:off x="640080" y="694944"/>
            <a:ext cx="1088136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3300"/>
              <a:buFont typeface="Cambria"/>
              <a:buNone/>
            </a:pPr>
            <a:r>
              <a:rPr b="1" lang="en-US" sz="3300">
                <a:solidFill>
                  <a:srgbClr val="F5F8F9"/>
                </a:solidFill>
                <a:latin typeface="Cambria"/>
                <a:ea typeface="Cambria"/>
                <a:cs typeface="Cambria"/>
                <a:sym typeface="Cambria"/>
              </a:rPr>
              <a:t>What CSE499A set out to achieve</a:t>
            </a:r>
            <a:endParaRPr sz="3300">
              <a:solidFill>
                <a:schemeClr val="dk1"/>
              </a:solidFill>
              <a:latin typeface="Calibri"/>
              <a:ea typeface="Calibri"/>
              <a:cs typeface="Calibri"/>
              <a:sym typeface="Calibri"/>
            </a:endParaRPr>
          </a:p>
        </p:txBody>
      </p:sp>
      <p:sp>
        <p:nvSpPr>
          <p:cNvPr id="76" name="Google Shape;76;p5"/>
          <p:cNvSpPr txBox="1"/>
          <p:nvPr/>
        </p:nvSpPr>
        <p:spPr>
          <a:xfrm>
            <a:off x="640080" y="1508760"/>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B0"/>
              </a:buClr>
              <a:buSzPts val="1150"/>
              <a:buFont typeface="Calibri"/>
              <a:buNone/>
            </a:pPr>
            <a:r>
              <a:rPr b="1" lang="en-US" sz="1450">
                <a:solidFill>
                  <a:srgbClr val="5EEAB0"/>
                </a:solidFill>
                <a:latin typeface="Calibri"/>
                <a:ea typeface="Calibri"/>
                <a:cs typeface="Calibri"/>
                <a:sym typeface="Calibri"/>
              </a:rPr>
              <a:t>OBJECTIVES</a:t>
            </a:r>
            <a:endParaRPr sz="1450">
              <a:solidFill>
                <a:schemeClr val="dk1"/>
              </a:solidFill>
              <a:latin typeface="Calibri"/>
              <a:ea typeface="Calibri"/>
              <a:cs typeface="Calibri"/>
              <a:sym typeface="Calibri"/>
            </a:endParaRPr>
          </a:p>
        </p:txBody>
      </p:sp>
      <p:sp>
        <p:nvSpPr>
          <p:cNvPr id="77" name="Google Shape;77;p5"/>
          <p:cNvSpPr txBox="1"/>
          <p:nvPr/>
        </p:nvSpPr>
        <p:spPr>
          <a:xfrm>
            <a:off x="640080" y="1874520"/>
            <a:ext cx="31089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EAB0"/>
              </a:buClr>
              <a:buSzPts val="1100"/>
              <a:buFont typeface="Calibri"/>
              <a:buNone/>
            </a:pPr>
            <a:r>
              <a:rPr b="1" lang="en-US">
                <a:solidFill>
                  <a:srgbClr val="5EEAB0"/>
                </a:solidFill>
                <a:latin typeface="Calibri"/>
                <a:ea typeface="Calibri"/>
                <a:cs typeface="Calibri"/>
                <a:sym typeface="Calibri"/>
              </a:rPr>
              <a:t>1</a:t>
            </a:r>
            <a:endParaRPr>
              <a:solidFill>
                <a:schemeClr val="dk1"/>
              </a:solidFill>
              <a:latin typeface="Calibri"/>
              <a:ea typeface="Calibri"/>
              <a:cs typeface="Calibri"/>
              <a:sym typeface="Calibri"/>
            </a:endParaRPr>
          </a:p>
        </p:txBody>
      </p:sp>
      <p:sp>
        <p:nvSpPr>
          <p:cNvPr id="78" name="Google Shape;78;p5"/>
          <p:cNvSpPr txBox="1"/>
          <p:nvPr/>
        </p:nvSpPr>
        <p:spPr>
          <a:xfrm>
            <a:off x="1024128" y="1943476"/>
            <a:ext cx="4663500" cy="5028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C3CED4"/>
              </a:buClr>
              <a:buSzPts val="1300"/>
              <a:buFont typeface="Calibri"/>
              <a:buNone/>
            </a:pPr>
            <a:r>
              <a:rPr lang="en-US" sz="1600">
                <a:solidFill>
                  <a:srgbClr val="C3CED4"/>
                </a:solidFill>
                <a:latin typeface="Calibri"/>
                <a:ea typeface="Calibri"/>
                <a:cs typeface="Calibri"/>
                <a:sym typeface="Calibri"/>
              </a:rPr>
              <a:t>Mark a full classroom present from a single photograph, with no roll call.</a:t>
            </a:r>
            <a:endParaRPr sz="1600">
              <a:solidFill>
                <a:schemeClr val="dk1"/>
              </a:solidFill>
              <a:latin typeface="Calibri"/>
              <a:ea typeface="Calibri"/>
              <a:cs typeface="Calibri"/>
              <a:sym typeface="Calibri"/>
            </a:endParaRPr>
          </a:p>
        </p:txBody>
      </p:sp>
      <p:sp>
        <p:nvSpPr>
          <p:cNvPr id="79" name="Google Shape;79;p5"/>
          <p:cNvSpPr txBox="1"/>
          <p:nvPr/>
        </p:nvSpPr>
        <p:spPr>
          <a:xfrm>
            <a:off x="640080" y="2556399"/>
            <a:ext cx="310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EAB0"/>
              </a:buClr>
              <a:buSzPts val="1100"/>
              <a:buFont typeface="Calibri"/>
              <a:buNone/>
            </a:pPr>
            <a:r>
              <a:rPr b="1" lang="en-US">
                <a:solidFill>
                  <a:srgbClr val="5EEAB0"/>
                </a:solidFill>
                <a:latin typeface="Calibri"/>
                <a:ea typeface="Calibri"/>
                <a:cs typeface="Calibri"/>
                <a:sym typeface="Calibri"/>
              </a:rPr>
              <a:t>2</a:t>
            </a:r>
            <a:endParaRPr>
              <a:solidFill>
                <a:schemeClr val="dk1"/>
              </a:solidFill>
              <a:latin typeface="Calibri"/>
              <a:ea typeface="Calibri"/>
              <a:cs typeface="Calibri"/>
              <a:sym typeface="Calibri"/>
            </a:endParaRPr>
          </a:p>
        </p:txBody>
      </p:sp>
      <p:sp>
        <p:nvSpPr>
          <p:cNvPr id="80" name="Google Shape;80;p5"/>
          <p:cNvSpPr txBox="1"/>
          <p:nvPr/>
        </p:nvSpPr>
        <p:spPr>
          <a:xfrm>
            <a:off x="1024103" y="2606805"/>
            <a:ext cx="4663500" cy="5028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C3CED4"/>
              </a:buClr>
              <a:buSzPts val="1300"/>
              <a:buFont typeface="Calibri"/>
              <a:buNone/>
            </a:pPr>
            <a:r>
              <a:rPr lang="en-US" sz="1600">
                <a:solidFill>
                  <a:srgbClr val="C3CED4"/>
                </a:solidFill>
                <a:latin typeface="Calibri"/>
                <a:ea typeface="Calibri"/>
                <a:cs typeface="Calibri"/>
                <a:sym typeface="Calibri"/>
              </a:rPr>
              <a:t>Verify physical presence, removing the proxy-attendance loophole.</a:t>
            </a:r>
            <a:endParaRPr sz="1600">
              <a:solidFill>
                <a:schemeClr val="dk1"/>
              </a:solidFill>
              <a:latin typeface="Calibri"/>
              <a:ea typeface="Calibri"/>
              <a:cs typeface="Calibri"/>
              <a:sym typeface="Calibri"/>
            </a:endParaRPr>
          </a:p>
        </p:txBody>
      </p:sp>
      <p:sp>
        <p:nvSpPr>
          <p:cNvPr id="81" name="Google Shape;81;p5"/>
          <p:cNvSpPr txBox="1"/>
          <p:nvPr/>
        </p:nvSpPr>
        <p:spPr>
          <a:xfrm>
            <a:off x="640080" y="3312028"/>
            <a:ext cx="310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EAB0"/>
              </a:buClr>
              <a:buSzPts val="1100"/>
              <a:buFont typeface="Calibri"/>
              <a:buNone/>
            </a:pPr>
            <a:r>
              <a:rPr b="1" lang="en-US">
                <a:solidFill>
                  <a:srgbClr val="5EEAB0"/>
                </a:solidFill>
                <a:latin typeface="Calibri"/>
                <a:ea typeface="Calibri"/>
                <a:cs typeface="Calibri"/>
                <a:sym typeface="Calibri"/>
              </a:rPr>
              <a:t>3</a:t>
            </a:r>
            <a:endParaRPr>
              <a:solidFill>
                <a:schemeClr val="dk1"/>
              </a:solidFill>
              <a:latin typeface="Calibri"/>
              <a:ea typeface="Calibri"/>
              <a:cs typeface="Calibri"/>
              <a:sym typeface="Calibri"/>
            </a:endParaRPr>
          </a:p>
        </p:txBody>
      </p:sp>
      <p:sp>
        <p:nvSpPr>
          <p:cNvPr id="82" name="Google Shape;82;p5"/>
          <p:cNvSpPr txBox="1"/>
          <p:nvPr/>
        </p:nvSpPr>
        <p:spPr>
          <a:xfrm>
            <a:off x="1024103" y="3366420"/>
            <a:ext cx="4663500" cy="5028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C3CED4"/>
              </a:buClr>
              <a:buSzPts val="1300"/>
              <a:buFont typeface="Calibri"/>
              <a:buNone/>
            </a:pPr>
            <a:r>
              <a:rPr lang="en-US" sz="1600">
                <a:solidFill>
                  <a:srgbClr val="C3CED4"/>
                </a:solidFill>
                <a:latin typeface="Calibri"/>
                <a:ea typeface="Calibri"/>
                <a:cs typeface="Calibri"/>
                <a:sym typeface="Calibri"/>
              </a:rPr>
              <a:t>Produce a complete register — present and absent — against a course roster.</a:t>
            </a:r>
            <a:endParaRPr sz="1600">
              <a:solidFill>
                <a:schemeClr val="dk1"/>
              </a:solidFill>
              <a:latin typeface="Calibri"/>
              <a:ea typeface="Calibri"/>
              <a:cs typeface="Calibri"/>
              <a:sym typeface="Calibri"/>
            </a:endParaRPr>
          </a:p>
        </p:txBody>
      </p:sp>
      <p:sp>
        <p:nvSpPr>
          <p:cNvPr id="83" name="Google Shape;83;p5"/>
          <p:cNvSpPr txBox="1"/>
          <p:nvPr/>
        </p:nvSpPr>
        <p:spPr>
          <a:xfrm>
            <a:off x="640130" y="4067646"/>
            <a:ext cx="310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EAB0"/>
              </a:buClr>
              <a:buSzPts val="1100"/>
              <a:buFont typeface="Calibri"/>
              <a:buNone/>
            </a:pPr>
            <a:r>
              <a:rPr b="1" lang="en-US">
                <a:solidFill>
                  <a:srgbClr val="5EEAB0"/>
                </a:solidFill>
                <a:latin typeface="Calibri"/>
                <a:ea typeface="Calibri"/>
                <a:cs typeface="Calibri"/>
                <a:sym typeface="Calibri"/>
              </a:rPr>
              <a:t>4</a:t>
            </a:r>
            <a:endParaRPr>
              <a:solidFill>
                <a:schemeClr val="dk1"/>
              </a:solidFill>
              <a:latin typeface="Calibri"/>
              <a:ea typeface="Calibri"/>
              <a:cs typeface="Calibri"/>
              <a:sym typeface="Calibri"/>
            </a:endParaRPr>
          </a:p>
        </p:txBody>
      </p:sp>
      <p:sp>
        <p:nvSpPr>
          <p:cNvPr id="84" name="Google Shape;84;p5"/>
          <p:cNvSpPr txBox="1"/>
          <p:nvPr/>
        </p:nvSpPr>
        <p:spPr>
          <a:xfrm>
            <a:off x="1024103" y="3954825"/>
            <a:ext cx="4663500" cy="5028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C3CED4"/>
              </a:buClr>
              <a:buSzPts val="1300"/>
              <a:buFont typeface="Calibri"/>
              <a:buNone/>
            </a:pPr>
            <a:r>
              <a:rPr lang="en-US" sz="1600">
                <a:solidFill>
                  <a:srgbClr val="C3CED4"/>
                </a:solidFill>
                <a:latin typeface="Calibri"/>
                <a:ea typeface="Calibri"/>
                <a:cs typeface="Calibri"/>
                <a:sym typeface="Calibri"/>
              </a:rPr>
              <a:t>Export institution-ready records for administrative use.</a:t>
            </a:r>
            <a:endParaRPr sz="1600">
              <a:solidFill>
                <a:schemeClr val="dk1"/>
              </a:solidFill>
              <a:latin typeface="Calibri"/>
              <a:ea typeface="Calibri"/>
              <a:cs typeface="Calibri"/>
              <a:sym typeface="Calibri"/>
            </a:endParaRPr>
          </a:p>
        </p:txBody>
      </p:sp>
      <p:sp>
        <p:nvSpPr>
          <p:cNvPr id="85" name="Google Shape;85;p5"/>
          <p:cNvSpPr txBox="1"/>
          <p:nvPr/>
        </p:nvSpPr>
        <p:spPr>
          <a:xfrm>
            <a:off x="640080" y="4639446"/>
            <a:ext cx="310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EAB0"/>
              </a:buClr>
              <a:buSzPts val="1100"/>
              <a:buFont typeface="Calibri"/>
              <a:buNone/>
            </a:pPr>
            <a:r>
              <a:rPr b="1" lang="en-US">
                <a:solidFill>
                  <a:srgbClr val="5EEAB0"/>
                </a:solidFill>
                <a:latin typeface="Calibri"/>
                <a:ea typeface="Calibri"/>
                <a:cs typeface="Calibri"/>
                <a:sym typeface="Calibri"/>
              </a:rPr>
              <a:t>5</a:t>
            </a:r>
            <a:endParaRPr>
              <a:solidFill>
                <a:schemeClr val="dk1"/>
              </a:solidFill>
              <a:latin typeface="Calibri"/>
              <a:ea typeface="Calibri"/>
              <a:cs typeface="Calibri"/>
              <a:sym typeface="Calibri"/>
            </a:endParaRPr>
          </a:p>
        </p:txBody>
      </p:sp>
      <p:sp>
        <p:nvSpPr>
          <p:cNvPr id="86" name="Google Shape;86;p5"/>
          <p:cNvSpPr txBox="1"/>
          <p:nvPr/>
        </p:nvSpPr>
        <p:spPr>
          <a:xfrm>
            <a:off x="1024100" y="4686362"/>
            <a:ext cx="4663500" cy="5028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C3CED4"/>
              </a:buClr>
              <a:buSzPts val="1300"/>
              <a:buFont typeface="Calibri"/>
              <a:buNone/>
            </a:pPr>
            <a:r>
              <a:rPr lang="en-US" sz="1600">
                <a:solidFill>
                  <a:srgbClr val="C3CED4"/>
                </a:solidFill>
                <a:latin typeface="Calibri"/>
                <a:ea typeface="Calibri"/>
                <a:cs typeface="Calibri"/>
                <a:sym typeface="Calibri"/>
              </a:rPr>
              <a:t>Keep each teacher’s students and records private to their own account.</a:t>
            </a:r>
            <a:endParaRPr sz="1600">
              <a:solidFill>
                <a:schemeClr val="dk1"/>
              </a:solidFill>
              <a:latin typeface="Calibri"/>
              <a:ea typeface="Calibri"/>
              <a:cs typeface="Calibri"/>
              <a:sym typeface="Calibri"/>
            </a:endParaRPr>
          </a:p>
        </p:txBody>
      </p:sp>
      <p:sp>
        <p:nvSpPr>
          <p:cNvPr id="87" name="Google Shape;87;p5"/>
          <p:cNvSpPr/>
          <p:nvPr/>
        </p:nvSpPr>
        <p:spPr>
          <a:xfrm>
            <a:off x="6126480" y="1481328"/>
            <a:ext cx="5422392" cy="2084832"/>
          </a:xfrm>
          <a:prstGeom prst="rect">
            <a:avLst/>
          </a:prstGeom>
          <a:solidFill>
            <a:srgbClr val="1329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5"/>
          <p:cNvSpPr txBox="1"/>
          <p:nvPr/>
        </p:nvSpPr>
        <p:spPr>
          <a:xfrm>
            <a:off x="6400800" y="1664208"/>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B0"/>
              </a:buClr>
              <a:buSzPts val="1150"/>
              <a:buFont typeface="Calibri"/>
              <a:buNone/>
            </a:pPr>
            <a:r>
              <a:rPr b="1" lang="en-US" sz="1850">
                <a:solidFill>
                  <a:srgbClr val="5EEAB0"/>
                </a:solidFill>
                <a:latin typeface="Calibri"/>
                <a:ea typeface="Calibri"/>
                <a:cs typeface="Calibri"/>
                <a:sym typeface="Calibri"/>
              </a:rPr>
              <a:t>IN SCOPE — CSE499A</a:t>
            </a:r>
            <a:endParaRPr sz="1850">
              <a:solidFill>
                <a:schemeClr val="dk1"/>
              </a:solidFill>
              <a:latin typeface="Calibri"/>
              <a:ea typeface="Calibri"/>
              <a:cs typeface="Calibri"/>
              <a:sym typeface="Calibri"/>
            </a:endParaRPr>
          </a:p>
        </p:txBody>
      </p:sp>
      <p:sp>
        <p:nvSpPr>
          <p:cNvPr id="89" name="Google Shape;89;p5"/>
          <p:cNvSpPr txBox="1"/>
          <p:nvPr/>
        </p:nvSpPr>
        <p:spPr>
          <a:xfrm>
            <a:off x="6400800" y="1975104"/>
            <a:ext cx="4937760" cy="13716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C3CED4"/>
              </a:buClr>
              <a:buSzPts val="1250"/>
              <a:buFont typeface="Calibri"/>
              <a:buNone/>
            </a:pPr>
            <a:r>
              <a:rPr lang="en-US" sz="1650">
                <a:solidFill>
                  <a:srgbClr val="C3CED4"/>
                </a:solidFill>
                <a:latin typeface="Calibri"/>
                <a:ea typeface="Calibri"/>
                <a:cs typeface="Calibri"/>
                <a:sym typeface="Calibri"/>
              </a:rPr>
              <a:t>Single-photo classroom attendance · student enrolment · course sections and rosters · automated absentee resolution · CSV export · per-account isolation · local deployment.</a:t>
            </a:r>
            <a:endParaRPr sz="1650">
              <a:solidFill>
                <a:schemeClr val="dk1"/>
              </a:solidFill>
              <a:latin typeface="Calibri"/>
              <a:ea typeface="Calibri"/>
              <a:cs typeface="Calibri"/>
              <a:sym typeface="Calibri"/>
            </a:endParaRPr>
          </a:p>
        </p:txBody>
      </p:sp>
      <p:sp>
        <p:nvSpPr>
          <p:cNvPr id="90" name="Google Shape;90;p5"/>
          <p:cNvSpPr/>
          <p:nvPr/>
        </p:nvSpPr>
        <p:spPr>
          <a:xfrm>
            <a:off x="6126480" y="3712464"/>
            <a:ext cx="5422392" cy="2084832"/>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5"/>
          <p:cNvSpPr txBox="1"/>
          <p:nvPr/>
        </p:nvSpPr>
        <p:spPr>
          <a:xfrm>
            <a:off x="6400800" y="3895344"/>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0AA"/>
              </a:buClr>
              <a:buSzPts val="1150"/>
              <a:buFont typeface="Calibri"/>
              <a:buNone/>
            </a:pPr>
            <a:r>
              <a:rPr b="1" lang="en-US" sz="1850">
                <a:solidFill>
                  <a:srgbClr val="8FA0AA"/>
                </a:solidFill>
                <a:latin typeface="Calibri"/>
                <a:ea typeface="Calibri"/>
                <a:cs typeface="Calibri"/>
                <a:sym typeface="Calibri"/>
              </a:rPr>
              <a:t>DEFERRED TO CSE499B</a:t>
            </a:r>
            <a:endParaRPr sz="1850">
              <a:solidFill>
                <a:schemeClr val="dk1"/>
              </a:solidFill>
              <a:latin typeface="Calibri"/>
              <a:ea typeface="Calibri"/>
              <a:cs typeface="Calibri"/>
              <a:sym typeface="Calibri"/>
            </a:endParaRPr>
          </a:p>
        </p:txBody>
      </p:sp>
      <p:sp>
        <p:nvSpPr>
          <p:cNvPr id="92" name="Google Shape;92;p5"/>
          <p:cNvSpPr txBox="1"/>
          <p:nvPr/>
        </p:nvSpPr>
        <p:spPr>
          <a:xfrm>
            <a:off x="6400800" y="4206240"/>
            <a:ext cx="4937760" cy="146304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C3CED4"/>
              </a:buClr>
              <a:buSzPts val="1250"/>
              <a:buFont typeface="Calibri"/>
              <a:buNone/>
            </a:pPr>
            <a:r>
              <a:rPr lang="en-US" sz="1650">
                <a:solidFill>
                  <a:srgbClr val="C3CED4"/>
                </a:solidFill>
                <a:latin typeface="Calibri"/>
                <a:ea typeface="Calibri"/>
                <a:cs typeface="Calibri"/>
                <a:sym typeface="Calibri"/>
              </a:rPr>
              <a:t>Live browser camera capture · continuous CCTV ingestion · multi-object tracking · anti-spoofing and proxy alerts · encryption of biometric data at rest · LMS integration · large-scale benchmarking.</a:t>
            </a:r>
            <a:endParaRPr sz="1650">
              <a:solidFill>
                <a:schemeClr val="dk1"/>
              </a:solidFill>
              <a:latin typeface="Calibri"/>
              <a:ea typeface="Calibri"/>
              <a:cs typeface="Calibri"/>
              <a:sym typeface="Calibri"/>
            </a:endParaRPr>
          </a:p>
        </p:txBody>
      </p:sp>
      <p:sp>
        <p:nvSpPr>
          <p:cNvPr id="93" name="Google Shape;93;p5"/>
          <p:cNvSpPr/>
          <p:nvPr/>
        </p:nvSpPr>
        <p:spPr>
          <a:xfrm>
            <a:off x="502920"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5"/>
          <p:cNvSpPr/>
          <p:nvPr/>
        </p:nvSpPr>
        <p:spPr>
          <a:xfrm>
            <a:off x="502920"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5"/>
          <p:cNvSpPr/>
          <p:nvPr/>
        </p:nvSpPr>
        <p:spPr>
          <a:xfrm>
            <a:off x="11323015"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5"/>
          <p:cNvSpPr/>
          <p:nvPr/>
        </p:nvSpPr>
        <p:spPr>
          <a:xfrm>
            <a:off x="11661343"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5"/>
          <p:cNvSpPr/>
          <p:nvPr/>
        </p:nvSpPr>
        <p:spPr>
          <a:xfrm>
            <a:off x="502920"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5"/>
          <p:cNvSpPr/>
          <p:nvPr/>
        </p:nvSpPr>
        <p:spPr>
          <a:xfrm>
            <a:off x="502920"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5"/>
          <p:cNvSpPr/>
          <p:nvPr/>
        </p:nvSpPr>
        <p:spPr>
          <a:xfrm>
            <a:off x="11323015"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5"/>
          <p:cNvSpPr/>
          <p:nvPr/>
        </p:nvSpPr>
        <p:spPr>
          <a:xfrm>
            <a:off x="11661343"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5"/>
          <p:cNvSpPr/>
          <p:nvPr/>
        </p:nvSpPr>
        <p:spPr>
          <a:xfrm>
            <a:off x="640080" y="6416040"/>
            <a:ext cx="10881360" cy="3175"/>
          </a:xfrm>
          <a:prstGeom prst="rect">
            <a:avLst/>
          </a:prstGeom>
          <a:solidFill>
            <a:srgbClr val="2A3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5"/>
          <p:cNvSpPr txBox="1"/>
          <p:nvPr/>
        </p:nvSpPr>
        <p:spPr>
          <a:xfrm>
            <a:off x="640080" y="6470000"/>
            <a:ext cx="4000000" cy="2286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900">
                <a:solidFill>
                  <a:srgbClr val="4A5860"/>
                </a:solidFill>
                <a:latin typeface="Calibri"/>
                <a:ea typeface="Calibri"/>
                <a:cs typeface="Calibri"/>
                <a:sym typeface="Calibri"/>
              </a:rPr>
              <a:t>CAMPUSEYE  ·  CSE499A</a:t>
            </a:r>
            <a:endParaRPr/>
          </a:p>
        </p:txBody>
      </p:sp>
      <p:sp>
        <p:nvSpPr>
          <p:cNvPr id="103" name="Google Shape;103;p5"/>
          <p:cNvSpPr txBox="1"/>
          <p:nvPr/>
        </p:nvSpPr>
        <p:spPr>
          <a:xfrm>
            <a:off x="9521440" y="6470000"/>
            <a:ext cx="2000000" cy="228600"/>
          </a:xfrm>
          <a:prstGeom prst="rect">
            <a:avLst/>
          </a:prstGeom>
          <a:noFill/>
          <a:ln>
            <a:noFill/>
          </a:ln>
        </p:spPr>
        <p:txBody>
          <a:bodyPr anchorCtr="0" anchor="t" bIns="45700" lIns="0" spcFirstLastPara="1" rIns="91425" wrap="square" tIns="0">
            <a:spAutoFit/>
          </a:bodyPr>
          <a:lstStyle/>
          <a:p>
            <a:pPr indent="0" lvl="0" marL="0" marR="0" rtl="0" algn="r">
              <a:spcBef>
                <a:spcPts val="0"/>
              </a:spcBef>
              <a:spcAft>
                <a:spcPts val="0"/>
              </a:spcAft>
              <a:buNone/>
            </a:pPr>
            <a:r>
              <a:rPr lang="en-US" sz="900">
                <a:solidFill>
                  <a:srgbClr val="4A5860"/>
                </a:solidFill>
                <a:latin typeface="Calibri"/>
                <a:ea typeface="Calibri"/>
                <a:cs typeface="Calibri"/>
                <a:sym typeface="Calibri"/>
              </a:rPr>
              <a:t>03 / 15</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18"/>
        </a:solidFill>
      </p:bgPr>
    </p:bg>
    <p:spTree>
      <p:nvGrpSpPr>
        <p:cNvPr id="108" name="Shape 108"/>
        <p:cNvGrpSpPr/>
        <p:nvPr/>
      </p:nvGrpSpPr>
      <p:grpSpPr>
        <a:xfrm>
          <a:off x="0" y="0"/>
          <a:ext cx="0" cy="0"/>
          <a:chOff x="0" y="0"/>
          <a:chExt cx="0" cy="0"/>
        </a:xfrm>
      </p:grpSpPr>
      <p:sp>
        <p:nvSpPr>
          <p:cNvPr id="109" name="Google Shape;109;p6"/>
          <p:cNvSpPr txBox="1"/>
          <p:nvPr/>
        </p:nvSpPr>
        <p:spPr>
          <a:xfrm>
            <a:off x="640080" y="411480"/>
            <a:ext cx="10881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0AA"/>
              </a:buClr>
              <a:buSzPts val="1200"/>
              <a:buFont typeface="Calibri"/>
              <a:buNone/>
            </a:pPr>
            <a:r>
              <a:rPr b="1" lang="en-US" sz="1200">
                <a:solidFill>
                  <a:srgbClr val="8FA0AA"/>
                </a:solidFill>
                <a:latin typeface="Calibri"/>
                <a:ea typeface="Calibri"/>
                <a:cs typeface="Calibri"/>
                <a:sym typeface="Calibri"/>
              </a:rPr>
              <a:t>03  ·  LITERATURE REVIEW</a:t>
            </a:r>
            <a:endParaRPr sz="1200">
              <a:solidFill>
                <a:schemeClr val="dk1"/>
              </a:solidFill>
              <a:latin typeface="Calibri"/>
              <a:ea typeface="Calibri"/>
              <a:cs typeface="Calibri"/>
              <a:sym typeface="Calibri"/>
            </a:endParaRPr>
          </a:p>
        </p:txBody>
      </p:sp>
      <p:sp>
        <p:nvSpPr>
          <p:cNvPr id="110" name="Google Shape;110;p6"/>
          <p:cNvSpPr txBox="1"/>
          <p:nvPr/>
        </p:nvSpPr>
        <p:spPr>
          <a:xfrm>
            <a:off x="640080" y="694944"/>
            <a:ext cx="1088136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3300"/>
              <a:buFont typeface="Cambria"/>
              <a:buNone/>
            </a:pPr>
            <a:r>
              <a:rPr b="1" lang="en-US" sz="3300">
                <a:solidFill>
                  <a:srgbClr val="F5F8F9"/>
                </a:solidFill>
                <a:latin typeface="Cambria"/>
                <a:ea typeface="Cambria"/>
                <a:cs typeface="Cambria"/>
                <a:sym typeface="Cambria"/>
              </a:rPr>
              <a:t>Five papers, and what each contributed</a:t>
            </a:r>
            <a:endParaRPr sz="3300">
              <a:solidFill>
                <a:schemeClr val="dk1"/>
              </a:solidFill>
              <a:latin typeface="Calibri"/>
              <a:ea typeface="Calibri"/>
              <a:cs typeface="Calibri"/>
              <a:sym typeface="Calibri"/>
            </a:endParaRPr>
          </a:p>
        </p:txBody>
      </p:sp>
      <p:graphicFrame>
        <p:nvGraphicFramePr>
          <p:cNvPr id="111" name="Google Shape;111;p6"/>
          <p:cNvGraphicFramePr/>
          <p:nvPr/>
        </p:nvGraphicFramePr>
        <p:xfrm>
          <a:off x="640080" y="1481328"/>
          <a:ext cx="3000000" cy="3000000"/>
        </p:xfrm>
        <a:graphic>
          <a:graphicData uri="http://schemas.openxmlformats.org/drawingml/2006/table">
            <a:tbl>
              <a:tblPr>
                <a:noFill/>
                <a:tableStyleId>{6F29E9E7-9ED4-4FBF-8B52-004EE1C8E646}</a:tableStyleId>
              </a:tblPr>
              <a:tblGrid>
                <a:gridCol w="2103125"/>
                <a:gridCol w="2743200"/>
                <a:gridCol w="3017525"/>
                <a:gridCol w="3017525"/>
              </a:tblGrid>
              <a:tr h="555350">
                <a:tc>
                  <a:txBody>
                    <a:bodyPr/>
                    <a:lstStyle/>
                    <a:p>
                      <a:pPr indent="0" lvl="0" marL="0" marR="0" rtl="0" algn="l">
                        <a:spcBef>
                          <a:spcPts val="0"/>
                        </a:spcBef>
                        <a:spcAft>
                          <a:spcPts val="0"/>
                        </a:spcAft>
                        <a:buClr>
                          <a:srgbClr val="5EEAB0"/>
                        </a:buClr>
                        <a:buSzPts val="1100"/>
                        <a:buFont typeface="Calibri"/>
                        <a:buNone/>
                      </a:pPr>
                      <a:r>
                        <a:rPr b="1" lang="en-US" u="none" cap="none" strike="noStrike">
                          <a:solidFill>
                            <a:srgbClr val="5EEAB0"/>
                          </a:solidFill>
                          <a:latin typeface="Calibri"/>
                          <a:ea typeface="Calibri"/>
                          <a:cs typeface="Calibri"/>
                          <a:sym typeface="Calibri"/>
                        </a:rPr>
                        <a:t>Paper</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7352A"/>
                    </a:solidFill>
                  </a:tcPr>
                </a:tc>
                <a:tc>
                  <a:txBody>
                    <a:bodyPr/>
                    <a:lstStyle/>
                    <a:p>
                      <a:pPr indent="0" lvl="0" marL="0" marR="0" rtl="0" algn="l">
                        <a:spcBef>
                          <a:spcPts val="0"/>
                        </a:spcBef>
                        <a:spcAft>
                          <a:spcPts val="0"/>
                        </a:spcAft>
                        <a:buClr>
                          <a:srgbClr val="5EEAB0"/>
                        </a:buClr>
                        <a:buSzPts val="1100"/>
                        <a:buFont typeface="Calibri"/>
                        <a:buNone/>
                      </a:pPr>
                      <a:r>
                        <a:rPr b="1" lang="en-US" u="none" cap="none" strike="noStrike">
                          <a:solidFill>
                            <a:srgbClr val="5EEAB0"/>
                          </a:solidFill>
                          <a:latin typeface="Calibri"/>
                          <a:ea typeface="Calibri"/>
                          <a:cs typeface="Calibri"/>
                          <a:sym typeface="Calibri"/>
                        </a:rPr>
                        <a:t>Method</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7352A"/>
                    </a:solidFill>
                  </a:tcPr>
                </a:tc>
                <a:tc>
                  <a:txBody>
                    <a:bodyPr/>
                    <a:lstStyle/>
                    <a:p>
                      <a:pPr indent="0" lvl="0" marL="0" marR="0" rtl="0" algn="l">
                        <a:spcBef>
                          <a:spcPts val="0"/>
                        </a:spcBef>
                        <a:spcAft>
                          <a:spcPts val="0"/>
                        </a:spcAft>
                        <a:buClr>
                          <a:srgbClr val="5EEAB0"/>
                        </a:buClr>
                        <a:buSzPts val="1100"/>
                        <a:buFont typeface="Calibri"/>
                        <a:buNone/>
                      </a:pPr>
                      <a:r>
                        <a:rPr b="1" lang="en-US" u="none" cap="none" strike="noStrike">
                          <a:solidFill>
                            <a:srgbClr val="5EEAB0"/>
                          </a:solidFill>
                          <a:latin typeface="Calibri"/>
                          <a:ea typeface="Calibri"/>
                          <a:cs typeface="Calibri"/>
                          <a:sym typeface="Calibri"/>
                        </a:rPr>
                        <a:t>What we adopted</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7352A"/>
                    </a:solidFill>
                  </a:tcPr>
                </a:tc>
                <a:tc>
                  <a:txBody>
                    <a:bodyPr/>
                    <a:lstStyle/>
                    <a:p>
                      <a:pPr indent="0" lvl="0" marL="0" marR="0" rtl="0" algn="l">
                        <a:spcBef>
                          <a:spcPts val="0"/>
                        </a:spcBef>
                        <a:spcAft>
                          <a:spcPts val="0"/>
                        </a:spcAft>
                        <a:buClr>
                          <a:srgbClr val="5EEAB0"/>
                        </a:buClr>
                        <a:buSzPts val="1100"/>
                        <a:buFont typeface="Calibri"/>
                        <a:buNone/>
                      </a:pPr>
                      <a:r>
                        <a:rPr b="1" lang="en-US" u="none" cap="none" strike="noStrike">
                          <a:solidFill>
                            <a:srgbClr val="5EEAB0"/>
                          </a:solidFill>
                          <a:latin typeface="Calibri"/>
                          <a:ea typeface="Calibri"/>
                          <a:cs typeface="Calibri"/>
                          <a:sym typeface="Calibri"/>
                        </a:rPr>
                        <a:t>Where we diverge</a:t>
                      </a:r>
                      <a:endParaRPr sz="1600"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7352A"/>
                    </a:solidFill>
                  </a:tcPr>
                </a:tc>
              </a:tr>
              <a:tr h="572150">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P1 · Budiman, 2023</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71F27"/>
                    </a:solidFill>
                  </a:tcPr>
                </a:tc>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Systematic review: LBPH vs CNN</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71F27"/>
                    </a:solidFill>
                  </a:tcPr>
                </a:tc>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The evidence for a CNN backbone</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71F27"/>
                    </a:solidFill>
                  </a:tcPr>
                </a:tc>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A review, not a system; ours implements its conclusion</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71F27"/>
                    </a:solidFill>
                  </a:tcPr>
                </a:tc>
              </a:tr>
              <a:tr h="572150">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P2 · Abuazh, 2020</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B242D"/>
                    </a:solidFill>
                  </a:tcPr>
                </a:tc>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LabVIEW pattern matching, Excel logs</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B242D"/>
                    </a:solidFill>
                  </a:tcPr>
                </a:tc>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Timestamped logging of every mark</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B242D"/>
                    </a:solidFill>
                  </a:tcPr>
                </a:tc>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SQLite as the store of record; no messaging subsystem</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B242D"/>
                    </a:solidFill>
                  </a:tcPr>
                </a:tc>
              </a:tr>
              <a:tr h="572150">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P3 · Chakraborty, 2020</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71F27"/>
                    </a:solidFill>
                  </a:tcPr>
                </a:tc>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Haar Cascade + PCA/Eigenface</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71F27"/>
                    </a:solidFill>
                  </a:tcPr>
                </a:tc>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Per-student enrolment sets</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71F27"/>
                    </a:solidFill>
                  </a:tcPr>
                </a:tc>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CNN embedding replaces PCA; YuNet replaces Haar</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71F27"/>
                    </a:solidFill>
                  </a:tcPr>
                </a:tc>
              </a:tr>
              <a:tr h="572150">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P4 · Gomes, 2020</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B242D"/>
                    </a:solidFill>
                  </a:tcPr>
                </a:tc>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Haar + LBPH, unknown-face store</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B242D"/>
                    </a:solidFill>
                  </a:tcPr>
                </a:tc>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Multi-face from one photo; unknown capture</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B242D"/>
                    </a:solidFill>
                  </a:tcPr>
                </a:tc>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Facenet embeddings replace LBPH</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B242D"/>
                    </a:solidFill>
                  </a:tcPr>
                </a:tc>
              </a:tr>
              <a:tr h="572150">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P5 · Oshin, 2025</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71F27"/>
                    </a:solidFill>
                  </a:tcPr>
                </a:tc>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ArcFace 512-d, cosine @ 0.5, Redis</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71F27"/>
                    </a:solidFill>
                  </a:tcPr>
                </a:tc>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Embedding + cosine threshold matching</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71F27"/>
                    </a:solidFill>
                  </a:tcPr>
                </a:tc>
                <a:tc>
                  <a:txBody>
                    <a:bodyPr/>
                    <a:lstStyle/>
                    <a:p>
                      <a:pPr indent="0" lvl="0" marL="0" marR="0" rtl="0" algn="l">
                        <a:spcBef>
                          <a:spcPts val="0"/>
                        </a:spcBef>
                        <a:spcAft>
                          <a:spcPts val="0"/>
                        </a:spcAft>
                        <a:buClr>
                          <a:srgbClr val="C3CED4"/>
                        </a:buClr>
                        <a:buSzPts val="1100"/>
                        <a:buFont typeface="Calibri"/>
                        <a:buNone/>
                      </a:pPr>
                      <a:r>
                        <a:rPr lang="en-US" u="none" cap="none" strike="noStrike">
                          <a:solidFill>
                            <a:srgbClr val="C3CED4"/>
                          </a:solidFill>
                          <a:latin typeface="Calibri"/>
                          <a:ea typeface="Calibri"/>
                          <a:cs typeface="Calibri"/>
                          <a:sym typeface="Calibri"/>
                        </a:rPr>
                        <a:t>Facenet 128-d @ 0.6, SQLite, Flask</a:t>
                      </a:r>
                      <a:endParaRPr u="none" cap="none" strike="noStrike">
                        <a:latin typeface="Calibri"/>
                        <a:ea typeface="Calibri"/>
                        <a:cs typeface="Calibri"/>
                        <a:sym typeface="Calibri"/>
                      </a:endParaRPr>
                    </a:p>
                  </a:txBody>
                  <a:tcPr marT="45725" marB="45725" marR="91450" marL="91450" anchor="ctr">
                    <a:lnL cap="flat" cmpd="sng" w="9525">
                      <a:solidFill>
                        <a:srgbClr val="2A3540"/>
                      </a:solidFill>
                      <a:prstDash val="solid"/>
                      <a:round/>
                      <a:headEnd len="sm" w="sm" type="none"/>
                      <a:tailEnd len="sm" w="sm" type="none"/>
                    </a:lnL>
                    <a:lnR cap="flat" cmpd="sng" w="9525">
                      <a:solidFill>
                        <a:srgbClr val="2A3540"/>
                      </a:solidFill>
                      <a:prstDash val="solid"/>
                      <a:round/>
                      <a:headEnd len="sm" w="sm" type="none"/>
                      <a:tailEnd len="sm" w="sm" type="none"/>
                    </a:lnR>
                    <a:lnT cap="flat" cmpd="sng" w="9525">
                      <a:solidFill>
                        <a:srgbClr val="2A3540"/>
                      </a:solidFill>
                      <a:prstDash val="solid"/>
                      <a:round/>
                      <a:headEnd len="sm" w="sm" type="none"/>
                      <a:tailEnd len="sm" w="sm" type="none"/>
                    </a:lnT>
                    <a:lnB cap="flat" cmpd="sng" w="9525">
                      <a:solidFill>
                        <a:srgbClr val="2A3540"/>
                      </a:solidFill>
                      <a:prstDash val="solid"/>
                      <a:round/>
                      <a:headEnd len="sm" w="sm" type="none"/>
                      <a:tailEnd len="sm" w="sm" type="none"/>
                    </a:lnB>
                    <a:solidFill>
                      <a:srgbClr val="171F27"/>
                    </a:solidFill>
                  </a:tcPr>
                </a:tc>
              </a:tr>
            </a:tbl>
          </a:graphicData>
        </a:graphic>
      </p:graphicFrame>
      <p:sp>
        <p:nvSpPr>
          <p:cNvPr id="112" name="Google Shape;112;p6"/>
          <p:cNvSpPr txBox="1"/>
          <p:nvPr/>
        </p:nvSpPr>
        <p:spPr>
          <a:xfrm>
            <a:off x="640080" y="5029200"/>
            <a:ext cx="10881360" cy="68580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F5F8F9"/>
              </a:buClr>
              <a:buSzPts val="1300"/>
              <a:buFont typeface="Calibri"/>
              <a:buNone/>
            </a:pPr>
            <a:r>
              <a:rPr b="1" lang="en-US" sz="1500">
                <a:solidFill>
                  <a:srgbClr val="F5F8F9"/>
                </a:solidFill>
                <a:latin typeface="Calibri"/>
                <a:ea typeface="Calibri"/>
                <a:cs typeface="Calibri"/>
                <a:sym typeface="Calibri"/>
              </a:rPr>
              <a:t>The review drove the design, not the other way round.  </a:t>
            </a:r>
            <a:r>
              <a:rPr lang="en-US" sz="1500">
                <a:solidFill>
                  <a:srgbClr val="C3CED4"/>
                </a:solidFill>
                <a:latin typeface="Calibri"/>
                <a:ea typeface="Calibri"/>
                <a:cs typeface="Calibri"/>
                <a:sym typeface="Calibri"/>
              </a:rPr>
              <a:t>P1 and P4 together justify choosing a CNN embedding over LBPH and Eigenface; P5 supplies the cosine-threshold matching strategy. Each borrowed decision was re-checked against our own source code.</a:t>
            </a:r>
            <a:endParaRPr sz="1500">
              <a:solidFill>
                <a:schemeClr val="dk1"/>
              </a:solidFill>
              <a:latin typeface="Calibri"/>
              <a:ea typeface="Calibri"/>
              <a:cs typeface="Calibri"/>
              <a:sym typeface="Calibri"/>
            </a:endParaRPr>
          </a:p>
        </p:txBody>
      </p:sp>
      <p:sp>
        <p:nvSpPr>
          <p:cNvPr id="113" name="Google Shape;113;p6"/>
          <p:cNvSpPr/>
          <p:nvPr/>
        </p:nvSpPr>
        <p:spPr>
          <a:xfrm>
            <a:off x="502920"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6"/>
          <p:cNvSpPr/>
          <p:nvPr/>
        </p:nvSpPr>
        <p:spPr>
          <a:xfrm>
            <a:off x="502920"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6"/>
          <p:cNvSpPr/>
          <p:nvPr/>
        </p:nvSpPr>
        <p:spPr>
          <a:xfrm>
            <a:off x="11323015"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6"/>
          <p:cNvSpPr/>
          <p:nvPr/>
        </p:nvSpPr>
        <p:spPr>
          <a:xfrm>
            <a:off x="11661343"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6"/>
          <p:cNvSpPr/>
          <p:nvPr/>
        </p:nvSpPr>
        <p:spPr>
          <a:xfrm>
            <a:off x="502920"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6"/>
          <p:cNvSpPr/>
          <p:nvPr/>
        </p:nvSpPr>
        <p:spPr>
          <a:xfrm>
            <a:off x="502920"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9" name="Google Shape;119;p6"/>
          <p:cNvSpPr/>
          <p:nvPr/>
        </p:nvSpPr>
        <p:spPr>
          <a:xfrm>
            <a:off x="11323015"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6"/>
          <p:cNvSpPr/>
          <p:nvPr/>
        </p:nvSpPr>
        <p:spPr>
          <a:xfrm>
            <a:off x="11661343"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6"/>
          <p:cNvSpPr/>
          <p:nvPr/>
        </p:nvSpPr>
        <p:spPr>
          <a:xfrm>
            <a:off x="640080" y="6416040"/>
            <a:ext cx="10881360" cy="3175"/>
          </a:xfrm>
          <a:prstGeom prst="rect">
            <a:avLst/>
          </a:prstGeom>
          <a:solidFill>
            <a:srgbClr val="2A3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6"/>
          <p:cNvSpPr txBox="1"/>
          <p:nvPr/>
        </p:nvSpPr>
        <p:spPr>
          <a:xfrm>
            <a:off x="640080" y="6470000"/>
            <a:ext cx="4000000" cy="2286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900">
                <a:solidFill>
                  <a:srgbClr val="4A5860"/>
                </a:solidFill>
                <a:latin typeface="Calibri"/>
                <a:ea typeface="Calibri"/>
                <a:cs typeface="Calibri"/>
                <a:sym typeface="Calibri"/>
              </a:rPr>
              <a:t>CAMPUSEYE  ·  CSE499A</a:t>
            </a:r>
            <a:endParaRPr/>
          </a:p>
        </p:txBody>
      </p:sp>
      <p:sp>
        <p:nvSpPr>
          <p:cNvPr id="123" name="Google Shape;123;p6"/>
          <p:cNvSpPr txBox="1"/>
          <p:nvPr/>
        </p:nvSpPr>
        <p:spPr>
          <a:xfrm>
            <a:off x="9521440" y="6470000"/>
            <a:ext cx="2000000" cy="228600"/>
          </a:xfrm>
          <a:prstGeom prst="rect">
            <a:avLst/>
          </a:prstGeom>
          <a:noFill/>
          <a:ln>
            <a:noFill/>
          </a:ln>
        </p:spPr>
        <p:txBody>
          <a:bodyPr anchorCtr="0" anchor="t" bIns="45700" lIns="0" spcFirstLastPara="1" rIns="91425" wrap="square" tIns="0">
            <a:spAutoFit/>
          </a:bodyPr>
          <a:lstStyle/>
          <a:p>
            <a:pPr indent="0" lvl="0" marL="0" marR="0" rtl="0" algn="r">
              <a:spcBef>
                <a:spcPts val="0"/>
              </a:spcBef>
              <a:spcAft>
                <a:spcPts val="0"/>
              </a:spcAft>
              <a:buNone/>
            </a:pPr>
            <a:r>
              <a:rPr lang="en-US" sz="900">
                <a:solidFill>
                  <a:srgbClr val="4A5860"/>
                </a:solidFill>
                <a:latin typeface="Calibri"/>
                <a:ea typeface="Calibri"/>
                <a:cs typeface="Calibri"/>
                <a:sym typeface="Calibri"/>
              </a:rPr>
              <a:t>04 / 15</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18"/>
        </a:solidFill>
      </p:bgPr>
    </p:bg>
    <p:spTree>
      <p:nvGrpSpPr>
        <p:cNvPr id="128" name="Shape 128"/>
        <p:cNvGrpSpPr/>
        <p:nvPr/>
      </p:nvGrpSpPr>
      <p:grpSpPr>
        <a:xfrm>
          <a:off x="0" y="0"/>
          <a:ext cx="0" cy="0"/>
          <a:chOff x="0" y="0"/>
          <a:chExt cx="0" cy="0"/>
        </a:xfrm>
      </p:grpSpPr>
      <p:sp>
        <p:nvSpPr>
          <p:cNvPr id="129" name="Google Shape;129;p7"/>
          <p:cNvSpPr txBox="1"/>
          <p:nvPr/>
        </p:nvSpPr>
        <p:spPr>
          <a:xfrm>
            <a:off x="640080" y="411480"/>
            <a:ext cx="10881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0AA"/>
              </a:buClr>
              <a:buSzPts val="1200"/>
              <a:buFont typeface="Calibri"/>
              <a:buNone/>
            </a:pPr>
            <a:r>
              <a:rPr b="1" lang="en-US" sz="1200">
                <a:solidFill>
                  <a:srgbClr val="8FA0AA"/>
                </a:solidFill>
                <a:latin typeface="Calibri"/>
                <a:ea typeface="Calibri"/>
                <a:cs typeface="Calibri"/>
                <a:sym typeface="Calibri"/>
              </a:rPr>
              <a:t>04  ·  RESEARCH GAP</a:t>
            </a:r>
            <a:endParaRPr sz="1200">
              <a:solidFill>
                <a:schemeClr val="dk1"/>
              </a:solidFill>
              <a:latin typeface="Calibri"/>
              <a:ea typeface="Calibri"/>
              <a:cs typeface="Calibri"/>
              <a:sym typeface="Calibri"/>
            </a:endParaRPr>
          </a:p>
        </p:txBody>
      </p:sp>
      <p:sp>
        <p:nvSpPr>
          <p:cNvPr id="130" name="Google Shape;130;p7"/>
          <p:cNvSpPr txBox="1"/>
          <p:nvPr/>
        </p:nvSpPr>
        <p:spPr>
          <a:xfrm>
            <a:off x="640080" y="694944"/>
            <a:ext cx="1088136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3300"/>
              <a:buFont typeface="Cambria"/>
              <a:buNone/>
            </a:pPr>
            <a:r>
              <a:rPr b="1" lang="en-US" sz="3300">
                <a:solidFill>
                  <a:srgbClr val="F5F8F9"/>
                </a:solidFill>
                <a:latin typeface="Cambria"/>
                <a:ea typeface="Cambria"/>
                <a:cs typeface="Cambria"/>
                <a:sym typeface="Cambria"/>
              </a:rPr>
              <a:t>What the reviewed systems do not do</a:t>
            </a:r>
            <a:endParaRPr sz="3300">
              <a:solidFill>
                <a:schemeClr val="dk1"/>
              </a:solidFill>
              <a:latin typeface="Calibri"/>
              <a:ea typeface="Calibri"/>
              <a:cs typeface="Calibri"/>
              <a:sym typeface="Calibri"/>
            </a:endParaRPr>
          </a:p>
        </p:txBody>
      </p:sp>
      <p:sp>
        <p:nvSpPr>
          <p:cNvPr id="131" name="Google Shape;131;p7"/>
          <p:cNvSpPr/>
          <p:nvPr/>
        </p:nvSpPr>
        <p:spPr>
          <a:xfrm>
            <a:off x="640080" y="1536192"/>
            <a:ext cx="10881360" cy="1060704"/>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7"/>
          <p:cNvSpPr txBox="1"/>
          <p:nvPr/>
        </p:nvSpPr>
        <p:spPr>
          <a:xfrm>
            <a:off x="960120" y="1682496"/>
            <a:ext cx="4206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00"/>
              <a:buFont typeface="Cambria"/>
              <a:buNone/>
            </a:pPr>
            <a:r>
              <a:rPr b="1" lang="en-US" sz="1400">
                <a:solidFill>
                  <a:srgbClr val="F5F8F9"/>
                </a:solidFill>
                <a:latin typeface="Cambria"/>
                <a:ea typeface="Cambria"/>
                <a:cs typeface="Cambria"/>
                <a:sym typeface="Cambria"/>
              </a:rPr>
              <a:t>Accuracy ceiling of classical methods</a:t>
            </a:r>
            <a:endParaRPr sz="1400">
              <a:solidFill>
                <a:schemeClr val="dk1"/>
              </a:solidFill>
              <a:latin typeface="Calibri"/>
              <a:ea typeface="Calibri"/>
              <a:cs typeface="Calibri"/>
              <a:sym typeface="Calibri"/>
            </a:endParaRPr>
          </a:p>
        </p:txBody>
      </p:sp>
      <p:sp>
        <p:nvSpPr>
          <p:cNvPr id="133" name="Google Shape;133;p7"/>
          <p:cNvSpPr txBox="1"/>
          <p:nvPr/>
        </p:nvSpPr>
        <p:spPr>
          <a:xfrm>
            <a:off x="4640074" y="1682500"/>
            <a:ext cx="4915500" cy="8229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450">
                <a:solidFill>
                  <a:srgbClr val="C3CED4"/>
                </a:solidFill>
                <a:latin typeface="Calibri"/>
                <a:ea typeface="Calibri"/>
                <a:cs typeface="Calibri"/>
                <a:sym typeface="Calibri"/>
              </a:rPr>
              <a:t>Three of the five reviewed systems rely on Haar with PCA or LBPH. P4’s own review reports roughly 95% for CNN approaches against 70–90% for Eigenface.</a:t>
            </a:r>
            <a:endParaRPr sz="1450">
              <a:solidFill>
                <a:schemeClr val="dk1"/>
              </a:solidFill>
              <a:latin typeface="Calibri"/>
              <a:ea typeface="Calibri"/>
              <a:cs typeface="Calibri"/>
              <a:sym typeface="Calibri"/>
            </a:endParaRPr>
          </a:p>
        </p:txBody>
      </p:sp>
      <p:sp>
        <p:nvSpPr>
          <p:cNvPr id="134" name="Google Shape;134;p7"/>
          <p:cNvSpPr/>
          <p:nvPr/>
        </p:nvSpPr>
        <p:spPr>
          <a:xfrm>
            <a:off x="9784080" y="1901952"/>
            <a:ext cx="1463040" cy="329184"/>
          </a:xfrm>
          <a:prstGeom prst="roundRect">
            <a:avLst>
              <a:gd fmla="val 50000" name="adj"/>
            </a:avLst>
          </a:prstGeom>
          <a:solidFill>
            <a:srgbClr val="2FAE7A"/>
          </a:solidFill>
          <a:ln cap="flat" cmpd="sng" w="12700">
            <a:solidFill>
              <a:srgbClr val="2FAE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7"/>
          <p:cNvSpPr txBox="1"/>
          <p:nvPr/>
        </p:nvSpPr>
        <p:spPr>
          <a:xfrm>
            <a:off x="9784080" y="1956816"/>
            <a:ext cx="14630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300">
                <a:solidFill>
                  <a:srgbClr val="FFFFFF"/>
                </a:solidFill>
                <a:latin typeface="Calibri"/>
                <a:ea typeface="Calibri"/>
                <a:cs typeface="Calibri"/>
                <a:sym typeface="Calibri"/>
              </a:rPr>
              <a:t>Addressed in 499A</a:t>
            </a:r>
            <a:endParaRPr sz="1300">
              <a:solidFill>
                <a:schemeClr val="dk1"/>
              </a:solidFill>
              <a:latin typeface="Calibri"/>
              <a:ea typeface="Calibri"/>
              <a:cs typeface="Calibri"/>
              <a:sym typeface="Calibri"/>
            </a:endParaRPr>
          </a:p>
        </p:txBody>
      </p:sp>
      <p:sp>
        <p:nvSpPr>
          <p:cNvPr id="136" name="Google Shape;136;p7"/>
          <p:cNvSpPr/>
          <p:nvPr/>
        </p:nvSpPr>
        <p:spPr>
          <a:xfrm>
            <a:off x="640080" y="2688336"/>
            <a:ext cx="10881360" cy="1060704"/>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7"/>
          <p:cNvSpPr txBox="1"/>
          <p:nvPr/>
        </p:nvSpPr>
        <p:spPr>
          <a:xfrm>
            <a:off x="960120" y="2834640"/>
            <a:ext cx="4206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00"/>
              <a:buFont typeface="Cambria"/>
              <a:buNone/>
            </a:pPr>
            <a:r>
              <a:rPr b="1" lang="en-US" sz="1400">
                <a:solidFill>
                  <a:srgbClr val="F5F8F9"/>
                </a:solidFill>
                <a:latin typeface="Cambria"/>
                <a:ea typeface="Cambria"/>
                <a:cs typeface="Cambria"/>
                <a:sym typeface="Cambria"/>
              </a:rPr>
              <a:t>Attendance recorded, absence inferred</a:t>
            </a:r>
            <a:endParaRPr sz="1400">
              <a:solidFill>
                <a:schemeClr val="dk1"/>
              </a:solidFill>
              <a:latin typeface="Calibri"/>
              <a:ea typeface="Calibri"/>
              <a:cs typeface="Calibri"/>
              <a:sym typeface="Calibri"/>
            </a:endParaRPr>
          </a:p>
        </p:txBody>
      </p:sp>
      <p:sp>
        <p:nvSpPr>
          <p:cNvPr id="138" name="Google Shape;138;p7"/>
          <p:cNvSpPr txBox="1"/>
          <p:nvPr/>
        </p:nvSpPr>
        <p:spPr>
          <a:xfrm>
            <a:off x="4640074" y="2834646"/>
            <a:ext cx="4915500" cy="8229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450">
                <a:solidFill>
                  <a:srgbClr val="C3CED4"/>
                </a:solidFill>
                <a:latin typeface="Calibri"/>
                <a:ea typeface="Calibri"/>
                <a:cs typeface="Calibri"/>
                <a:sym typeface="Calibri"/>
              </a:rPr>
              <a:t>Every reviewed system marks who was recognised. None computes who is missing against a course roster, so the register is never complete from one photograph.</a:t>
            </a:r>
            <a:endParaRPr sz="1450">
              <a:solidFill>
                <a:schemeClr val="dk1"/>
              </a:solidFill>
              <a:latin typeface="Calibri"/>
              <a:ea typeface="Calibri"/>
              <a:cs typeface="Calibri"/>
              <a:sym typeface="Calibri"/>
            </a:endParaRPr>
          </a:p>
        </p:txBody>
      </p:sp>
      <p:sp>
        <p:nvSpPr>
          <p:cNvPr id="139" name="Google Shape;139;p7"/>
          <p:cNvSpPr/>
          <p:nvPr/>
        </p:nvSpPr>
        <p:spPr>
          <a:xfrm>
            <a:off x="9784080" y="3054096"/>
            <a:ext cx="1463040" cy="329184"/>
          </a:xfrm>
          <a:prstGeom prst="roundRect">
            <a:avLst>
              <a:gd fmla="val 50000" name="adj"/>
            </a:avLst>
          </a:prstGeom>
          <a:solidFill>
            <a:srgbClr val="2FAE7A"/>
          </a:solidFill>
          <a:ln cap="flat" cmpd="sng" w="12700">
            <a:solidFill>
              <a:srgbClr val="2FAE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7"/>
          <p:cNvSpPr txBox="1"/>
          <p:nvPr/>
        </p:nvSpPr>
        <p:spPr>
          <a:xfrm>
            <a:off x="9784080" y="3108960"/>
            <a:ext cx="14630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300">
                <a:solidFill>
                  <a:srgbClr val="FFFFFF"/>
                </a:solidFill>
                <a:latin typeface="Calibri"/>
                <a:ea typeface="Calibri"/>
                <a:cs typeface="Calibri"/>
                <a:sym typeface="Calibri"/>
              </a:rPr>
              <a:t>Addressed in 499A</a:t>
            </a:r>
            <a:endParaRPr sz="1300">
              <a:solidFill>
                <a:schemeClr val="dk1"/>
              </a:solidFill>
              <a:latin typeface="Calibri"/>
              <a:ea typeface="Calibri"/>
              <a:cs typeface="Calibri"/>
              <a:sym typeface="Calibri"/>
            </a:endParaRPr>
          </a:p>
        </p:txBody>
      </p:sp>
      <p:sp>
        <p:nvSpPr>
          <p:cNvPr id="141" name="Google Shape;141;p7"/>
          <p:cNvSpPr/>
          <p:nvPr/>
        </p:nvSpPr>
        <p:spPr>
          <a:xfrm>
            <a:off x="640080" y="3840480"/>
            <a:ext cx="10881360" cy="1060704"/>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7"/>
          <p:cNvSpPr txBox="1"/>
          <p:nvPr/>
        </p:nvSpPr>
        <p:spPr>
          <a:xfrm>
            <a:off x="960120" y="3986784"/>
            <a:ext cx="4206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00"/>
              <a:buFont typeface="Cambria"/>
              <a:buNone/>
            </a:pPr>
            <a:r>
              <a:rPr b="1" lang="en-US" sz="1400">
                <a:solidFill>
                  <a:srgbClr val="F5F8F9"/>
                </a:solidFill>
                <a:latin typeface="Cambria"/>
                <a:ea typeface="Cambria"/>
                <a:cs typeface="Cambria"/>
                <a:sym typeface="Cambria"/>
              </a:rPr>
              <a:t>Records not queryable</a:t>
            </a:r>
            <a:endParaRPr sz="1400">
              <a:solidFill>
                <a:schemeClr val="dk1"/>
              </a:solidFill>
              <a:latin typeface="Calibri"/>
              <a:ea typeface="Calibri"/>
              <a:cs typeface="Calibri"/>
              <a:sym typeface="Calibri"/>
            </a:endParaRPr>
          </a:p>
        </p:txBody>
      </p:sp>
      <p:sp>
        <p:nvSpPr>
          <p:cNvPr id="143" name="Google Shape;143;p7"/>
          <p:cNvSpPr txBox="1"/>
          <p:nvPr/>
        </p:nvSpPr>
        <p:spPr>
          <a:xfrm>
            <a:off x="4640074" y="3986792"/>
            <a:ext cx="4915500" cy="8229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450">
                <a:solidFill>
                  <a:srgbClr val="C3CED4"/>
                </a:solidFill>
                <a:latin typeface="Calibri"/>
                <a:ea typeface="Calibri"/>
                <a:cs typeface="Calibri"/>
                <a:sym typeface="Calibri"/>
              </a:rPr>
              <a:t>Attendance is written to Excel sheets or text files. None of the reviewed systems provides a multi-user, queryable store with per-teacher isolation.</a:t>
            </a:r>
            <a:endParaRPr sz="1450">
              <a:solidFill>
                <a:schemeClr val="dk1"/>
              </a:solidFill>
              <a:latin typeface="Calibri"/>
              <a:ea typeface="Calibri"/>
              <a:cs typeface="Calibri"/>
              <a:sym typeface="Calibri"/>
            </a:endParaRPr>
          </a:p>
        </p:txBody>
      </p:sp>
      <p:sp>
        <p:nvSpPr>
          <p:cNvPr id="144" name="Google Shape;144;p7"/>
          <p:cNvSpPr/>
          <p:nvPr/>
        </p:nvSpPr>
        <p:spPr>
          <a:xfrm>
            <a:off x="9784080" y="4206240"/>
            <a:ext cx="1463040" cy="329184"/>
          </a:xfrm>
          <a:prstGeom prst="roundRect">
            <a:avLst>
              <a:gd fmla="val 50000" name="adj"/>
            </a:avLst>
          </a:prstGeom>
          <a:solidFill>
            <a:srgbClr val="2FAE7A"/>
          </a:solidFill>
          <a:ln cap="flat" cmpd="sng" w="12700">
            <a:solidFill>
              <a:srgbClr val="2FAE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7"/>
          <p:cNvSpPr txBox="1"/>
          <p:nvPr/>
        </p:nvSpPr>
        <p:spPr>
          <a:xfrm>
            <a:off x="9784080" y="4261104"/>
            <a:ext cx="14630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300">
                <a:solidFill>
                  <a:srgbClr val="FFFFFF"/>
                </a:solidFill>
                <a:latin typeface="Calibri"/>
                <a:ea typeface="Calibri"/>
                <a:cs typeface="Calibri"/>
                <a:sym typeface="Calibri"/>
              </a:rPr>
              <a:t>Addressed in 499A</a:t>
            </a:r>
            <a:endParaRPr sz="1300">
              <a:solidFill>
                <a:schemeClr val="dk1"/>
              </a:solidFill>
              <a:latin typeface="Calibri"/>
              <a:ea typeface="Calibri"/>
              <a:cs typeface="Calibri"/>
              <a:sym typeface="Calibri"/>
            </a:endParaRPr>
          </a:p>
        </p:txBody>
      </p:sp>
      <p:sp>
        <p:nvSpPr>
          <p:cNvPr id="146" name="Google Shape;146;p7"/>
          <p:cNvSpPr/>
          <p:nvPr/>
        </p:nvSpPr>
        <p:spPr>
          <a:xfrm>
            <a:off x="640080" y="4992624"/>
            <a:ext cx="10881360" cy="1060704"/>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7"/>
          <p:cNvSpPr txBox="1"/>
          <p:nvPr/>
        </p:nvSpPr>
        <p:spPr>
          <a:xfrm>
            <a:off x="960120" y="5138928"/>
            <a:ext cx="4206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00"/>
              <a:buFont typeface="Cambria"/>
              <a:buNone/>
            </a:pPr>
            <a:r>
              <a:rPr b="1" lang="en-US" sz="1400">
                <a:solidFill>
                  <a:srgbClr val="F5F8F9"/>
                </a:solidFill>
                <a:latin typeface="Cambria"/>
                <a:ea typeface="Cambria"/>
                <a:cs typeface="Cambria"/>
                <a:sym typeface="Cambria"/>
              </a:rPr>
              <a:t>No defence against spoofing</a:t>
            </a:r>
            <a:endParaRPr sz="1400">
              <a:solidFill>
                <a:schemeClr val="dk1"/>
              </a:solidFill>
              <a:latin typeface="Calibri"/>
              <a:ea typeface="Calibri"/>
              <a:cs typeface="Calibri"/>
              <a:sym typeface="Calibri"/>
            </a:endParaRPr>
          </a:p>
        </p:txBody>
      </p:sp>
      <p:sp>
        <p:nvSpPr>
          <p:cNvPr id="148" name="Google Shape;148;p7"/>
          <p:cNvSpPr txBox="1"/>
          <p:nvPr/>
        </p:nvSpPr>
        <p:spPr>
          <a:xfrm>
            <a:off x="4640074" y="5138938"/>
            <a:ext cx="4915500" cy="8229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450">
                <a:solidFill>
                  <a:srgbClr val="C3CED4"/>
                </a:solidFill>
                <a:latin typeface="Calibri"/>
                <a:ea typeface="Calibri"/>
                <a:cs typeface="Calibri"/>
                <a:sym typeface="Calibri"/>
              </a:rPr>
              <a:t>None of the five detects a photograph held to the camera, or the same identity appearing in two places. The proxy problem is named but not solved.</a:t>
            </a:r>
            <a:endParaRPr sz="1450">
              <a:solidFill>
                <a:schemeClr val="dk1"/>
              </a:solidFill>
              <a:latin typeface="Calibri"/>
              <a:ea typeface="Calibri"/>
              <a:cs typeface="Calibri"/>
              <a:sym typeface="Calibri"/>
            </a:endParaRPr>
          </a:p>
        </p:txBody>
      </p:sp>
      <p:sp>
        <p:nvSpPr>
          <p:cNvPr id="149" name="Google Shape;149;p7"/>
          <p:cNvSpPr/>
          <p:nvPr/>
        </p:nvSpPr>
        <p:spPr>
          <a:xfrm>
            <a:off x="9784080" y="5358384"/>
            <a:ext cx="1463040" cy="329184"/>
          </a:xfrm>
          <a:prstGeom prst="roundRect">
            <a:avLst>
              <a:gd fmla="val 50000" name="adj"/>
            </a:avLst>
          </a:prstGeom>
          <a:solidFill>
            <a:srgbClr val="1B242D"/>
          </a:solidFill>
          <a:ln cap="flat" cmpd="sng" w="12700">
            <a:solidFill>
              <a:srgbClr val="4A58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7"/>
          <p:cNvSpPr txBox="1"/>
          <p:nvPr/>
        </p:nvSpPr>
        <p:spPr>
          <a:xfrm>
            <a:off x="9784080" y="5413248"/>
            <a:ext cx="14630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0AA"/>
              </a:buClr>
              <a:buSzPts val="1000"/>
              <a:buFont typeface="Calibri"/>
              <a:buNone/>
            </a:pPr>
            <a:r>
              <a:rPr b="1" lang="en-US" sz="1300">
                <a:solidFill>
                  <a:srgbClr val="8FA0AA"/>
                </a:solidFill>
                <a:latin typeface="Calibri"/>
                <a:ea typeface="Calibri"/>
                <a:cs typeface="Calibri"/>
                <a:sym typeface="Calibri"/>
              </a:rPr>
              <a:t>Planned for 499B</a:t>
            </a:r>
            <a:endParaRPr sz="1300">
              <a:solidFill>
                <a:schemeClr val="dk1"/>
              </a:solidFill>
              <a:latin typeface="Calibri"/>
              <a:ea typeface="Calibri"/>
              <a:cs typeface="Calibri"/>
              <a:sym typeface="Calibri"/>
            </a:endParaRPr>
          </a:p>
        </p:txBody>
      </p:sp>
      <p:sp>
        <p:nvSpPr>
          <p:cNvPr id="151" name="Google Shape;151;p7"/>
          <p:cNvSpPr/>
          <p:nvPr/>
        </p:nvSpPr>
        <p:spPr>
          <a:xfrm>
            <a:off x="502920"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7"/>
          <p:cNvSpPr/>
          <p:nvPr/>
        </p:nvSpPr>
        <p:spPr>
          <a:xfrm>
            <a:off x="502920"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7"/>
          <p:cNvSpPr/>
          <p:nvPr/>
        </p:nvSpPr>
        <p:spPr>
          <a:xfrm>
            <a:off x="11323015"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7"/>
          <p:cNvSpPr/>
          <p:nvPr/>
        </p:nvSpPr>
        <p:spPr>
          <a:xfrm>
            <a:off x="11661343"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7"/>
          <p:cNvSpPr/>
          <p:nvPr/>
        </p:nvSpPr>
        <p:spPr>
          <a:xfrm>
            <a:off x="502920"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7"/>
          <p:cNvSpPr/>
          <p:nvPr/>
        </p:nvSpPr>
        <p:spPr>
          <a:xfrm>
            <a:off x="502920"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7"/>
          <p:cNvSpPr/>
          <p:nvPr/>
        </p:nvSpPr>
        <p:spPr>
          <a:xfrm>
            <a:off x="11323015"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7"/>
          <p:cNvSpPr/>
          <p:nvPr/>
        </p:nvSpPr>
        <p:spPr>
          <a:xfrm>
            <a:off x="11661343"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7"/>
          <p:cNvSpPr/>
          <p:nvPr/>
        </p:nvSpPr>
        <p:spPr>
          <a:xfrm>
            <a:off x="640080" y="6416040"/>
            <a:ext cx="10881360" cy="3175"/>
          </a:xfrm>
          <a:prstGeom prst="rect">
            <a:avLst/>
          </a:prstGeom>
          <a:solidFill>
            <a:srgbClr val="2A3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7"/>
          <p:cNvSpPr txBox="1"/>
          <p:nvPr/>
        </p:nvSpPr>
        <p:spPr>
          <a:xfrm>
            <a:off x="640080" y="6470000"/>
            <a:ext cx="4000000" cy="2286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900">
                <a:solidFill>
                  <a:srgbClr val="4A5860"/>
                </a:solidFill>
                <a:latin typeface="Calibri"/>
                <a:ea typeface="Calibri"/>
                <a:cs typeface="Calibri"/>
                <a:sym typeface="Calibri"/>
              </a:rPr>
              <a:t>CAMPUSEYE  ·  CSE499A</a:t>
            </a:r>
            <a:endParaRPr/>
          </a:p>
        </p:txBody>
      </p:sp>
      <p:sp>
        <p:nvSpPr>
          <p:cNvPr id="161" name="Google Shape;161;p7"/>
          <p:cNvSpPr txBox="1"/>
          <p:nvPr/>
        </p:nvSpPr>
        <p:spPr>
          <a:xfrm>
            <a:off x="9521440" y="6470000"/>
            <a:ext cx="2000000" cy="228600"/>
          </a:xfrm>
          <a:prstGeom prst="rect">
            <a:avLst/>
          </a:prstGeom>
          <a:noFill/>
          <a:ln>
            <a:noFill/>
          </a:ln>
        </p:spPr>
        <p:txBody>
          <a:bodyPr anchorCtr="0" anchor="t" bIns="45700" lIns="0" spcFirstLastPara="1" rIns="91425" wrap="square" tIns="0">
            <a:spAutoFit/>
          </a:bodyPr>
          <a:lstStyle/>
          <a:p>
            <a:pPr indent="0" lvl="0" marL="0" marR="0" rtl="0" algn="r">
              <a:spcBef>
                <a:spcPts val="0"/>
              </a:spcBef>
              <a:spcAft>
                <a:spcPts val="0"/>
              </a:spcAft>
              <a:buNone/>
            </a:pPr>
            <a:r>
              <a:rPr lang="en-US" sz="900">
                <a:solidFill>
                  <a:srgbClr val="4A5860"/>
                </a:solidFill>
                <a:latin typeface="Calibri"/>
                <a:ea typeface="Calibri"/>
                <a:cs typeface="Calibri"/>
                <a:sym typeface="Calibri"/>
              </a:rPr>
              <a:t>05 / 15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18"/>
        </a:solidFill>
      </p:bgPr>
    </p:bg>
    <p:spTree>
      <p:nvGrpSpPr>
        <p:cNvPr id="166" name="Shape 166"/>
        <p:cNvGrpSpPr/>
        <p:nvPr/>
      </p:nvGrpSpPr>
      <p:grpSpPr>
        <a:xfrm>
          <a:off x="0" y="0"/>
          <a:ext cx="0" cy="0"/>
          <a:chOff x="0" y="0"/>
          <a:chExt cx="0" cy="0"/>
        </a:xfrm>
      </p:grpSpPr>
      <p:sp>
        <p:nvSpPr>
          <p:cNvPr id="167" name="Google Shape;167;p8"/>
          <p:cNvSpPr txBox="1"/>
          <p:nvPr/>
        </p:nvSpPr>
        <p:spPr>
          <a:xfrm>
            <a:off x="640080" y="411480"/>
            <a:ext cx="10881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0AA"/>
              </a:buClr>
              <a:buSzPts val="1200"/>
              <a:buFont typeface="Calibri"/>
              <a:buNone/>
            </a:pPr>
            <a:r>
              <a:rPr b="1" lang="en-US" sz="1200">
                <a:solidFill>
                  <a:srgbClr val="8FA0AA"/>
                </a:solidFill>
                <a:latin typeface="Calibri"/>
                <a:ea typeface="Calibri"/>
                <a:cs typeface="Calibri"/>
                <a:sym typeface="Calibri"/>
              </a:rPr>
              <a:t>05  ·  METHODOLOGY</a:t>
            </a:r>
            <a:endParaRPr sz="1200">
              <a:solidFill>
                <a:schemeClr val="dk1"/>
              </a:solidFill>
              <a:latin typeface="Calibri"/>
              <a:ea typeface="Calibri"/>
              <a:cs typeface="Calibri"/>
              <a:sym typeface="Calibri"/>
            </a:endParaRPr>
          </a:p>
        </p:txBody>
      </p:sp>
      <p:sp>
        <p:nvSpPr>
          <p:cNvPr id="168" name="Google Shape;168;p8"/>
          <p:cNvSpPr txBox="1"/>
          <p:nvPr/>
        </p:nvSpPr>
        <p:spPr>
          <a:xfrm>
            <a:off x="640080" y="694944"/>
            <a:ext cx="1088136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3300"/>
              <a:buFont typeface="Cambria"/>
              <a:buNone/>
            </a:pPr>
            <a:r>
              <a:rPr b="1" lang="en-US" sz="3300">
                <a:solidFill>
                  <a:srgbClr val="F5F8F9"/>
                </a:solidFill>
                <a:latin typeface="Cambria"/>
                <a:ea typeface="Cambria"/>
                <a:cs typeface="Cambria"/>
                <a:sym typeface="Cambria"/>
              </a:rPr>
              <a:t>How the system was built and validated</a:t>
            </a:r>
            <a:endParaRPr sz="3300">
              <a:solidFill>
                <a:schemeClr val="dk1"/>
              </a:solidFill>
              <a:latin typeface="Calibri"/>
              <a:ea typeface="Calibri"/>
              <a:cs typeface="Calibri"/>
              <a:sym typeface="Calibri"/>
            </a:endParaRPr>
          </a:p>
        </p:txBody>
      </p:sp>
      <p:sp>
        <p:nvSpPr>
          <p:cNvPr id="169" name="Google Shape;169;p8"/>
          <p:cNvSpPr/>
          <p:nvPr/>
        </p:nvSpPr>
        <p:spPr>
          <a:xfrm>
            <a:off x="640080" y="1536192"/>
            <a:ext cx="2615184" cy="324612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8"/>
          <p:cNvSpPr txBox="1"/>
          <p:nvPr/>
        </p:nvSpPr>
        <p:spPr>
          <a:xfrm>
            <a:off x="914400" y="1755648"/>
            <a:ext cx="2148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B0"/>
              </a:buClr>
              <a:buSzPts val="1500"/>
              <a:buFont typeface="Cambria"/>
              <a:buNone/>
            </a:pPr>
            <a:r>
              <a:rPr b="1" lang="en-US" sz="1500">
                <a:solidFill>
                  <a:srgbClr val="5EEAB0"/>
                </a:solidFill>
                <a:latin typeface="Cambria"/>
                <a:ea typeface="Cambria"/>
                <a:cs typeface="Cambria"/>
                <a:sym typeface="Cambria"/>
              </a:rPr>
              <a:t>Detection</a:t>
            </a:r>
            <a:endParaRPr sz="1500">
              <a:solidFill>
                <a:schemeClr val="dk1"/>
              </a:solidFill>
              <a:latin typeface="Calibri"/>
              <a:ea typeface="Calibri"/>
              <a:cs typeface="Calibri"/>
              <a:sym typeface="Calibri"/>
            </a:endParaRPr>
          </a:p>
        </p:txBody>
      </p:sp>
      <p:sp>
        <p:nvSpPr>
          <p:cNvPr id="171" name="Google Shape;171;p8"/>
          <p:cNvSpPr txBox="1"/>
          <p:nvPr/>
        </p:nvSpPr>
        <p:spPr>
          <a:xfrm>
            <a:off x="914400" y="2139696"/>
            <a:ext cx="2148840" cy="123444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550">
                <a:solidFill>
                  <a:srgbClr val="C3CED4"/>
                </a:solidFill>
                <a:latin typeface="Calibri"/>
                <a:ea typeface="Calibri"/>
                <a:cs typeface="Calibri"/>
                <a:sym typeface="Calibri"/>
              </a:rPr>
              <a:t>YuNet CNN detector (ONNX), with a Haar cascade retained as a compatibility fallback.</a:t>
            </a:r>
            <a:endParaRPr sz="1550">
              <a:solidFill>
                <a:schemeClr val="dk1"/>
              </a:solidFill>
              <a:latin typeface="Calibri"/>
              <a:ea typeface="Calibri"/>
              <a:cs typeface="Calibri"/>
              <a:sym typeface="Calibri"/>
            </a:endParaRPr>
          </a:p>
        </p:txBody>
      </p:sp>
      <p:sp>
        <p:nvSpPr>
          <p:cNvPr id="172" name="Google Shape;172;p8"/>
          <p:cNvSpPr/>
          <p:nvPr/>
        </p:nvSpPr>
        <p:spPr>
          <a:xfrm>
            <a:off x="914400" y="3456432"/>
            <a:ext cx="2103120" cy="10973"/>
          </a:xfrm>
          <a:prstGeom prst="rect">
            <a:avLst/>
          </a:prstGeom>
          <a:solidFill>
            <a:srgbClr val="2A35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8"/>
          <p:cNvSpPr txBox="1"/>
          <p:nvPr/>
        </p:nvSpPr>
        <p:spPr>
          <a:xfrm>
            <a:off x="914400" y="3584448"/>
            <a:ext cx="2148840" cy="105156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8FA0AA"/>
              </a:buClr>
              <a:buSzPts val="1050"/>
              <a:buFont typeface="Calibri"/>
              <a:buNone/>
            </a:pPr>
            <a:r>
              <a:rPr i="1" lang="en-US" sz="1450">
                <a:solidFill>
                  <a:srgbClr val="8FA0AA"/>
                </a:solidFill>
                <a:latin typeface="Calibri"/>
                <a:ea typeface="Calibri"/>
                <a:cs typeface="Calibri"/>
                <a:sym typeface="Calibri"/>
              </a:rPr>
              <a:t>Chosen over Haar-only after P3 and P4 showed its sensitivity to pose and lighting.</a:t>
            </a:r>
            <a:endParaRPr sz="1450">
              <a:solidFill>
                <a:schemeClr val="dk1"/>
              </a:solidFill>
              <a:latin typeface="Calibri"/>
              <a:ea typeface="Calibri"/>
              <a:cs typeface="Calibri"/>
              <a:sym typeface="Calibri"/>
            </a:endParaRPr>
          </a:p>
        </p:txBody>
      </p:sp>
      <p:sp>
        <p:nvSpPr>
          <p:cNvPr id="174" name="Google Shape;174;p8"/>
          <p:cNvSpPr/>
          <p:nvPr/>
        </p:nvSpPr>
        <p:spPr>
          <a:xfrm>
            <a:off x="3401568" y="1536192"/>
            <a:ext cx="2615184" cy="324612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8"/>
          <p:cNvSpPr txBox="1"/>
          <p:nvPr/>
        </p:nvSpPr>
        <p:spPr>
          <a:xfrm>
            <a:off x="3675888" y="1755648"/>
            <a:ext cx="2148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B0"/>
              </a:buClr>
              <a:buSzPts val="1500"/>
              <a:buFont typeface="Cambria"/>
              <a:buNone/>
            </a:pPr>
            <a:r>
              <a:rPr b="1" lang="en-US" sz="1500">
                <a:solidFill>
                  <a:srgbClr val="5EEAB0"/>
                </a:solidFill>
                <a:latin typeface="Cambria"/>
                <a:ea typeface="Cambria"/>
                <a:cs typeface="Cambria"/>
                <a:sym typeface="Cambria"/>
              </a:rPr>
              <a:t>Recognition</a:t>
            </a:r>
            <a:endParaRPr sz="1500">
              <a:solidFill>
                <a:schemeClr val="dk1"/>
              </a:solidFill>
              <a:latin typeface="Calibri"/>
              <a:ea typeface="Calibri"/>
              <a:cs typeface="Calibri"/>
              <a:sym typeface="Calibri"/>
            </a:endParaRPr>
          </a:p>
        </p:txBody>
      </p:sp>
      <p:sp>
        <p:nvSpPr>
          <p:cNvPr id="176" name="Google Shape;176;p8"/>
          <p:cNvSpPr txBox="1"/>
          <p:nvPr/>
        </p:nvSpPr>
        <p:spPr>
          <a:xfrm>
            <a:off x="3675888" y="2139696"/>
            <a:ext cx="2148840" cy="123444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550">
                <a:solidFill>
                  <a:srgbClr val="C3CED4"/>
                </a:solidFill>
                <a:latin typeface="Calibri"/>
                <a:ea typeface="Calibri"/>
                <a:cs typeface="Calibri"/>
                <a:sym typeface="Calibri"/>
              </a:rPr>
              <a:t>DeepFace with the Facenet model, producing a 128-dimensional embedding per face.</a:t>
            </a:r>
            <a:endParaRPr sz="1550">
              <a:solidFill>
                <a:schemeClr val="dk1"/>
              </a:solidFill>
              <a:latin typeface="Calibri"/>
              <a:ea typeface="Calibri"/>
              <a:cs typeface="Calibri"/>
              <a:sym typeface="Calibri"/>
            </a:endParaRPr>
          </a:p>
        </p:txBody>
      </p:sp>
      <p:sp>
        <p:nvSpPr>
          <p:cNvPr id="177" name="Google Shape;177;p8"/>
          <p:cNvSpPr/>
          <p:nvPr/>
        </p:nvSpPr>
        <p:spPr>
          <a:xfrm>
            <a:off x="3675888" y="3456432"/>
            <a:ext cx="2103120" cy="10973"/>
          </a:xfrm>
          <a:prstGeom prst="rect">
            <a:avLst/>
          </a:prstGeom>
          <a:solidFill>
            <a:srgbClr val="2A35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8"/>
          <p:cNvSpPr txBox="1"/>
          <p:nvPr/>
        </p:nvSpPr>
        <p:spPr>
          <a:xfrm>
            <a:off x="3675888" y="3584448"/>
            <a:ext cx="2148840" cy="105156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8FA0AA"/>
              </a:buClr>
              <a:buSzPts val="1050"/>
              <a:buFont typeface="Calibri"/>
              <a:buNone/>
            </a:pPr>
            <a:r>
              <a:rPr i="1" lang="en-US" sz="1450">
                <a:solidFill>
                  <a:srgbClr val="8FA0AA"/>
                </a:solidFill>
                <a:latin typeface="Calibri"/>
                <a:ea typeface="Calibri"/>
                <a:cs typeface="Calibri"/>
                <a:sym typeface="Calibri"/>
              </a:rPr>
              <a:t>Follows P1’s LBPH-vs-CNN conclusion and P4’s reported accuracy figures.</a:t>
            </a:r>
            <a:endParaRPr sz="1450">
              <a:solidFill>
                <a:schemeClr val="dk1"/>
              </a:solidFill>
              <a:latin typeface="Calibri"/>
              <a:ea typeface="Calibri"/>
              <a:cs typeface="Calibri"/>
              <a:sym typeface="Calibri"/>
            </a:endParaRPr>
          </a:p>
        </p:txBody>
      </p:sp>
      <p:sp>
        <p:nvSpPr>
          <p:cNvPr id="179" name="Google Shape;179;p8"/>
          <p:cNvSpPr/>
          <p:nvPr/>
        </p:nvSpPr>
        <p:spPr>
          <a:xfrm>
            <a:off x="6163056" y="1536192"/>
            <a:ext cx="2615184" cy="324612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8"/>
          <p:cNvSpPr txBox="1"/>
          <p:nvPr/>
        </p:nvSpPr>
        <p:spPr>
          <a:xfrm>
            <a:off x="6437376" y="1755648"/>
            <a:ext cx="2148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B0"/>
              </a:buClr>
              <a:buSzPts val="1500"/>
              <a:buFont typeface="Cambria"/>
              <a:buNone/>
            </a:pPr>
            <a:r>
              <a:rPr b="1" lang="en-US" sz="1500">
                <a:solidFill>
                  <a:srgbClr val="5EEAB0"/>
                </a:solidFill>
                <a:latin typeface="Cambria"/>
                <a:ea typeface="Cambria"/>
                <a:cs typeface="Cambria"/>
                <a:sym typeface="Cambria"/>
              </a:rPr>
              <a:t>Matching</a:t>
            </a:r>
            <a:endParaRPr sz="1500">
              <a:solidFill>
                <a:schemeClr val="dk1"/>
              </a:solidFill>
              <a:latin typeface="Calibri"/>
              <a:ea typeface="Calibri"/>
              <a:cs typeface="Calibri"/>
              <a:sym typeface="Calibri"/>
            </a:endParaRPr>
          </a:p>
        </p:txBody>
      </p:sp>
      <p:sp>
        <p:nvSpPr>
          <p:cNvPr id="181" name="Google Shape;181;p8"/>
          <p:cNvSpPr txBox="1"/>
          <p:nvPr/>
        </p:nvSpPr>
        <p:spPr>
          <a:xfrm>
            <a:off x="6437376" y="2139696"/>
            <a:ext cx="2148840" cy="123444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550">
                <a:solidFill>
                  <a:srgbClr val="C3CED4"/>
                </a:solidFill>
                <a:latin typeface="Calibri"/>
                <a:ea typeface="Calibri"/>
                <a:cs typeface="Calibri"/>
                <a:sym typeface="Calibri"/>
              </a:rPr>
              <a:t>Cosine distance against every enrolled template; a match is accepted at or below 0.6.</a:t>
            </a:r>
            <a:endParaRPr sz="1550">
              <a:solidFill>
                <a:schemeClr val="dk1"/>
              </a:solidFill>
              <a:latin typeface="Calibri"/>
              <a:ea typeface="Calibri"/>
              <a:cs typeface="Calibri"/>
              <a:sym typeface="Calibri"/>
            </a:endParaRPr>
          </a:p>
        </p:txBody>
      </p:sp>
      <p:sp>
        <p:nvSpPr>
          <p:cNvPr id="182" name="Google Shape;182;p8"/>
          <p:cNvSpPr/>
          <p:nvPr/>
        </p:nvSpPr>
        <p:spPr>
          <a:xfrm>
            <a:off x="6437376" y="3456432"/>
            <a:ext cx="2103120" cy="10973"/>
          </a:xfrm>
          <a:prstGeom prst="rect">
            <a:avLst/>
          </a:prstGeom>
          <a:solidFill>
            <a:srgbClr val="2A35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8"/>
          <p:cNvSpPr txBox="1"/>
          <p:nvPr/>
        </p:nvSpPr>
        <p:spPr>
          <a:xfrm>
            <a:off x="6437376" y="3584448"/>
            <a:ext cx="2148840" cy="105156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8FA0AA"/>
              </a:buClr>
              <a:buSzPts val="1050"/>
              <a:buFont typeface="Calibri"/>
              <a:buNone/>
            </a:pPr>
            <a:r>
              <a:rPr i="1" lang="en-US" sz="1450">
                <a:solidFill>
                  <a:srgbClr val="8FA0AA"/>
                </a:solidFill>
                <a:latin typeface="Calibri"/>
                <a:ea typeface="Calibri"/>
                <a:cs typeface="Calibri"/>
                <a:sym typeface="Calibri"/>
              </a:rPr>
              <a:t>Adapted from P5, recalibrated for Facenet’s 128-d space rather than ArcFace’s 512-d.</a:t>
            </a:r>
            <a:endParaRPr sz="1450">
              <a:solidFill>
                <a:schemeClr val="dk1"/>
              </a:solidFill>
              <a:latin typeface="Calibri"/>
              <a:ea typeface="Calibri"/>
              <a:cs typeface="Calibri"/>
              <a:sym typeface="Calibri"/>
            </a:endParaRPr>
          </a:p>
        </p:txBody>
      </p:sp>
      <p:sp>
        <p:nvSpPr>
          <p:cNvPr id="184" name="Google Shape;184;p8"/>
          <p:cNvSpPr/>
          <p:nvPr/>
        </p:nvSpPr>
        <p:spPr>
          <a:xfrm>
            <a:off x="8924544" y="1536192"/>
            <a:ext cx="2615184" cy="324612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8"/>
          <p:cNvSpPr txBox="1"/>
          <p:nvPr/>
        </p:nvSpPr>
        <p:spPr>
          <a:xfrm>
            <a:off x="9198864" y="1755648"/>
            <a:ext cx="2148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B0"/>
              </a:buClr>
              <a:buSzPts val="1500"/>
              <a:buFont typeface="Cambria"/>
              <a:buNone/>
            </a:pPr>
            <a:r>
              <a:rPr b="1" lang="en-US" sz="1500">
                <a:solidFill>
                  <a:srgbClr val="5EEAB0"/>
                </a:solidFill>
                <a:latin typeface="Cambria"/>
                <a:ea typeface="Cambria"/>
                <a:cs typeface="Cambria"/>
                <a:sym typeface="Cambria"/>
              </a:rPr>
              <a:t>Enrolment</a:t>
            </a:r>
            <a:endParaRPr sz="1500">
              <a:solidFill>
                <a:schemeClr val="dk1"/>
              </a:solidFill>
              <a:latin typeface="Calibri"/>
              <a:ea typeface="Calibri"/>
              <a:cs typeface="Calibri"/>
              <a:sym typeface="Calibri"/>
            </a:endParaRPr>
          </a:p>
        </p:txBody>
      </p:sp>
      <p:sp>
        <p:nvSpPr>
          <p:cNvPr id="186" name="Google Shape;186;p8"/>
          <p:cNvSpPr txBox="1"/>
          <p:nvPr/>
        </p:nvSpPr>
        <p:spPr>
          <a:xfrm>
            <a:off x="9198864" y="2139696"/>
            <a:ext cx="2148840" cy="123444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550">
                <a:solidFill>
                  <a:srgbClr val="C3CED4"/>
                </a:solidFill>
                <a:latin typeface="Calibri"/>
                <a:ea typeface="Calibri"/>
                <a:cs typeface="Calibri"/>
                <a:sym typeface="Calibri"/>
              </a:rPr>
              <a:t>Ten photographs per student, averaged into one template.</a:t>
            </a:r>
            <a:endParaRPr sz="1550">
              <a:solidFill>
                <a:schemeClr val="dk1"/>
              </a:solidFill>
              <a:latin typeface="Calibri"/>
              <a:ea typeface="Calibri"/>
              <a:cs typeface="Calibri"/>
              <a:sym typeface="Calibri"/>
            </a:endParaRPr>
          </a:p>
        </p:txBody>
      </p:sp>
      <p:sp>
        <p:nvSpPr>
          <p:cNvPr id="187" name="Google Shape;187;p8"/>
          <p:cNvSpPr/>
          <p:nvPr/>
        </p:nvSpPr>
        <p:spPr>
          <a:xfrm>
            <a:off x="9198864" y="3456432"/>
            <a:ext cx="2103120" cy="10973"/>
          </a:xfrm>
          <a:prstGeom prst="rect">
            <a:avLst/>
          </a:prstGeom>
          <a:solidFill>
            <a:srgbClr val="2A35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8"/>
          <p:cNvSpPr txBox="1"/>
          <p:nvPr/>
        </p:nvSpPr>
        <p:spPr>
          <a:xfrm>
            <a:off x="9198864" y="3584448"/>
            <a:ext cx="2148840" cy="105156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8FA0AA"/>
              </a:buClr>
              <a:buSzPts val="1050"/>
              <a:buFont typeface="Calibri"/>
              <a:buNone/>
            </a:pPr>
            <a:r>
              <a:rPr i="1" lang="en-US" sz="1450">
                <a:solidFill>
                  <a:srgbClr val="8FA0AA"/>
                </a:solidFill>
                <a:latin typeface="Calibri"/>
                <a:ea typeface="Calibri"/>
                <a:cs typeface="Calibri"/>
                <a:sym typeface="Calibri"/>
              </a:rPr>
              <a:t>Extends P5’s multi-sample capture, which does not combine the samples.</a:t>
            </a:r>
            <a:endParaRPr sz="1450">
              <a:solidFill>
                <a:schemeClr val="dk1"/>
              </a:solidFill>
              <a:latin typeface="Calibri"/>
              <a:ea typeface="Calibri"/>
              <a:cs typeface="Calibri"/>
              <a:sym typeface="Calibri"/>
            </a:endParaRPr>
          </a:p>
        </p:txBody>
      </p:sp>
      <p:sp>
        <p:nvSpPr>
          <p:cNvPr id="189" name="Google Shape;189;p8"/>
          <p:cNvSpPr txBox="1"/>
          <p:nvPr/>
        </p:nvSpPr>
        <p:spPr>
          <a:xfrm>
            <a:off x="640080" y="5074920"/>
            <a:ext cx="10881360" cy="64008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F5F8F9"/>
              </a:buClr>
              <a:buSzPts val="1300"/>
              <a:buFont typeface="Calibri"/>
              <a:buNone/>
            </a:pPr>
            <a:r>
              <a:rPr b="1" lang="en-US" sz="1600">
                <a:solidFill>
                  <a:srgbClr val="F5F8F9"/>
                </a:solidFill>
                <a:latin typeface="Calibri"/>
                <a:ea typeface="Calibri"/>
                <a:cs typeface="Calibri"/>
                <a:sym typeface="Calibri"/>
              </a:rPr>
              <a:t>Validation.  </a:t>
            </a:r>
            <a:r>
              <a:rPr lang="en-US" sz="1600">
                <a:solidFill>
                  <a:srgbClr val="C3CED4"/>
                </a:solidFill>
                <a:latin typeface="Calibri"/>
                <a:ea typeface="Calibri"/>
                <a:cs typeface="Calibri"/>
                <a:sym typeface="Calibri"/>
              </a:rPr>
              <a:t>Development followed weekly milestones, each with a written acceptance criterion. Every module is covered by an automated test suite, and the final milestone was verified end to end through the HTTP API rather than in unit tests alone.</a:t>
            </a:r>
            <a:endParaRPr sz="1600">
              <a:solidFill>
                <a:schemeClr val="dk1"/>
              </a:solidFill>
              <a:latin typeface="Calibri"/>
              <a:ea typeface="Calibri"/>
              <a:cs typeface="Calibri"/>
              <a:sym typeface="Calibri"/>
            </a:endParaRPr>
          </a:p>
        </p:txBody>
      </p:sp>
      <p:sp>
        <p:nvSpPr>
          <p:cNvPr id="190" name="Google Shape;190;p8"/>
          <p:cNvSpPr/>
          <p:nvPr/>
        </p:nvSpPr>
        <p:spPr>
          <a:xfrm>
            <a:off x="502920"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8"/>
          <p:cNvSpPr/>
          <p:nvPr/>
        </p:nvSpPr>
        <p:spPr>
          <a:xfrm>
            <a:off x="502920"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8"/>
          <p:cNvSpPr/>
          <p:nvPr/>
        </p:nvSpPr>
        <p:spPr>
          <a:xfrm>
            <a:off x="11323015"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8"/>
          <p:cNvSpPr/>
          <p:nvPr/>
        </p:nvSpPr>
        <p:spPr>
          <a:xfrm>
            <a:off x="11661343"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8"/>
          <p:cNvSpPr/>
          <p:nvPr/>
        </p:nvSpPr>
        <p:spPr>
          <a:xfrm>
            <a:off x="502920"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8"/>
          <p:cNvSpPr/>
          <p:nvPr/>
        </p:nvSpPr>
        <p:spPr>
          <a:xfrm>
            <a:off x="502920"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8"/>
          <p:cNvSpPr/>
          <p:nvPr/>
        </p:nvSpPr>
        <p:spPr>
          <a:xfrm>
            <a:off x="11323015"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8"/>
          <p:cNvSpPr/>
          <p:nvPr/>
        </p:nvSpPr>
        <p:spPr>
          <a:xfrm>
            <a:off x="11661343"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8"/>
          <p:cNvSpPr/>
          <p:nvPr/>
        </p:nvSpPr>
        <p:spPr>
          <a:xfrm>
            <a:off x="640080" y="6416040"/>
            <a:ext cx="10881360" cy="3175"/>
          </a:xfrm>
          <a:prstGeom prst="rect">
            <a:avLst/>
          </a:prstGeom>
          <a:solidFill>
            <a:srgbClr val="2A3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8"/>
          <p:cNvSpPr txBox="1"/>
          <p:nvPr/>
        </p:nvSpPr>
        <p:spPr>
          <a:xfrm>
            <a:off x="640080" y="6470000"/>
            <a:ext cx="4000000" cy="2286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900">
                <a:solidFill>
                  <a:srgbClr val="4A5860"/>
                </a:solidFill>
                <a:latin typeface="Calibri"/>
                <a:ea typeface="Calibri"/>
                <a:cs typeface="Calibri"/>
                <a:sym typeface="Calibri"/>
              </a:rPr>
              <a:t>CAMPUSEYE  ·  CSE499A</a:t>
            </a:r>
            <a:endParaRPr/>
          </a:p>
        </p:txBody>
      </p:sp>
      <p:sp>
        <p:nvSpPr>
          <p:cNvPr id="200" name="Google Shape;200;p8"/>
          <p:cNvSpPr txBox="1"/>
          <p:nvPr/>
        </p:nvSpPr>
        <p:spPr>
          <a:xfrm>
            <a:off x="9521440" y="6470000"/>
            <a:ext cx="2000000" cy="228600"/>
          </a:xfrm>
          <a:prstGeom prst="rect">
            <a:avLst/>
          </a:prstGeom>
          <a:noFill/>
          <a:ln>
            <a:noFill/>
          </a:ln>
        </p:spPr>
        <p:txBody>
          <a:bodyPr anchorCtr="0" anchor="t" bIns="45700" lIns="0" spcFirstLastPara="1" rIns="91425" wrap="square" tIns="0">
            <a:spAutoFit/>
          </a:bodyPr>
          <a:lstStyle/>
          <a:p>
            <a:pPr indent="0" lvl="0" marL="0" marR="0" rtl="0" algn="r">
              <a:spcBef>
                <a:spcPts val="0"/>
              </a:spcBef>
              <a:spcAft>
                <a:spcPts val="0"/>
              </a:spcAft>
              <a:buNone/>
            </a:pPr>
            <a:r>
              <a:rPr lang="en-US" sz="900">
                <a:solidFill>
                  <a:srgbClr val="4A5860"/>
                </a:solidFill>
                <a:latin typeface="Calibri"/>
                <a:ea typeface="Calibri"/>
                <a:cs typeface="Calibri"/>
                <a:sym typeface="Calibri"/>
              </a:rPr>
              <a:t>06 / 15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18"/>
        </a:solidFill>
      </p:bgPr>
    </p:bg>
    <p:spTree>
      <p:nvGrpSpPr>
        <p:cNvPr id="205" name="Shape 205"/>
        <p:cNvGrpSpPr/>
        <p:nvPr/>
      </p:nvGrpSpPr>
      <p:grpSpPr>
        <a:xfrm>
          <a:off x="0" y="0"/>
          <a:ext cx="0" cy="0"/>
          <a:chOff x="0" y="0"/>
          <a:chExt cx="0" cy="0"/>
        </a:xfrm>
      </p:grpSpPr>
      <p:sp>
        <p:nvSpPr>
          <p:cNvPr id="206" name="Google Shape;206;p9"/>
          <p:cNvSpPr txBox="1"/>
          <p:nvPr/>
        </p:nvSpPr>
        <p:spPr>
          <a:xfrm>
            <a:off x="640080" y="411480"/>
            <a:ext cx="10881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0AA"/>
              </a:buClr>
              <a:buSzPts val="1200"/>
              <a:buFont typeface="Calibri"/>
              <a:buNone/>
            </a:pPr>
            <a:r>
              <a:rPr b="1" lang="en-US" sz="1200">
                <a:solidFill>
                  <a:srgbClr val="8FA0AA"/>
                </a:solidFill>
                <a:latin typeface="Calibri"/>
                <a:ea typeface="Calibri"/>
                <a:cs typeface="Calibri"/>
                <a:sym typeface="Calibri"/>
              </a:rPr>
              <a:t>06  ·  SYSTEM DESIGN</a:t>
            </a:r>
            <a:endParaRPr sz="1200">
              <a:solidFill>
                <a:schemeClr val="dk1"/>
              </a:solidFill>
              <a:latin typeface="Calibri"/>
              <a:ea typeface="Calibri"/>
              <a:cs typeface="Calibri"/>
              <a:sym typeface="Calibri"/>
            </a:endParaRPr>
          </a:p>
        </p:txBody>
      </p:sp>
      <p:sp>
        <p:nvSpPr>
          <p:cNvPr id="207" name="Google Shape;207;p9"/>
          <p:cNvSpPr txBox="1"/>
          <p:nvPr/>
        </p:nvSpPr>
        <p:spPr>
          <a:xfrm>
            <a:off x="640080" y="694944"/>
            <a:ext cx="1088136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3300"/>
              <a:buFont typeface="Cambria"/>
              <a:buNone/>
            </a:pPr>
            <a:r>
              <a:rPr b="1" lang="en-US" sz="3300">
                <a:solidFill>
                  <a:srgbClr val="F5F8F9"/>
                </a:solidFill>
                <a:latin typeface="Cambria"/>
                <a:ea typeface="Cambria"/>
                <a:cs typeface="Cambria"/>
                <a:sym typeface="Cambria"/>
              </a:rPr>
              <a:t>One pipeline, two uses</a:t>
            </a:r>
            <a:endParaRPr sz="3300">
              <a:solidFill>
                <a:schemeClr val="dk1"/>
              </a:solidFill>
              <a:latin typeface="Calibri"/>
              <a:ea typeface="Calibri"/>
              <a:cs typeface="Calibri"/>
              <a:sym typeface="Calibri"/>
            </a:endParaRPr>
          </a:p>
        </p:txBody>
      </p:sp>
      <p:sp>
        <p:nvSpPr>
          <p:cNvPr id="208" name="Google Shape;208;p9"/>
          <p:cNvSpPr txBox="1"/>
          <p:nvPr/>
        </p:nvSpPr>
        <p:spPr>
          <a:xfrm>
            <a:off x="640080" y="1371600"/>
            <a:ext cx="10881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3CED4"/>
              </a:buClr>
              <a:buSzPts val="1300"/>
              <a:buFont typeface="Calibri"/>
              <a:buNone/>
            </a:pPr>
            <a:r>
              <a:rPr lang="en-US">
                <a:solidFill>
                  <a:srgbClr val="C3CED4"/>
                </a:solidFill>
                <a:latin typeface="Calibri"/>
                <a:ea typeface="Calibri"/>
                <a:cs typeface="Calibri"/>
                <a:sym typeface="Calibri"/>
              </a:rPr>
              <a:t>Enrolment and attendance are the same pipeline. They share detection and embedding, and diverge only in what happens to the resulting vector.</a:t>
            </a:r>
            <a:endParaRPr>
              <a:solidFill>
                <a:schemeClr val="dk1"/>
              </a:solidFill>
              <a:latin typeface="Calibri"/>
              <a:ea typeface="Calibri"/>
              <a:cs typeface="Calibri"/>
              <a:sym typeface="Calibri"/>
            </a:endParaRPr>
          </a:p>
        </p:txBody>
      </p:sp>
      <p:sp>
        <p:nvSpPr>
          <p:cNvPr id="209" name="Google Shape;209;p9"/>
          <p:cNvSpPr/>
          <p:nvPr/>
        </p:nvSpPr>
        <p:spPr>
          <a:xfrm>
            <a:off x="1051560" y="1920240"/>
            <a:ext cx="3291840" cy="548640"/>
          </a:xfrm>
          <a:prstGeom prst="rect">
            <a:avLst/>
          </a:prstGeom>
          <a:solidFill>
            <a:srgbClr val="1B242D"/>
          </a:solidFill>
          <a:ln cap="flat" cmpd="sng" w="12700">
            <a:solidFill>
              <a:srgbClr val="2A3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9"/>
          <p:cNvSpPr txBox="1"/>
          <p:nvPr/>
        </p:nvSpPr>
        <p:spPr>
          <a:xfrm>
            <a:off x="1051560" y="2066544"/>
            <a:ext cx="32918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8F9"/>
              </a:buClr>
              <a:buSzPts val="1250"/>
              <a:buFont typeface="Cambria"/>
              <a:buNone/>
            </a:pPr>
            <a:r>
              <a:rPr b="1" lang="en-US" sz="1250">
                <a:solidFill>
                  <a:srgbClr val="F5F8F9"/>
                </a:solidFill>
                <a:latin typeface="Cambria"/>
                <a:ea typeface="Cambria"/>
                <a:cs typeface="Cambria"/>
                <a:sym typeface="Cambria"/>
              </a:rPr>
              <a:t>Enrolment  ·  10 photos</a:t>
            </a:r>
            <a:endParaRPr sz="1250">
              <a:solidFill>
                <a:schemeClr val="dk1"/>
              </a:solidFill>
              <a:latin typeface="Calibri"/>
              <a:ea typeface="Calibri"/>
              <a:cs typeface="Calibri"/>
              <a:sym typeface="Calibri"/>
            </a:endParaRPr>
          </a:p>
        </p:txBody>
      </p:sp>
      <p:sp>
        <p:nvSpPr>
          <p:cNvPr id="211" name="Google Shape;211;p9"/>
          <p:cNvSpPr/>
          <p:nvPr/>
        </p:nvSpPr>
        <p:spPr>
          <a:xfrm>
            <a:off x="7818120" y="1920240"/>
            <a:ext cx="3291840" cy="548640"/>
          </a:xfrm>
          <a:prstGeom prst="rect">
            <a:avLst/>
          </a:prstGeom>
          <a:solidFill>
            <a:srgbClr val="1B242D"/>
          </a:solidFill>
          <a:ln cap="flat" cmpd="sng" w="12700">
            <a:solidFill>
              <a:srgbClr val="2A3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9"/>
          <p:cNvSpPr txBox="1"/>
          <p:nvPr/>
        </p:nvSpPr>
        <p:spPr>
          <a:xfrm>
            <a:off x="7818120" y="2066544"/>
            <a:ext cx="32918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8F9"/>
              </a:buClr>
              <a:buSzPts val="1250"/>
              <a:buFont typeface="Cambria"/>
              <a:buNone/>
            </a:pPr>
            <a:r>
              <a:rPr b="1" lang="en-US" sz="1250">
                <a:solidFill>
                  <a:srgbClr val="F5F8F9"/>
                </a:solidFill>
                <a:latin typeface="Cambria"/>
                <a:ea typeface="Cambria"/>
                <a:cs typeface="Cambria"/>
                <a:sym typeface="Cambria"/>
              </a:rPr>
              <a:t>Attendance  ·  1 class photo</a:t>
            </a:r>
            <a:endParaRPr sz="1250">
              <a:solidFill>
                <a:schemeClr val="dk1"/>
              </a:solidFill>
              <a:latin typeface="Calibri"/>
              <a:ea typeface="Calibri"/>
              <a:cs typeface="Calibri"/>
              <a:sym typeface="Calibri"/>
            </a:endParaRPr>
          </a:p>
        </p:txBody>
      </p:sp>
      <p:cxnSp>
        <p:nvCxnSpPr>
          <p:cNvPr id="213" name="Google Shape;213;p9"/>
          <p:cNvCxnSpPr/>
          <p:nvPr/>
        </p:nvCxnSpPr>
        <p:spPr>
          <a:xfrm>
            <a:off x="2697480" y="2468880"/>
            <a:ext cx="1874520" cy="320040"/>
          </a:xfrm>
          <a:prstGeom prst="straightConnector1">
            <a:avLst/>
          </a:prstGeom>
          <a:noFill/>
          <a:ln cap="flat" cmpd="sng" w="15875">
            <a:solidFill>
              <a:srgbClr val="4A5860"/>
            </a:solidFill>
            <a:prstDash val="solid"/>
            <a:round/>
            <a:headEnd len="sm" w="sm" type="none"/>
            <a:tailEnd len="med" w="med" type="triangle"/>
          </a:ln>
        </p:spPr>
      </p:cxnSp>
      <p:cxnSp>
        <p:nvCxnSpPr>
          <p:cNvPr id="214" name="Google Shape;214;p9"/>
          <p:cNvCxnSpPr/>
          <p:nvPr/>
        </p:nvCxnSpPr>
        <p:spPr>
          <a:xfrm flipH="1">
            <a:off x="7589520" y="2468880"/>
            <a:ext cx="1874520" cy="320040"/>
          </a:xfrm>
          <a:prstGeom prst="straightConnector1">
            <a:avLst/>
          </a:prstGeom>
          <a:noFill/>
          <a:ln cap="flat" cmpd="sng" w="15875">
            <a:solidFill>
              <a:srgbClr val="4A5860"/>
            </a:solidFill>
            <a:prstDash val="solid"/>
            <a:round/>
            <a:headEnd len="sm" w="sm" type="none"/>
            <a:tailEnd len="med" w="med" type="triangle"/>
          </a:ln>
        </p:spPr>
      </p:cxnSp>
      <p:sp>
        <p:nvSpPr>
          <p:cNvPr id="215" name="Google Shape;215;p9"/>
          <p:cNvSpPr/>
          <p:nvPr/>
        </p:nvSpPr>
        <p:spPr>
          <a:xfrm>
            <a:off x="3657600" y="2788920"/>
            <a:ext cx="4873752" cy="530352"/>
          </a:xfrm>
          <a:prstGeom prst="rect">
            <a:avLst/>
          </a:prstGeom>
          <a:solidFill>
            <a:srgbClr val="13291F"/>
          </a:solidFill>
          <a:ln cap="flat" cmpd="sng" w="12700">
            <a:solidFill>
              <a:srgbClr val="2FAE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9"/>
          <p:cNvSpPr txBox="1"/>
          <p:nvPr/>
        </p:nvSpPr>
        <p:spPr>
          <a:xfrm>
            <a:off x="3657600" y="2926080"/>
            <a:ext cx="487375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EAB0"/>
              </a:buClr>
              <a:buSzPts val="1250"/>
              <a:buFont typeface="Cambria"/>
              <a:buNone/>
            </a:pPr>
            <a:r>
              <a:rPr b="1" lang="en-US" sz="1250">
                <a:solidFill>
                  <a:srgbClr val="5EEAB0"/>
                </a:solidFill>
                <a:latin typeface="Cambria"/>
                <a:ea typeface="Cambria"/>
                <a:cs typeface="Cambria"/>
                <a:sym typeface="Cambria"/>
              </a:rPr>
              <a:t>Detect faces  ·  YuNet CNN</a:t>
            </a:r>
            <a:endParaRPr sz="1250">
              <a:solidFill>
                <a:schemeClr val="dk1"/>
              </a:solidFill>
              <a:latin typeface="Calibri"/>
              <a:ea typeface="Calibri"/>
              <a:cs typeface="Calibri"/>
              <a:sym typeface="Calibri"/>
            </a:endParaRPr>
          </a:p>
        </p:txBody>
      </p:sp>
      <p:cxnSp>
        <p:nvCxnSpPr>
          <p:cNvPr id="217" name="Google Shape;217;p9"/>
          <p:cNvCxnSpPr/>
          <p:nvPr/>
        </p:nvCxnSpPr>
        <p:spPr>
          <a:xfrm>
            <a:off x="6089904" y="3319272"/>
            <a:ext cx="0" cy="246888"/>
          </a:xfrm>
          <a:prstGeom prst="straightConnector1">
            <a:avLst/>
          </a:prstGeom>
          <a:noFill/>
          <a:ln cap="flat" cmpd="sng" w="15875">
            <a:solidFill>
              <a:srgbClr val="4A5860"/>
            </a:solidFill>
            <a:prstDash val="solid"/>
            <a:round/>
            <a:headEnd len="sm" w="sm" type="none"/>
            <a:tailEnd len="med" w="med" type="triangle"/>
          </a:ln>
        </p:spPr>
      </p:cxnSp>
      <p:sp>
        <p:nvSpPr>
          <p:cNvPr id="218" name="Google Shape;218;p9"/>
          <p:cNvSpPr/>
          <p:nvPr/>
        </p:nvSpPr>
        <p:spPr>
          <a:xfrm>
            <a:off x="3657600" y="3566160"/>
            <a:ext cx="4873752" cy="530352"/>
          </a:xfrm>
          <a:prstGeom prst="rect">
            <a:avLst/>
          </a:prstGeom>
          <a:solidFill>
            <a:srgbClr val="13291F"/>
          </a:solidFill>
          <a:ln cap="flat" cmpd="sng" w="12700">
            <a:solidFill>
              <a:srgbClr val="2FAE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9"/>
          <p:cNvSpPr txBox="1"/>
          <p:nvPr/>
        </p:nvSpPr>
        <p:spPr>
          <a:xfrm>
            <a:off x="3657600" y="3703320"/>
            <a:ext cx="487375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EAB0"/>
              </a:buClr>
              <a:buSzPts val="1250"/>
              <a:buFont typeface="Cambria"/>
              <a:buNone/>
            </a:pPr>
            <a:r>
              <a:rPr b="1" lang="en-US" sz="1250">
                <a:solidFill>
                  <a:srgbClr val="5EEAB0"/>
                </a:solidFill>
                <a:latin typeface="Cambria"/>
                <a:ea typeface="Cambria"/>
                <a:cs typeface="Cambria"/>
                <a:sym typeface="Cambria"/>
              </a:rPr>
              <a:t>Embed  ·  Facenet → 128-d vector</a:t>
            </a:r>
            <a:endParaRPr sz="1250">
              <a:solidFill>
                <a:schemeClr val="dk1"/>
              </a:solidFill>
              <a:latin typeface="Calibri"/>
              <a:ea typeface="Calibri"/>
              <a:cs typeface="Calibri"/>
              <a:sym typeface="Calibri"/>
            </a:endParaRPr>
          </a:p>
        </p:txBody>
      </p:sp>
      <p:sp>
        <p:nvSpPr>
          <p:cNvPr id="220" name="Google Shape;220;p9"/>
          <p:cNvSpPr txBox="1"/>
          <p:nvPr/>
        </p:nvSpPr>
        <p:spPr>
          <a:xfrm>
            <a:off x="3657600" y="4151376"/>
            <a:ext cx="487375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0AA"/>
              </a:buClr>
              <a:buSzPts val="1000"/>
              <a:buFont typeface="Calibri"/>
              <a:buNone/>
            </a:pPr>
            <a:r>
              <a:rPr i="1" lang="en-US" sz="1000">
                <a:solidFill>
                  <a:srgbClr val="8FA0AA"/>
                </a:solidFill>
                <a:latin typeface="Calibri"/>
                <a:ea typeface="Calibri"/>
                <a:cs typeface="Calibri"/>
                <a:sym typeface="Calibri"/>
              </a:rPr>
              <a:t>shared stages</a:t>
            </a:r>
            <a:endParaRPr sz="1000">
              <a:solidFill>
                <a:schemeClr val="dk1"/>
              </a:solidFill>
              <a:latin typeface="Calibri"/>
              <a:ea typeface="Calibri"/>
              <a:cs typeface="Calibri"/>
              <a:sym typeface="Calibri"/>
            </a:endParaRPr>
          </a:p>
        </p:txBody>
      </p:sp>
      <p:cxnSp>
        <p:nvCxnSpPr>
          <p:cNvPr id="221" name="Google Shape;221;p9"/>
          <p:cNvCxnSpPr/>
          <p:nvPr/>
        </p:nvCxnSpPr>
        <p:spPr>
          <a:xfrm flipH="1">
            <a:off x="2743200" y="4096512"/>
            <a:ext cx="2194560" cy="384048"/>
          </a:xfrm>
          <a:prstGeom prst="straightConnector1">
            <a:avLst/>
          </a:prstGeom>
          <a:noFill/>
          <a:ln cap="flat" cmpd="sng" w="15875">
            <a:solidFill>
              <a:srgbClr val="4A5860"/>
            </a:solidFill>
            <a:prstDash val="solid"/>
            <a:round/>
            <a:headEnd len="sm" w="sm" type="none"/>
            <a:tailEnd len="med" w="med" type="triangle"/>
          </a:ln>
        </p:spPr>
      </p:cxnSp>
      <p:cxnSp>
        <p:nvCxnSpPr>
          <p:cNvPr id="222" name="Google Shape;222;p9"/>
          <p:cNvCxnSpPr/>
          <p:nvPr/>
        </p:nvCxnSpPr>
        <p:spPr>
          <a:xfrm>
            <a:off x="7223760" y="4096512"/>
            <a:ext cx="2194560" cy="384048"/>
          </a:xfrm>
          <a:prstGeom prst="straightConnector1">
            <a:avLst/>
          </a:prstGeom>
          <a:noFill/>
          <a:ln cap="flat" cmpd="sng" w="15875">
            <a:solidFill>
              <a:srgbClr val="4A5860"/>
            </a:solidFill>
            <a:prstDash val="solid"/>
            <a:round/>
            <a:headEnd len="sm" w="sm" type="none"/>
            <a:tailEnd len="med" w="med" type="triangle"/>
          </a:ln>
        </p:spPr>
      </p:cxnSp>
      <p:sp>
        <p:nvSpPr>
          <p:cNvPr id="223" name="Google Shape;223;p9"/>
          <p:cNvSpPr/>
          <p:nvPr/>
        </p:nvSpPr>
        <p:spPr>
          <a:xfrm>
            <a:off x="1051560" y="4480560"/>
            <a:ext cx="3291840" cy="548640"/>
          </a:xfrm>
          <a:prstGeom prst="rect">
            <a:avLst/>
          </a:prstGeom>
          <a:solidFill>
            <a:srgbClr val="1B242D"/>
          </a:solidFill>
          <a:ln cap="flat" cmpd="sng" w="12700">
            <a:solidFill>
              <a:srgbClr val="2A3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9"/>
          <p:cNvSpPr txBox="1"/>
          <p:nvPr/>
        </p:nvSpPr>
        <p:spPr>
          <a:xfrm>
            <a:off x="1051560" y="4626864"/>
            <a:ext cx="32918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8F9"/>
              </a:buClr>
              <a:buSzPts val="1250"/>
              <a:buFont typeface="Cambria"/>
              <a:buNone/>
            </a:pPr>
            <a:r>
              <a:rPr b="1" lang="en-US" sz="1250">
                <a:solidFill>
                  <a:srgbClr val="F5F8F9"/>
                </a:solidFill>
                <a:latin typeface="Cambria"/>
                <a:ea typeface="Cambria"/>
                <a:cs typeface="Cambria"/>
                <a:sym typeface="Cambria"/>
              </a:rPr>
              <a:t>Average → store template</a:t>
            </a:r>
            <a:endParaRPr sz="1250">
              <a:solidFill>
                <a:schemeClr val="dk1"/>
              </a:solidFill>
              <a:latin typeface="Calibri"/>
              <a:ea typeface="Calibri"/>
              <a:cs typeface="Calibri"/>
              <a:sym typeface="Calibri"/>
            </a:endParaRPr>
          </a:p>
        </p:txBody>
      </p:sp>
      <p:sp>
        <p:nvSpPr>
          <p:cNvPr id="225" name="Google Shape;225;p9"/>
          <p:cNvSpPr/>
          <p:nvPr/>
        </p:nvSpPr>
        <p:spPr>
          <a:xfrm>
            <a:off x="7818120" y="4480560"/>
            <a:ext cx="3291840" cy="548640"/>
          </a:xfrm>
          <a:prstGeom prst="rect">
            <a:avLst/>
          </a:prstGeom>
          <a:solidFill>
            <a:srgbClr val="1B242D"/>
          </a:solidFill>
          <a:ln cap="flat" cmpd="sng" w="12700">
            <a:solidFill>
              <a:srgbClr val="2A3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9"/>
          <p:cNvSpPr txBox="1"/>
          <p:nvPr/>
        </p:nvSpPr>
        <p:spPr>
          <a:xfrm>
            <a:off x="7818120" y="4626864"/>
            <a:ext cx="32918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8F9"/>
              </a:buClr>
              <a:buSzPts val="1250"/>
              <a:buFont typeface="Cambria"/>
              <a:buNone/>
            </a:pPr>
            <a:r>
              <a:rPr b="1" lang="en-US" sz="1250">
                <a:solidFill>
                  <a:srgbClr val="F5F8F9"/>
                </a:solidFill>
                <a:latin typeface="Cambria"/>
                <a:ea typeface="Cambria"/>
                <a:cs typeface="Cambria"/>
                <a:sym typeface="Cambria"/>
              </a:rPr>
              <a:t>Compare  ·  cosine distance</a:t>
            </a:r>
            <a:endParaRPr sz="1250">
              <a:solidFill>
                <a:schemeClr val="dk1"/>
              </a:solidFill>
              <a:latin typeface="Calibri"/>
              <a:ea typeface="Calibri"/>
              <a:cs typeface="Calibri"/>
              <a:sym typeface="Calibri"/>
            </a:endParaRPr>
          </a:p>
        </p:txBody>
      </p:sp>
      <p:cxnSp>
        <p:nvCxnSpPr>
          <p:cNvPr id="227" name="Google Shape;227;p9"/>
          <p:cNvCxnSpPr/>
          <p:nvPr/>
        </p:nvCxnSpPr>
        <p:spPr>
          <a:xfrm>
            <a:off x="9464040" y="5029200"/>
            <a:ext cx="0" cy="256032"/>
          </a:xfrm>
          <a:prstGeom prst="straightConnector1">
            <a:avLst/>
          </a:prstGeom>
          <a:noFill/>
          <a:ln cap="flat" cmpd="sng" w="15875">
            <a:solidFill>
              <a:srgbClr val="4A5860"/>
            </a:solidFill>
            <a:prstDash val="solid"/>
            <a:round/>
            <a:headEnd len="sm" w="sm" type="none"/>
            <a:tailEnd len="med" w="med" type="triangle"/>
          </a:ln>
        </p:spPr>
      </p:cxnSp>
      <p:sp>
        <p:nvSpPr>
          <p:cNvPr id="228" name="Google Shape;228;p9"/>
          <p:cNvSpPr/>
          <p:nvPr/>
        </p:nvSpPr>
        <p:spPr>
          <a:xfrm>
            <a:off x="7818120" y="5285232"/>
            <a:ext cx="1572768" cy="502920"/>
          </a:xfrm>
          <a:prstGeom prst="rect">
            <a:avLst/>
          </a:prstGeom>
          <a:solidFill>
            <a:srgbClr val="13291F"/>
          </a:solidFill>
          <a:ln cap="flat" cmpd="sng" w="12700">
            <a:solidFill>
              <a:srgbClr val="2FAE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9"/>
          <p:cNvSpPr txBox="1"/>
          <p:nvPr/>
        </p:nvSpPr>
        <p:spPr>
          <a:xfrm>
            <a:off x="7818120" y="5413248"/>
            <a:ext cx="157276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EAB0"/>
              </a:buClr>
              <a:buSzPts val="1100"/>
              <a:buFont typeface="Calibri"/>
              <a:buNone/>
            </a:pPr>
            <a:r>
              <a:rPr b="1" lang="en-US" sz="1100">
                <a:solidFill>
                  <a:srgbClr val="5EEAB0"/>
                </a:solidFill>
                <a:latin typeface="Calibri"/>
                <a:ea typeface="Calibri"/>
                <a:cs typeface="Calibri"/>
                <a:sym typeface="Calibri"/>
              </a:rPr>
              <a:t>≤ 0.6  Present</a:t>
            </a:r>
            <a:endParaRPr sz="1100">
              <a:solidFill>
                <a:schemeClr val="dk1"/>
              </a:solidFill>
              <a:latin typeface="Calibri"/>
              <a:ea typeface="Calibri"/>
              <a:cs typeface="Calibri"/>
              <a:sym typeface="Calibri"/>
            </a:endParaRPr>
          </a:p>
        </p:txBody>
      </p:sp>
      <p:sp>
        <p:nvSpPr>
          <p:cNvPr id="230" name="Google Shape;230;p9"/>
          <p:cNvSpPr/>
          <p:nvPr/>
        </p:nvSpPr>
        <p:spPr>
          <a:xfrm>
            <a:off x="9537192" y="5285232"/>
            <a:ext cx="1572768" cy="502920"/>
          </a:xfrm>
          <a:prstGeom prst="rect">
            <a:avLst/>
          </a:prstGeom>
          <a:solidFill>
            <a:srgbClr val="2A1A1A"/>
          </a:solidFill>
          <a:ln cap="flat" cmpd="sng" w="12700">
            <a:solidFill>
              <a:srgbClr val="B3453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9"/>
          <p:cNvSpPr txBox="1"/>
          <p:nvPr/>
        </p:nvSpPr>
        <p:spPr>
          <a:xfrm>
            <a:off x="9537192" y="5413248"/>
            <a:ext cx="157276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6461"/>
              </a:buClr>
              <a:buSzPts val="1100"/>
              <a:buFont typeface="Calibri"/>
              <a:buNone/>
            </a:pPr>
            <a:r>
              <a:rPr b="1" lang="en-US" sz="1100">
                <a:solidFill>
                  <a:srgbClr val="EF6461"/>
                </a:solidFill>
                <a:latin typeface="Calibri"/>
                <a:ea typeface="Calibri"/>
                <a:cs typeface="Calibri"/>
                <a:sym typeface="Calibri"/>
              </a:rPr>
              <a:t>&gt; 0.6  Unknown</a:t>
            </a:r>
            <a:endParaRPr sz="1100">
              <a:solidFill>
                <a:schemeClr val="dk1"/>
              </a:solidFill>
              <a:latin typeface="Calibri"/>
              <a:ea typeface="Calibri"/>
              <a:cs typeface="Calibri"/>
              <a:sym typeface="Calibri"/>
            </a:endParaRPr>
          </a:p>
        </p:txBody>
      </p:sp>
      <p:sp>
        <p:nvSpPr>
          <p:cNvPr id="232" name="Google Shape;232;p9"/>
          <p:cNvSpPr txBox="1"/>
          <p:nvPr/>
        </p:nvSpPr>
        <p:spPr>
          <a:xfrm>
            <a:off x="1051560" y="5285232"/>
            <a:ext cx="6309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B0"/>
              </a:buClr>
              <a:buSzPts val="1200"/>
              <a:buFont typeface="Calibri"/>
              <a:buNone/>
            </a:pPr>
            <a:r>
              <a:rPr i="1" lang="en-US">
                <a:solidFill>
                  <a:srgbClr val="5EEAB0"/>
                </a:solidFill>
                <a:latin typeface="Calibri"/>
                <a:ea typeface="Calibri"/>
                <a:cs typeface="Calibri"/>
                <a:sym typeface="Calibri"/>
              </a:rPr>
              <a:t>Absent is then resolved as: course roster − recognised students.</a:t>
            </a:r>
            <a:endParaRPr>
              <a:solidFill>
                <a:schemeClr val="dk1"/>
              </a:solidFill>
              <a:latin typeface="Calibri"/>
              <a:ea typeface="Calibri"/>
              <a:cs typeface="Calibri"/>
              <a:sym typeface="Calibri"/>
            </a:endParaRPr>
          </a:p>
        </p:txBody>
      </p:sp>
      <p:sp>
        <p:nvSpPr>
          <p:cNvPr id="233" name="Google Shape;233;p9"/>
          <p:cNvSpPr/>
          <p:nvPr/>
        </p:nvSpPr>
        <p:spPr>
          <a:xfrm>
            <a:off x="502920"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9"/>
          <p:cNvSpPr/>
          <p:nvPr/>
        </p:nvSpPr>
        <p:spPr>
          <a:xfrm>
            <a:off x="502920"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9"/>
          <p:cNvSpPr/>
          <p:nvPr/>
        </p:nvSpPr>
        <p:spPr>
          <a:xfrm>
            <a:off x="11323015"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9"/>
          <p:cNvSpPr/>
          <p:nvPr/>
        </p:nvSpPr>
        <p:spPr>
          <a:xfrm>
            <a:off x="11661343"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9"/>
          <p:cNvSpPr/>
          <p:nvPr/>
        </p:nvSpPr>
        <p:spPr>
          <a:xfrm>
            <a:off x="502920"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9"/>
          <p:cNvSpPr/>
          <p:nvPr/>
        </p:nvSpPr>
        <p:spPr>
          <a:xfrm>
            <a:off x="502920"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9"/>
          <p:cNvSpPr/>
          <p:nvPr/>
        </p:nvSpPr>
        <p:spPr>
          <a:xfrm>
            <a:off x="11323015"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9"/>
          <p:cNvSpPr/>
          <p:nvPr/>
        </p:nvSpPr>
        <p:spPr>
          <a:xfrm>
            <a:off x="11661343"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9"/>
          <p:cNvSpPr/>
          <p:nvPr/>
        </p:nvSpPr>
        <p:spPr>
          <a:xfrm>
            <a:off x="640080" y="6416040"/>
            <a:ext cx="10881360" cy="3175"/>
          </a:xfrm>
          <a:prstGeom prst="rect">
            <a:avLst/>
          </a:prstGeom>
          <a:solidFill>
            <a:srgbClr val="2A3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9"/>
          <p:cNvSpPr txBox="1"/>
          <p:nvPr/>
        </p:nvSpPr>
        <p:spPr>
          <a:xfrm>
            <a:off x="640080" y="6470000"/>
            <a:ext cx="4000000" cy="2286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900">
                <a:solidFill>
                  <a:srgbClr val="4A5860"/>
                </a:solidFill>
                <a:latin typeface="Calibri"/>
                <a:ea typeface="Calibri"/>
                <a:cs typeface="Calibri"/>
                <a:sym typeface="Calibri"/>
              </a:rPr>
              <a:t>CAMPUSEYE  ·  CSE499A</a:t>
            </a:r>
            <a:endParaRPr/>
          </a:p>
        </p:txBody>
      </p:sp>
      <p:sp>
        <p:nvSpPr>
          <p:cNvPr id="243" name="Google Shape;243;p9"/>
          <p:cNvSpPr txBox="1"/>
          <p:nvPr/>
        </p:nvSpPr>
        <p:spPr>
          <a:xfrm>
            <a:off x="9521440" y="6470000"/>
            <a:ext cx="2000000" cy="228600"/>
          </a:xfrm>
          <a:prstGeom prst="rect">
            <a:avLst/>
          </a:prstGeom>
          <a:noFill/>
          <a:ln>
            <a:noFill/>
          </a:ln>
        </p:spPr>
        <p:txBody>
          <a:bodyPr anchorCtr="0" anchor="t" bIns="45700" lIns="0" spcFirstLastPara="1" rIns="91425" wrap="square" tIns="0">
            <a:spAutoFit/>
          </a:bodyPr>
          <a:lstStyle/>
          <a:p>
            <a:pPr indent="0" lvl="0" marL="0" marR="0" rtl="0" algn="r">
              <a:spcBef>
                <a:spcPts val="0"/>
              </a:spcBef>
              <a:spcAft>
                <a:spcPts val="0"/>
              </a:spcAft>
              <a:buNone/>
            </a:pPr>
            <a:r>
              <a:rPr lang="en-US" sz="900">
                <a:solidFill>
                  <a:srgbClr val="4A5860"/>
                </a:solidFill>
                <a:latin typeface="Calibri"/>
                <a:ea typeface="Calibri"/>
                <a:cs typeface="Calibri"/>
                <a:sym typeface="Calibri"/>
              </a:rPr>
              <a:t>07 / 15</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18"/>
        </a:solidFill>
      </p:bgPr>
    </p:bg>
    <p:spTree>
      <p:nvGrpSpPr>
        <p:cNvPr id="248" name="Shape 248"/>
        <p:cNvGrpSpPr/>
        <p:nvPr/>
      </p:nvGrpSpPr>
      <p:grpSpPr>
        <a:xfrm>
          <a:off x="0" y="0"/>
          <a:ext cx="0" cy="0"/>
          <a:chOff x="0" y="0"/>
          <a:chExt cx="0" cy="0"/>
        </a:xfrm>
      </p:grpSpPr>
      <p:sp>
        <p:nvSpPr>
          <p:cNvPr id="249" name="Google Shape;249;p10"/>
          <p:cNvSpPr txBox="1"/>
          <p:nvPr/>
        </p:nvSpPr>
        <p:spPr>
          <a:xfrm>
            <a:off x="640080" y="411480"/>
            <a:ext cx="10881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0AA"/>
              </a:buClr>
              <a:buSzPts val="1200"/>
              <a:buFont typeface="Calibri"/>
              <a:buNone/>
            </a:pPr>
            <a:r>
              <a:rPr b="1" lang="en-US" sz="1200">
                <a:solidFill>
                  <a:srgbClr val="8FA0AA"/>
                </a:solidFill>
                <a:latin typeface="Calibri"/>
                <a:ea typeface="Calibri"/>
                <a:cs typeface="Calibri"/>
                <a:sym typeface="Calibri"/>
              </a:rPr>
              <a:t>07  ·  IMPLEMENTATION</a:t>
            </a:r>
            <a:endParaRPr sz="1200">
              <a:solidFill>
                <a:schemeClr val="dk1"/>
              </a:solidFill>
              <a:latin typeface="Calibri"/>
              <a:ea typeface="Calibri"/>
              <a:cs typeface="Calibri"/>
              <a:sym typeface="Calibri"/>
            </a:endParaRPr>
          </a:p>
        </p:txBody>
      </p:sp>
      <p:sp>
        <p:nvSpPr>
          <p:cNvPr id="250" name="Google Shape;250;p10"/>
          <p:cNvSpPr txBox="1"/>
          <p:nvPr/>
        </p:nvSpPr>
        <p:spPr>
          <a:xfrm>
            <a:off x="640080" y="694944"/>
            <a:ext cx="1088136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3300"/>
              <a:buFont typeface="Cambria"/>
              <a:buNone/>
            </a:pPr>
            <a:r>
              <a:rPr b="1" lang="en-US" sz="3300">
                <a:solidFill>
                  <a:srgbClr val="F5F8F9"/>
                </a:solidFill>
                <a:latin typeface="Cambria"/>
                <a:ea typeface="Cambria"/>
                <a:cs typeface="Cambria"/>
                <a:sym typeface="Cambria"/>
              </a:rPr>
              <a:t>What was actually built</a:t>
            </a:r>
            <a:endParaRPr sz="3300">
              <a:solidFill>
                <a:schemeClr val="dk1"/>
              </a:solidFill>
              <a:latin typeface="Calibri"/>
              <a:ea typeface="Calibri"/>
              <a:cs typeface="Calibri"/>
              <a:sym typeface="Calibri"/>
            </a:endParaRPr>
          </a:p>
        </p:txBody>
      </p:sp>
      <p:sp>
        <p:nvSpPr>
          <p:cNvPr id="251" name="Google Shape;251;p10"/>
          <p:cNvSpPr/>
          <p:nvPr/>
        </p:nvSpPr>
        <p:spPr>
          <a:xfrm>
            <a:off x="640080" y="1481328"/>
            <a:ext cx="5303520" cy="1042416"/>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10"/>
          <p:cNvSpPr/>
          <p:nvPr/>
        </p:nvSpPr>
        <p:spPr>
          <a:xfrm>
            <a:off x="932688" y="1865376"/>
            <a:ext cx="237744" cy="237744"/>
          </a:xfrm>
          <a:prstGeom prst="ellipse">
            <a:avLst/>
          </a:prstGeom>
          <a:solidFill>
            <a:srgbClr val="2FAE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10"/>
          <p:cNvSpPr txBox="1"/>
          <p:nvPr/>
        </p:nvSpPr>
        <p:spPr>
          <a:xfrm>
            <a:off x="1316736" y="1627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00"/>
              <a:buFont typeface="Cambria"/>
              <a:buNone/>
            </a:pPr>
            <a:r>
              <a:rPr b="1" lang="en-US" sz="1400">
                <a:solidFill>
                  <a:srgbClr val="F5F8F9"/>
                </a:solidFill>
                <a:latin typeface="Cambria"/>
                <a:ea typeface="Cambria"/>
                <a:cs typeface="Cambria"/>
                <a:sym typeface="Cambria"/>
              </a:rPr>
              <a:t>Detection &amp; recognition</a:t>
            </a:r>
            <a:endParaRPr sz="1400">
              <a:solidFill>
                <a:schemeClr val="dk1"/>
              </a:solidFill>
              <a:latin typeface="Calibri"/>
              <a:ea typeface="Calibri"/>
              <a:cs typeface="Calibri"/>
              <a:sym typeface="Calibri"/>
            </a:endParaRPr>
          </a:p>
        </p:txBody>
      </p:sp>
      <p:sp>
        <p:nvSpPr>
          <p:cNvPr id="254" name="Google Shape;254;p10"/>
          <p:cNvSpPr txBox="1"/>
          <p:nvPr/>
        </p:nvSpPr>
        <p:spPr>
          <a:xfrm>
            <a:off x="1316736" y="1956816"/>
            <a:ext cx="4389120" cy="50292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450">
                <a:solidFill>
                  <a:srgbClr val="C3CED4"/>
                </a:solidFill>
                <a:latin typeface="Calibri"/>
                <a:ea typeface="Calibri"/>
                <a:cs typeface="Calibri"/>
                <a:sym typeface="Calibri"/>
              </a:rPr>
              <a:t>YuNet detector, Facenet embeddings, cosine matching, unknown-face capture.</a:t>
            </a:r>
            <a:endParaRPr sz="1450">
              <a:solidFill>
                <a:schemeClr val="dk1"/>
              </a:solidFill>
              <a:latin typeface="Calibri"/>
              <a:ea typeface="Calibri"/>
              <a:cs typeface="Calibri"/>
              <a:sym typeface="Calibri"/>
            </a:endParaRPr>
          </a:p>
        </p:txBody>
      </p:sp>
      <p:sp>
        <p:nvSpPr>
          <p:cNvPr id="255" name="Google Shape;255;p10"/>
          <p:cNvSpPr/>
          <p:nvPr/>
        </p:nvSpPr>
        <p:spPr>
          <a:xfrm>
            <a:off x="6217920" y="1481328"/>
            <a:ext cx="5303520" cy="1042416"/>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0"/>
          <p:cNvSpPr/>
          <p:nvPr/>
        </p:nvSpPr>
        <p:spPr>
          <a:xfrm>
            <a:off x="6510528" y="1865376"/>
            <a:ext cx="237744" cy="237744"/>
          </a:xfrm>
          <a:prstGeom prst="ellipse">
            <a:avLst/>
          </a:prstGeom>
          <a:solidFill>
            <a:srgbClr val="2FAE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10"/>
          <p:cNvSpPr txBox="1"/>
          <p:nvPr/>
        </p:nvSpPr>
        <p:spPr>
          <a:xfrm>
            <a:off x="6894576" y="1627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00"/>
              <a:buFont typeface="Cambria"/>
              <a:buNone/>
            </a:pPr>
            <a:r>
              <a:rPr b="1" lang="en-US" sz="1400">
                <a:solidFill>
                  <a:srgbClr val="F5F8F9"/>
                </a:solidFill>
                <a:latin typeface="Cambria"/>
                <a:ea typeface="Cambria"/>
                <a:cs typeface="Cambria"/>
                <a:sym typeface="Cambria"/>
              </a:rPr>
              <a:t>Enrolment workflow</a:t>
            </a:r>
            <a:endParaRPr sz="1400">
              <a:solidFill>
                <a:schemeClr val="dk1"/>
              </a:solidFill>
              <a:latin typeface="Calibri"/>
              <a:ea typeface="Calibri"/>
              <a:cs typeface="Calibri"/>
              <a:sym typeface="Calibri"/>
            </a:endParaRPr>
          </a:p>
        </p:txBody>
      </p:sp>
      <p:sp>
        <p:nvSpPr>
          <p:cNvPr id="258" name="Google Shape;258;p10"/>
          <p:cNvSpPr txBox="1"/>
          <p:nvPr/>
        </p:nvSpPr>
        <p:spPr>
          <a:xfrm>
            <a:off x="6894576" y="1956816"/>
            <a:ext cx="4389120" cy="50292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450">
                <a:solidFill>
                  <a:srgbClr val="C3CED4"/>
                </a:solidFill>
                <a:latin typeface="Calibri"/>
                <a:ea typeface="Calibri"/>
                <a:cs typeface="Calibri"/>
                <a:sym typeface="Calibri"/>
              </a:rPr>
              <a:t>Ten-sample upload, per-sample validation, averaged template, stored per account.</a:t>
            </a:r>
            <a:endParaRPr sz="1450">
              <a:solidFill>
                <a:schemeClr val="dk1"/>
              </a:solidFill>
              <a:latin typeface="Calibri"/>
              <a:ea typeface="Calibri"/>
              <a:cs typeface="Calibri"/>
              <a:sym typeface="Calibri"/>
            </a:endParaRPr>
          </a:p>
        </p:txBody>
      </p:sp>
      <p:sp>
        <p:nvSpPr>
          <p:cNvPr id="259" name="Google Shape;259;p10"/>
          <p:cNvSpPr/>
          <p:nvPr/>
        </p:nvSpPr>
        <p:spPr>
          <a:xfrm>
            <a:off x="640080" y="2615184"/>
            <a:ext cx="5303520" cy="1042416"/>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0"/>
          <p:cNvSpPr/>
          <p:nvPr/>
        </p:nvSpPr>
        <p:spPr>
          <a:xfrm>
            <a:off x="932688" y="2999232"/>
            <a:ext cx="237744" cy="237744"/>
          </a:xfrm>
          <a:prstGeom prst="ellipse">
            <a:avLst/>
          </a:prstGeom>
          <a:solidFill>
            <a:srgbClr val="2FAE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10"/>
          <p:cNvSpPr txBox="1"/>
          <p:nvPr/>
        </p:nvSpPr>
        <p:spPr>
          <a:xfrm>
            <a:off x="1316736" y="2761488"/>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00"/>
              <a:buFont typeface="Cambria"/>
              <a:buNone/>
            </a:pPr>
            <a:r>
              <a:rPr b="1" lang="en-US" sz="1400">
                <a:solidFill>
                  <a:srgbClr val="F5F8F9"/>
                </a:solidFill>
                <a:latin typeface="Cambria"/>
                <a:ea typeface="Cambria"/>
                <a:cs typeface="Cambria"/>
                <a:sym typeface="Cambria"/>
              </a:rPr>
              <a:t>Courses &amp; rosters</a:t>
            </a:r>
            <a:endParaRPr sz="1400">
              <a:solidFill>
                <a:schemeClr val="dk1"/>
              </a:solidFill>
              <a:latin typeface="Calibri"/>
              <a:ea typeface="Calibri"/>
              <a:cs typeface="Calibri"/>
              <a:sym typeface="Calibri"/>
            </a:endParaRPr>
          </a:p>
        </p:txBody>
      </p:sp>
      <p:sp>
        <p:nvSpPr>
          <p:cNvPr id="262" name="Google Shape;262;p10"/>
          <p:cNvSpPr txBox="1"/>
          <p:nvPr/>
        </p:nvSpPr>
        <p:spPr>
          <a:xfrm>
            <a:off x="1316736" y="3090672"/>
            <a:ext cx="4389120" cy="50292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450">
                <a:solidFill>
                  <a:srgbClr val="C3CED4"/>
                </a:solidFill>
                <a:latin typeface="Calibri"/>
                <a:ea typeface="Calibri"/>
                <a:cs typeface="Calibri"/>
                <a:sym typeface="Calibri"/>
              </a:rPr>
              <a:t>Course sections, CSV roster import, roster management, absentee resolution.</a:t>
            </a:r>
            <a:endParaRPr sz="1450">
              <a:solidFill>
                <a:schemeClr val="dk1"/>
              </a:solidFill>
              <a:latin typeface="Calibri"/>
              <a:ea typeface="Calibri"/>
              <a:cs typeface="Calibri"/>
              <a:sym typeface="Calibri"/>
            </a:endParaRPr>
          </a:p>
        </p:txBody>
      </p:sp>
      <p:sp>
        <p:nvSpPr>
          <p:cNvPr id="263" name="Google Shape;263;p10"/>
          <p:cNvSpPr/>
          <p:nvPr/>
        </p:nvSpPr>
        <p:spPr>
          <a:xfrm>
            <a:off x="6217920" y="2615184"/>
            <a:ext cx="5303520" cy="1042416"/>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0"/>
          <p:cNvSpPr/>
          <p:nvPr/>
        </p:nvSpPr>
        <p:spPr>
          <a:xfrm>
            <a:off x="6510528" y="2999232"/>
            <a:ext cx="237744" cy="237744"/>
          </a:xfrm>
          <a:prstGeom prst="ellipse">
            <a:avLst/>
          </a:prstGeom>
          <a:solidFill>
            <a:srgbClr val="2FAE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10"/>
          <p:cNvSpPr txBox="1"/>
          <p:nvPr/>
        </p:nvSpPr>
        <p:spPr>
          <a:xfrm>
            <a:off x="6894576" y="2761488"/>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00"/>
              <a:buFont typeface="Cambria"/>
              <a:buNone/>
            </a:pPr>
            <a:r>
              <a:rPr b="1" lang="en-US" sz="1400">
                <a:solidFill>
                  <a:srgbClr val="F5F8F9"/>
                </a:solidFill>
                <a:latin typeface="Cambria"/>
                <a:ea typeface="Cambria"/>
                <a:cs typeface="Cambria"/>
                <a:sym typeface="Cambria"/>
              </a:rPr>
              <a:t>Attendance &amp; reports</a:t>
            </a:r>
            <a:endParaRPr sz="1400">
              <a:solidFill>
                <a:schemeClr val="dk1"/>
              </a:solidFill>
              <a:latin typeface="Calibri"/>
              <a:ea typeface="Calibri"/>
              <a:cs typeface="Calibri"/>
              <a:sym typeface="Calibri"/>
            </a:endParaRPr>
          </a:p>
        </p:txBody>
      </p:sp>
      <p:sp>
        <p:nvSpPr>
          <p:cNvPr id="266" name="Google Shape;266;p10"/>
          <p:cNvSpPr txBox="1"/>
          <p:nvPr/>
        </p:nvSpPr>
        <p:spPr>
          <a:xfrm>
            <a:off x="6894576" y="3090672"/>
            <a:ext cx="4389120" cy="50292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450">
                <a:solidFill>
                  <a:srgbClr val="C3CED4"/>
                </a:solidFill>
                <a:latin typeface="Calibri"/>
                <a:ea typeface="Calibri"/>
                <a:cs typeface="Calibri"/>
                <a:sym typeface="Calibri"/>
              </a:rPr>
              <a:t>Section-scoped scanning, live register, date navigation, sortable CSV export.</a:t>
            </a:r>
            <a:endParaRPr sz="1450">
              <a:solidFill>
                <a:schemeClr val="dk1"/>
              </a:solidFill>
              <a:latin typeface="Calibri"/>
              <a:ea typeface="Calibri"/>
              <a:cs typeface="Calibri"/>
              <a:sym typeface="Calibri"/>
            </a:endParaRPr>
          </a:p>
        </p:txBody>
      </p:sp>
      <p:sp>
        <p:nvSpPr>
          <p:cNvPr id="267" name="Google Shape;267;p10"/>
          <p:cNvSpPr/>
          <p:nvPr/>
        </p:nvSpPr>
        <p:spPr>
          <a:xfrm>
            <a:off x="640080" y="3749040"/>
            <a:ext cx="5303520" cy="1042416"/>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10"/>
          <p:cNvSpPr/>
          <p:nvPr/>
        </p:nvSpPr>
        <p:spPr>
          <a:xfrm>
            <a:off x="932688" y="4133088"/>
            <a:ext cx="237744" cy="237744"/>
          </a:xfrm>
          <a:prstGeom prst="ellipse">
            <a:avLst/>
          </a:prstGeom>
          <a:solidFill>
            <a:srgbClr val="2FAE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10"/>
          <p:cNvSpPr txBox="1"/>
          <p:nvPr/>
        </p:nvSpPr>
        <p:spPr>
          <a:xfrm>
            <a:off x="1316736" y="389534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00"/>
              <a:buFont typeface="Cambria"/>
              <a:buNone/>
            </a:pPr>
            <a:r>
              <a:rPr b="1" lang="en-US" sz="1400">
                <a:solidFill>
                  <a:srgbClr val="F5F8F9"/>
                </a:solidFill>
                <a:latin typeface="Cambria"/>
                <a:ea typeface="Cambria"/>
                <a:cs typeface="Cambria"/>
                <a:sym typeface="Cambria"/>
              </a:rPr>
              <a:t>Accounts &amp; isolation</a:t>
            </a:r>
            <a:endParaRPr sz="1400">
              <a:solidFill>
                <a:schemeClr val="dk1"/>
              </a:solidFill>
              <a:latin typeface="Calibri"/>
              <a:ea typeface="Calibri"/>
              <a:cs typeface="Calibri"/>
              <a:sym typeface="Calibri"/>
            </a:endParaRPr>
          </a:p>
        </p:txBody>
      </p:sp>
      <p:sp>
        <p:nvSpPr>
          <p:cNvPr id="270" name="Google Shape;270;p10"/>
          <p:cNvSpPr txBox="1"/>
          <p:nvPr/>
        </p:nvSpPr>
        <p:spPr>
          <a:xfrm>
            <a:off x="1316736" y="4224528"/>
            <a:ext cx="4389120" cy="50292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450">
                <a:solidFill>
                  <a:srgbClr val="C3CED4"/>
                </a:solidFill>
                <a:latin typeface="Calibri"/>
                <a:ea typeface="Calibri"/>
                <a:cs typeface="Calibri"/>
                <a:sym typeface="Calibri"/>
              </a:rPr>
              <a:t>Login, per-account scoping of every student, register and embedding cache.</a:t>
            </a:r>
            <a:endParaRPr sz="1450">
              <a:solidFill>
                <a:schemeClr val="dk1"/>
              </a:solidFill>
              <a:latin typeface="Calibri"/>
              <a:ea typeface="Calibri"/>
              <a:cs typeface="Calibri"/>
              <a:sym typeface="Calibri"/>
            </a:endParaRPr>
          </a:p>
        </p:txBody>
      </p:sp>
      <p:sp>
        <p:nvSpPr>
          <p:cNvPr id="271" name="Google Shape;271;p10"/>
          <p:cNvSpPr/>
          <p:nvPr/>
        </p:nvSpPr>
        <p:spPr>
          <a:xfrm>
            <a:off x="6217920" y="3749040"/>
            <a:ext cx="5303520" cy="1042416"/>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10"/>
          <p:cNvSpPr/>
          <p:nvPr/>
        </p:nvSpPr>
        <p:spPr>
          <a:xfrm>
            <a:off x="6510528" y="4133088"/>
            <a:ext cx="237744" cy="237744"/>
          </a:xfrm>
          <a:prstGeom prst="ellipse">
            <a:avLst/>
          </a:prstGeom>
          <a:solidFill>
            <a:srgbClr val="2FAE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10"/>
          <p:cNvSpPr txBox="1"/>
          <p:nvPr/>
        </p:nvSpPr>
        <p:spPr>
          <a:xfrm>
            <a:off x="6894576" y="389534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00"/>
              <a:buFont typeface="Cambria"/>
              <a:buNone/>
            </a:pPr>
            <a:r>
              <a:rPr b="1" lang="en-US" sz="1400">
                <a:solidFill>
                  <a:srgbClr val="F5F8F9"/>
                </a:solidFill>
                <a:latin typeface="Cambria"/>
                <a:ea typeface="Cambria"/>
                <a:cs typeface="Cambria"/>
                <a:sym typeface="Cambria"/>
              </a:rPr>
              <a:t>Web interface</a:t>
            </a:r>
            <a:endParaRPr sz="1400">
              <a:solidFill>
                <a:schemeClr val="dk1"/>
              </a:solidFill>
              <a:latin typeface="Calibri"/>
              <a:ea typeface="Calibri"/>
              <a:cs typeface="Calibri"/>
              <a:sym typeface="Calibri"/>
            </a:endParaRPr>
          </a:p>
        </p:txBody>
      </p:sp>
      <p:sp>
        <p:nvSpPr>
          <p:cNvPr id="274" name="Google Shape;274;p10"/>
          <p:cNvSpPr txBox="1"/>
          <p:nvPr/>
        </p:nvSpPr>
        <p:spPr>
          <a:xfrm>
            <a:off x="6894576" y="4224528"/>
            <a:ext cx="4389120" cy="50292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450">
                <a:solidFill>
                  <a:srgbClr val="C3CED4"/>
                </a:solidFill>
                <a:latin typeface="Calibri"/>
                <a:ea typeface="Calibri"/>
                <a:cs typeface="Calibri"/>
                <a:sym typeface="Calibri"/>
              </a:rPr>
              <a:t>Server-rendered Flask pages plus a JSON API, rebuilt for accessibility compliance.</a:t>
            </a:r>
            <a:endParaRPr sz="1450">
              <a:solidFill>
                <a:schemeClr val="dk1"/>
              </a:solidFill>
              <a:latin typeface="Calibri"/>
              <a:ea typeface="Calibri"/>
              <a:cs typeface="Calibri"/>
              <a:sym typeface="Calibri"/>
            </a:endParaRPr>
          </a:p>
        </p:txBody>
      </p:sp>
      <p:sp>
        <p:nvSpPr>
          <p:cNvPr id="275" name="Google Shape;275;p10"/>
          <p:cNvSpPr/>
          <p:nvPr/>
        </p:nvSpPr>
        <p:spPr>
          <a:xfrm>
            <a:off x="640080" y="5029200"/>
            <a:ext cx="10881360" cy="658368"/>
          </a:xfrm>
          <a:prstGeom prst="rect">
            <a:avLst/>
          </a:prstGeom>
          <a:solidFill>
            <a:srgbClr val="0E141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276" name="Google Shape;276;p10"/>
          <p:cNvSpPr txBox="1"/>
          <p:nvPr/>
        </p:nvSpPr>
        <p:spPr>
          <a:xfrm>
            <a:off x="640080" y="5193792"/>
            <a:ext cx="108813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4D399"/>
              </a:buClr>
              <a:buSzPts val="1300"/>
              <a:buFont typeface="Calibri"/>
              <a:buNone/>
            </a:pPr>
            <a:r>
              <a:rPr b="1" lang="en-US" sz="1300">
                <a:solidFill>
                  <a:srgbClr val="34D399"/>
                </a:solidFill>
                <a:latin typeface="Calibri"/>
                <a:ea typeface="Calibri"/>
                <a:cs typeface="Calibri"/>
                <a:sym typeface="Calibri"/>
              </a:rPr>
              <a:t>Python 3.10   ·   Flask   ·   OpenCV / YuNet   ·   DeepFace / Facenet   ·   SQLite   ·   pytest</a:t>
            </a:r>
            <a:endParaRPr sz="1300">
              <a:solidFill>
                <a:schemeClr val="dk1"/>
              </a:solidFill>
              <a:latin typeface="Calibri"/>
              <a:ea typeface="Calibri"/>
              <a:cs typeface="Calibri"/>
              <a:sym typeface="Calibri"/>
            </a:endParaRPr>
          </a:p>
        </p:txBody>
      </p:sp>
      <p:sp>
        <p:nvSpPr>
          <p:cNvPr id="277" name="Google Shape;277;p10"/>
          <p:cNvSpPr/>
          <p:nvPr/>
        </p:nvSpPr>
        <p:spPr>
          <a:xfrm>
            <a:off x="502920"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10"/>
          <p:cNvSpPr/>
          <p:nvPr/>
        </p:nvSpPr>
        <p:spPr>
          <a:xfrm>
            <a:off x="502920"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10"/>
          <p:cNvSpPr/>
          <p:nvPr/>
        </p:nvSpPr>
        <p:spPr>
          <a:xfrm>
            <a:off x="11323015"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0"/>
          <p:cNvSpPr/>
          <p:nvPr/>
        </p:nvSpPr>
        <p:spPr>
          <a:xfrm>
            <a:off x="11661343"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10"/>
          <p:cNvSpPr/>
          <p:nvPr/>
        </p:nvSpPr>
        <p:spPr>
          <a:xfrm>
            <a:off x="502920"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10"/>
          <p:cNvSpPr/>
          <p:nvPr/>
        </p:nvSpPr>
        <p:spPr>
          <a:xfrm>
            <a:off x="502920"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10"/>
          <p:cNvSpPr/>
          <p:nvPr/>
        </p:nvSpPr>
        <p:spPr>
          <a:xfrm>
            <a:off x="11323015"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10"/>
          <p:cNvSpPr/>
          <p:nvPr/>
        </p:nvSpPr>
        <p:spPr>
          <a:xfrm>
            <a:off x="11661343"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10"/>
          <p:cNvSpPr/>
          <p:nvPr/>
        </p:nvSpPr>
        <p:spPr>
          <a:xfrm>
            <a:off x="640080" y="6416040"/>
            <a:ext cx="10881360" cy="3175"/>
          </a:xfrm>
          <a:prstGeom prst="rect">
            <a:avLst/>
          </a:prstGeom>
          <a:solidFill>
            <a:srgbClr val="2A3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10"/>
          <p:cNvSpPr txBox="1"/>
          <p:nvPr/>
        </p:nvSpPr>
        <p:spPr>
          <a:xfrm>
            <a:off x="640080" y="6470000"/>
            <a:ext cx="4000000" cy="2286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900">
                <a:solidFill>
                  <a:srgbClr val="4A5860"/>
                </a:solidFill>
                <a:latin typeface="Calibri"/>
                <a:ea typeface="Calibri"/>
                <a:cs typeface="Calibri"/>
                <a:sym typeface="Calibri"/>
              </a:rPr>
              <a:t>CAMPUSEYE  ·  CSE499A</a:t>
            </a:r>
            <a:endParaRPr/>
          </a:p>
        </p:txBody>
      </p:sp>
      <p:sp>
        <p:nvSpPr>
          <p:cNvPr id="287" name="Google Shape;287;p10"/>
          <p:cNvSpPr txBox="1"/>
          <p:nvPr/>
        </p:nvSpPr>
        <p:spPr>
          <a:xfrm>
            <a:off x="9521440" y="6470000"/>
            <a:ext cx="2000000" cy="228600"/>
          </a:xfrm>
          <a:prstGeom prst="rect">
            <a:avLst/>
          </a:prstGeom>
          <a:noFill/>
          <a:ln>
            <a:noFill/>
          </a:ln>
        </p:spPr>
        <p:txBody>
          <a:bodyPr anchorCtr="0" anchor="t" bIns="45700" lIns="0" spcFirstLastPara="1" rIns="91425" wrap="square" tIns="0">
            <a:spAutoFit/>
          </a:bodyPr>
          <a:lstStyle/>
          <a:p>
            <a:pPr indent="0" lvl="0" marL="0" marR="0" rtl="0" algn="r">
              <a:spcBef>
                <a:spcPts val="0"/>
              </a:spcBef>
              <a:spcAft>
                <a:spcPts val="0"/>
              </a:spcAft>
              <a:buNone/>
            </a:pPr>
            <a:r>
              <a:rPr lang="en-US" sz="900">
                <a:solidFill>
                  <a:srgbClr val="4A5860"/>
                </a:solidFill>
                <a:latin typeface="Calibri"/>
                <a:ea typeface="Calibri"/>
                <a:cs typeface="Calibri"/>
                <a:sym typeface="Calibri"/>
              </a:rPr>
              <a:t>08 / 15</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18"/>
        </a:solidFill>
      </p:bgPr>
    </p:bg>
    <p:spTree>
      <p:nvGrpSpPr>
        <p:cNvPr id="292" name="Shape 292"/>
        <p:cNvGrpSpPr/>
        <p:nvPr/>
      </p:nvGrpSpPr>
      <p:grpSpPr>
        <a:xfrm>
          <a:off x="0" y="0"/>
          <a:ext cx="0" cy="0"/>
          <a:chOff x="0" y="0"/>
          <a:chExt cx="0" cy="0"/>
        </a:xfrm>
      </p:grpSpPr>
      <p:sp>
        <p:nvSpPr>
          <p:cNvPr id="293" name="Google Shape;293;p11"/>
          <p:cNvSpPr txBox="1"/>
          <p:nvPr/>
        </p:nvSpPr>
        <p:spPr>
          <a:xfrm>
            <a:off x="640080" y="411480"/>
            <a:ext cx="10881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0AA"/>
              </a:buClr>
              <a:buSzPts val="1200"/>
              <a:buFont typeface="Calibri"/>
              <a:buNone/>
            </a:pPr>
            <a:r>
              <a:rPr b="1" lang="en-US" sz="1200">
                <a:solidFill>
                  <a:srgbClr val="8FA0AA"/>
                </a:solidFill>
                <a:latin typeface="Calibri"/>
                <a:ea typeface="Calibri"/>
                <a:cs typeface="Calibri"/>
                <a:sym typeface="Calibri"/>
              </a:rPr>
              <a:t>08  ·  IMPLEMENTATION</a:t>
            </a:r>
            <a:endParaRPr sz="1200">
              <a:solidFill>
                <a:schemeClr val="dk1"/>
              </a:solidFill>
              <a:latin typeface="Calibri"/>
              <a:ea typeface="Calibri"/>
              <a:cs typeface="Calibri"/>
              <a:sym typeface="Calibri"/>
            </a:endParaRPr>
          </a:p>
        </p:txBody>
      </p:sp>
      <p:sp>
        <p:nvSpPr>
          <p:cNvPr id="294" name="Google Shape;294;p11"/>
          <p:cNvSpPr txBox="1"/>
          <p:nvPr/>
        </p:nvSpPr>
        <p:spPr>
          <a:xfrm>
            <a:off x="640080" y="694944"/>
            <a:ext cx="1088136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300"/>
              <a:buFont typeface="Cambria"/>
              <a:buNone/>
            </a:pPr>
            <a:r>
              <a:rPr b="1" lang="en-US" sz="3300">
                <a:solidFill>
                  <a:srgbClr val="FFFFFF"/>
                </a:solidFill>
                <a:latin typeface="Cambria"/>
                <a:ea typeface="Cambria"/>
                <a:cs typeface="Cambria"/>
                <a:sym typeface="Cambria"/>
              </a:rPr>
              <a:t>The system in operation</a:t>
            </a:r>
            <a:endParaRPr sz="3300">
              <a:solidFill>
                <a:schemeClr val="dk1"/>
              </a:solidFill>
              <a:latin typeface="Calibri"/>
              <a:ea typeface="Calibri"/>
              <a:cs typeface="Calibri"/>
              <a:sym typeface="Calibri"/>
            </a:endParaRPr>
          </a:p>
        </p:txBody>
      </p:sp>
      <p:pic>
        <p:nvPicPr>
          <p:cNvPr descr="C:\Users\ri958\AppData\Local\Temp\claude\D--Projects-CSE499-15-MSRB-GROUP-1-main-CampusEye-Sophisticated-Campus-Monitoring-System\61b8e5c4-6821-4229-a9a1-35c7f6dc1e84\scratchpad\shot-overview.png" id="295" name="Google Shape;295;p11"/>
          <p:cNvPicPr preferRelativeResize="0"/>
          <p:nvPr/>
        </p:nvPicPr>
        <p:blipFill rotWithShape="1">
          <a:blip r:embed="rId3">
            <a:alphaModFix/>
          </a:blip>
          <a:srcRect b="0" l="0" r="0" t="0"/>
          <a:stretch/>
        </p:blipFill>
        <p:spPr>
          <a:xfrm>
            <a:off x="2752344" y="1481328"/>
            <a:ext cx="6656832" cy="4160520"/>
          </a:xfrm>
          <a:prstGeom prst="rect">
            <a:avLst/>
          </a:prstGeom>
          <a:noFill/>
          <a:ln>
            <a:noFill/>
          </a:ln>
        </p:spPr>
      </p:pic>
      <p:sp>
        <p:nvSpPr>
          <p:cNvPr id="296" name="Google Shape;296;p11"/>
          <p:cNvSpPr/>
          <p:nvPr/>
        </p:nvSpPr>
        <p:spPr>
          <a:xfrm>
            <a:off x="2688336" y="1417320"/>
            <a:ext cx="201168" cy="20117"/>
          </a:xfrm>
          <a:prstGeom prst="rect">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11"/>
          <p:cNvSpPr/>
          <p:nvPr/>
        </p:nvSpPr>
        <p:spPr>
          <a:xfrm>
            <a:off x="2688336" y="1417320"/>
            <a:ext cx="20117" cy="201168"/>
          </a:xfrm>
          <a:prstGeom prst="rect">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1"/>
          <p:cNvSpPr/>
          <p:nvPr/>
        </p:nvSpPr>
        <p:spPr>
          <a:xfrm>
            <a:off x="9272016" y="1417320"/>
            <a:ext cx="201168" cy="20117"/>
          </a:xfrm>
          <a:prstGeom prst="rect">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11"/>
          <p:cNvSpPr/>
          <p:nvPr/>
        </p:nvSpPr>
        <p:spPr>
          <a:xfrm>
            <a:off x="9453067" y="1417320"/>
            <a:ext cx="20117" cy="201168"/>
          </a:xfrm>
          <a:prstGeom prst="rect">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11"/>
          <p:cNvSpPr/>
          <p:nvPr/>
        </p:nvSpPr>
        <p:spPr>
          <a:xfrm>
            <a:off x="2688336" y="5685739"/>
            <a:ext cx="201168" cy="20117"/>
          </a:xfrm>
          <a:prstGeom prst="rect">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11"/>
          <p:cNvSpPr/>
          <p:nvPr/>
        </p:nvSpPr>
        <p:spPr>
          <a:xfrm>
            <a:off x="2688336" y="5504688"/>
            <a:ext cx="20117" cy="201168"/>
          </a:xfrm>
          <a:prstGeom prst="rect">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1"/>
          <p:cNvSpPr/>
          <p:nvPr/>
        </p:nvSpPr>
        <p:spPr>
          <a:xfrm>
            <a:off x="9272016" y="5685739"/>
            <a:ext cx="201168" cy="20117"/>
          </a:xfrm>
          <a:prstGeom prst="rect">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11"/>
          <p:cNvSpPr/>
          <p:nvPr/>
        </p:nvSpPr>
        <p:spPr>
          <a:xfrm>
            <a:off x="9453067" y="5504688"/>
            <a:ext cx="20117" cy="201168"/>
          </a:xfrm>
          <a:prstGeom prst="rect">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11"/>
          <p:cNvSpPr txBox="1"/>
          <p:nvPr/>
        </p:nvSpPr>
        <p:spPr>
          <a:xfrm>
            <a:off x="640080" y="5779008"/>
            <a:ext cx="108813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C9AA5"/>
              </a:buClr>
              <a:buSzPts val="1200"/>
              <a:buFont typeface="Calibri"/>
              <a:buNone/>
            </a:pPr>
            <a:r>
              <a:rPr b="1" lang="en-US" sz="2000">
                <a:solidFill>
                  <a:srgbClr val="8C9AA5"/>
                </a:solidFill>
                <a:latin typeface="Calibri"/>
                <a:ea typeface="Calibri"/>
                <a:cs typeface="Calibri"/>
                <a:sym typeface="Calibri"/>
              </a:rPr>
              <a:t>Overview — live register, roster coverage and a fourteen-day attendance trend.</a:t>
            </a:r>
            <a:endParaRPr b="1" sz="2000">
              <a:solidFill>
                <a:schemeClr val="dk1"/>
              </a:solidFill>
              <a:latin typeface="Calibri"/>
              <a:ea typeface="Calibri"/>
              <a:cs typeface="Calibri"/>
              <a:sym typeface="Calibri"/>
            </a:endParaRPr>
          </a:p>
        </p:txBody>
      </p:sp>
      <p:sp>
        <p:nvSpPr>
          <p:cNvPr id="305" name="Google Shape;305;p11"/>
          <p:cNvSpPr/>
          <p:nvPr/>
        </p:nvSpPr>
        <p:spPr>
          <a:xfrm>
            <a:off x="502920"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11"/>
          <p:cNvSpPr/>
          <p:nvPr/>
        </p:nvSpPr>
        <p:spPr>
          <a:xfrm>
            <a:off x="502920"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11"/>
          <p:cNvSpPr/>
          <p:nvPr/>
        </p:nvSpPr>
        <p:spPr>
          <a:xfrm>
            <a:off x="11323015"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11"/>
          <p:cNvSpPr/>
          <p:nvPr/>
        </p:nvSpPr>
        <p:spPr>
          <a:xfrm>
            <a:off x="11661343"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11"/>
          <p:cNvSpPr/>
          <p:nvPr/>
        </p:nvSpPr>
        <p:spPr>
          <a:xfrm>
            <a:off x="502920"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1"/>
          <p:cNvSpPr/>
          <p:nvPr/>
        </p:nvSpPr>
        <p:spPr>
          <a:xfrm>
            <a:off x="502920"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1"/>
          <p:cNvSpPr/>
          <p:nvPr/>
        </p:nvSpPr>
        <p:spPr>
          <a:xfrm>
            <a:off x="11323015"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11"/>
          <p:cNvSpPr/>
          <p:nvPr/>
        </p:nvSpPr>
        <p:spPr>
          <a:xfrm>
            <a:off x="11661343"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11"/>
          <p:cNvSpPr/>
          <p:nvPr/>
        </p:nvSpPr>
        <p:spPr>
          <a:xfrm>
            <a:off x="640080" y="6416040"/>
            <a:ext cx="10881360" cy="3175"/>
          </a:xfrm>
          <a:prstGeom prst="rect">
            <a:avLst/>
          </a:prstGeom>
          <a:solidFill>
            <a:srgbClr val="2A3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11"/>
          <p:cNvSpPr txBox="1"/>
          <p:nvPr/>
        </p:nvSpPr>
        <p:spPr>
          <a:xfrm>
            <a:off x="640080" y="6470000"/>
            <a:ext cx="4000000" cy="2286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900">
                <a:solidFill>
                  <a:srgbClr val="4A5860"/>
                </a:solidFill>
                <a:latin typeface="Calibri"/>
                <a:ea typeface="Calibri"/>
                <a:cs typeface="Calibri"/>
                <a:sym typeface="Calibri"/>
              </a:rPr>
              <a:t>CAMPUSEYE  ·  CSE499A</a:t>
            </a:r>
            <a:endParaRPr/>
          </a:p>
        </p:txBody>
      </p:sp>
      <p:sp>
        <p:nvSpPr>
          <p:cNvPr id="315" name="Google Shape;315;p11"/>
          <p:cNvSpPr txBox="1"/>
          <p:nvPr/>
        </p:nvSpPr>
        <p:spPr>
          <a:xfrm>
            <a:off x="9521440" y="6470000"/>
            <a:ext cx="2000000" cy="228600"/>
          </a:xfrm>
          <a:prstGeom prst="rect">
            <a:avLst/>
          </a:prstGeom>
          <a:noFill/>
          <a:ln>
            <a:noFill/>
          </a:ln>
        </p:spPr>
        <p:txBody>
          <a:bodyPr anchorCtr="0" anchor="t" bIns="45700" lIns="0" spcFirstLastPara="1" rIns="91425" wrap="square" tIns="0">
            <a:spAutoFit/>
          </a:bodyPr>
          <a:lstStyle/>
          <a:p>
            <a:pPr indent="0" lvl="0" marL="0" marR="0" rtl="0" algn="r">
              <a:spcBef>
                <a:spcPts val="0"/>
              </a:spcBef>
              <a:spcAft>
                <a:spcPts val="0"/>
              </a:spcAft>
              <a:buNone/>
            </a:pPr>
            <a:r>
              <a:rPr lang="en-US" sz="900">
                <a:solidFill>
                  <a:srgbClr val="4A5860"/>
                </a:solidFill>
                <a:latin typeface="Calibri"/>
                <a:ea typeface="Calibri"/>
                <a:cs typeface="Calibri"/>
                <a:sym typeface="Calibri"/>
              </a:rPr>
              <a:t>09 / 15</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18"/>
        </a:solidFill>
      </p:bgPr>
    </p:bg>
    <p:spTree>
      <p:nvGrpSpPr>
        <p:cNvPr id="320" name="Shape 320"/>
        <p:cNvGrpSpPr/>
        <p:nvPr/>
      </p:nvGrpSpPr>
      <p:grpSpPr>
        <a:xfrm>
          <a:off x="0" y="0"/>
          <a:ext cx="0" cy="0"/>
          <a:chOff x="0" y="0"/>
          <a:chExt cx="0" cy="0"/>
        </a:xfrm>
      </p:grpSpPr>
      <p:sp>
        <p:nvSpPr>
          <p:cNvPr id="321" name="Google Shape;321;p12"/>
          <p:cNvSpPr txBox="1"/>
          <p:nvPr/>
        </p:nvSpPr>
        <p:spPr>
          <a:xfrm>
            <a:off x="640080" y="411480"/>
            <a:ext cx="10881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0AA"/>
              </a:buClr>
              <a:buSzPts val="1200"/>
              <a:buFont typeface="Calibri"/>
              <a:buNone/>
            </a:pPr>
            <a:r>
              <a:rPr b="1" lang="en-US" sz="1200">
                <a:solidFill>
                  <a:srgbClr val="8FA0AA"/>
                </a:solidFill>
                <a:latin typeface="Calibri"/>
                <a:ea typeface="Calibri"/>
                <a:cs typeface="Calibri"/>
                <a:sym typeface="Calibri"/>
              </a:rPr>
              <a:t>08  ·  IMPLEMENTATION</a:t>
            </a:r>
            <a:endParaRPr sz="1200">
              <a:solidFill>
                <a:schemeClr val="dk1"/>
              </a:solidFill>
              <a:latin typeface="Calibri"/>
              <a:ea typeface="Calibri"/>
              <a:cs typeface="Calibri"/>
              <a:sym typeface="Calibri"/>
            </a:endParaRPr>
          </a:p>
        </p:txBody>
      </p:sp>
      <p:sp>
        <p:nvSpPr>
          <p:cNvPr id="322" name="Google Shape;322;p12"/>
          <p:cNvSpPr txBox="1"/>
          <p:nvPr/>
        </p:nvSpPr>
        <p:spPr>
          <a:xfrm>
            <a:off x="640078" y="694950"/>
            <a:ext cx="4782300" cy="67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300"/>
              <a:buFont typeface="Cambria"/>
              <a:buNone/>
            </a:pPr>
            <a:r>
              <a:rPr b="1" lang="en-US" sz="3300">
                <a:solidFill>
                  <a:srgbClr val="FFFFFF"/>
                </a:solidFill>
                <a:latin typeface="Cambria"/>
                <a:ea typeface="Cambria"/>
                <a:cs typeface="Cambria"/>
                <a:sym typeface="Cambria"/>
              </a:rPr>
              <a:t>A complete register from one photograph</a:t>
            </a:r>
            <a:endParaRPr sz="3300">
              <a:solidFill>
                <a:schemeClr val="dk1"/>
              </a:solidFill>
              <a:latin typeface="Calibri"/>
              <a:ea typeface="Calibri"/>
              <a:cs typeface="Calibri"/>
              <a:sym typeface="Calibri"/>
            </a:endParaRPr>
          </a:p>
        </p:txBody>
      </p:sp>
      <p:pic>
        <p:nvPicPr>
          <p:cNvPr descr="C:\Users\ri958\AppData\Local\Temp\claude\D--Projects-CSE499-15-MSRB-GROUP-1-main-CampusEye-Sophisticated-Campus-Monitoring-System\61b8e5c4-6821-4229-a9a1-35c7f6dc1e84\scratchpad\shot-reports.png" id="323" name="Google Shape;323;p12"/>
          <p:cNvPicPr preferRelativeResize="0"/>
          <p:nvPr/>
        </p:nvPicPr>
        <p:blipFill rotWithShape="1">
          <a:blip r:embed="rId3">
            <a:alphaModFix/>
          </a:blip>
          <a:srcRect b="0" l="0" r="0" t="0"/>
          <a:stretch/>
        </p:blipFill>
        <p:spPr>
          <a:xfrm>
            <a:off x="5128298" y="1140837"/>
            <a:ext cx="6533062" cy="5217276"/>
          </a:xfrm>
          <a:prstGeom prst="rect">
            <a:avLst/>
          </a:prstGeom>
          <a:noFill/>
          <a:ln>
            <a:noFill/>
          </a:ln>
        </p:spPr>
      </p:pic>
      <p:sp>
        <p:nvSpPr>
          <p:cNvPr id="324" name="Google Shape;324;p12"/>
          <p:cNvSpPr/>
          <p:nvPr/>
        </p:nvSpPr>
        <p:spPr>
          <a:xfrm>
            <a:off x="5114750" y="1140820"/>
            <a:ext cx="201300" cy="20100"/>
          </a:xfrm>
          <a:prstGeom prst="rect">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12"/>
          <p:cNvSpPr/>
          <p:nvPr/>
        </p:nvSpPr>
        <p:spPr>
          <a:xfrm>
            <a:off x="5114750" y="1140820"/>
            <a:ext cx="20100" cy="201300"/>
          </a:xfrm>
          <a:prstGeom prst="rect">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2"/>
          <p:cNvSpPr/>
          <p:nvPr/>
        </p:nvSpPr>
        <p:spPr>
          <a:xfrm>
            <a:off x="11460177" y="1140883"/>
            <a:ext cx="201300" cy="20100"/>
          </a:xfrm>
          <a:prstGeom prst="rect">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12"/>
          <p:cNvSpPr/>
          <p:nvPr/>
        </p:nvSpPr>
        <p:spPr>
          <a:xfrm>
            <a:off x="11641228" y="1140883"/>
            <a:ext cx="20100" cy="201300"/>
          </a:xfrm>
          <a:prstGeom prst="rect">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12"/>
          <p:cNvSpPr/>
          <p:nvPr/>
        </p:nvSpPr>
        <p:spPr>
          <a:xfrm>
            <a:off x="5128300" y="6353264"/>
            <a:ext cx="201300" cy="20100"/>
          </a:xfrm>
          <a:prstGeom prst="rect">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12"/>
          <p:cNvSpPr/>
          <p:nvPr/>
        </p:nvSpPr>
        <p:spPr>
          <a:xfrm>
            <a:off x="5114757" y="6172213"/>
            <a:ext cx="20100" cy="201300"/>
          </a:xfrm>
          <a:prstGeom prst="rect">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12"/>
          <p:cNvSpPr/>
          <p:nvPr/>
        </p:nvSpPr>
        <p:spPr>
          <a:xfrm>
            <a:off x="11460177" y="6345014"/>
            <a:ext cx="201300" cy="20100"/>
          </a:xfrm>
          <a:prstGeom prst="rect">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12"/>
          <p:cNvSpPr/>
          <p:nvPr/>
        </p:nvSpPr>
        <p:spPr>
          <a:xfrm>
            <a:off x="11641228" y="6163963"/>
            <a:ext cx="20100" cy="201300"/>
          </a:xfrm>
          <a:prstGeom prst="rect">
            <a:avLst/>
          </a:prstGeom>
          <a:solidFill>
            <a:srgbClr val="34D3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12"/>
          <p:cNvSpPr txBox="1"/>
          <p:nvPr/>
        </p:nvSpPr>
        <p:spPr>
          <a:xfrm>
            <a:off x="640075" y="3300975"/>
            <a:ext cx="4348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C9AA5"/>
              </a:buClr>
              <a:buSzPts val="1200"/>
              <a:buFont typeface="Calibri"/>
              <a:buNone/>
            </a:pPr>
            <a:r>
              <a:rPr lang="en-US" sz="1800">
                <a:solidFill>
                  <a:srgbClr val="8C9AA5"/>
                </a:solidFill>
                <a:latin typeface="Calibri"/>
                <a:ea typeface="Calibri"/>
                <a:cs typeface="Calibri"/>
                <a:sym typeface="Calibri"/>
              </a:rPr>
              <a:t>Attendance report — five students recognised, twenty-five resolved absent from the roster, exportable as CSV.</a:t>
            </a:r>
            <a:endParaRPr sz="1800">
              <a:solidFill>
                <a:schemeClr val="dk1"/>
              </a:solidFill>
              <a:latin typeface="Calibri"/>
              <a:ea typeface="Calibri"/>
              <a:cs typeface="Calibri"/>
              <a:sym typeface="Calibri"/>
            </a:endParaRPr>
          </a:p>
        </p:txBody>
      </p:sp>
      <p:sp>
        <p:nvSpPr>
          <p:cNvPr id="333" name="Google Shape;333;p12"/>
          <p:cNvSpPr/>
          <p:nvPr/>
        </p:nvSpPr>
        <p:spPr>
          <a:xfrm>
            <a:off x="502920"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12"/>
          <p:cNvSpPr/>
          <p:nvPr/>
        </p:nvSpPr>
        <p:spPr>
          <a:xfrm>
            <a:off x="502920"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12"/>
          <p:cNvSpPr/>
          <p:nvPr/>
        </p:nvSpPr>
        <p:spPr>
          <a:xfrm>
            <a:off x="11323015"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12"/>
          <p:cNvSpPr/>
          <p:nvPr/>
        </p:nvSpPr>
        <p:spPr>
          <a:xfrm>
            <a:off x="11661343"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12"/>
          <p:cNvSpPr/>
          <p:nvPr/>
        </p:nvSpPr>
        <p:spPr>
          <a:xfrm>
            <a:off x="502920"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12"/>
          <p:cNvSpPr/>
          <p:nvPr/>
        </p:nvSpPr>
        <p:spPr>
          <a:xfrm>
            <a:off x="502920"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12"/>
          <p:cNvSpPr/>
          <p:nvPr/>
        </p:nvSpPr>
        <p:spPr>
          <a:xfrm>
            <a:off x="11323015"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12"/>
          <p:cNvSpPr/>
          <p:nvPr/>
        </p:nvSpPr>
        <p:spPr>
          <a:xfrm>
            <a:off x="11661343"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12"/>
          <p:cNvSpPr/>
          <p:nvPr/>
        </p:nvSpPr>
        <p:spPr>
          <a:xfrm>
            <a:off x="640080" y="6416040"/>
            <a:ext cx="10881360" cy="3175"/>
          </a:xfrm>
          <a:prstGeom prst="rect">
            <a:avLst/>
          </a:prstGeom>
          <a:solidFill>
            <a:srgbClr val="2A3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12"/>
          <p:cNvSpPr txBox="1"/>
          <p:nvPr/>
        </p:nvSpPr>
        <p:spPr>
          <a:xfrm>
            <a:off x="640080" y="6470000"/>
            <a:ext cx="4000000" cy="2286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900">
                <a:solidFill>
                  <a:srgbClr val="4A5860"/>
                </a:solidFill>
                <a:latin typeface="Calibri"/>
                <a:ea typeface="Calibri"/>
                <a:cs typeface="Calibri"/>
                <a:sym typeface="Calibri"/>
              </a:rPr>
              <a:t>CAMPUSEYE  ·  CSE499A</a:t>
            </a:r>
            <a:endParaRPr/>
          </a:p>
        </p:txBody>
      </p:sp>
      <p:sp>
        <p:nvSpPr>
          <p:cNvPr id="343" name="Google Shape;343;p12"/>
          <p:cNvSpPr txBox="1"/>
          <p:nvPr/>
        </p:nvSpPr>
        <p:spPr>
          <a:xfrm>
            <a:off x="9521440" y="6470000"/>
            <a:ext cx="2000000" cy="228600"/>
          </a:xfrm>
          <a:prstGeom prst="rect">
            <a:avLst/>
          </a:prstGeom>
          <a:noFill/>
          <a:ln>
            <a:noFill/>
          </a:ln>
        </p:spPr>
        <p:txBody>
          <a:bodyPr anchorCtr="0" anchor="t" bIns="45700" lIns="0" spcFirstLastPara="1" rIns="91425" wrap="square" tIns="0">
            <a:spAutoFit/>
          </a:bodyPr>
          <a:lstStyle/>
          <a:p>
            <a:pPr indent="0" lvl="0" marL="0" marR="0" rtl="0" algn="r">
              <a:spcBef>
                <a:spcPts val="0"/>
              </a:spcBef>
              <a:spcAft>
                <a:spcPts val="0"/>
              </a:spcAft>
              <a:buNone/>
            </a:pPr>
            <a:r>
              <a:rPr lang="en-US" sz="900">
                <a:solidFill>
                  <a:srgbClr val="4A5860"/>
                </a:solidFill>
                <a:latin typeface="Calibri"/>
                <a:ea typeface="Calibri"/>
                <a:cs typeface="Calibri"/>
                <a:sym typeface="Calibri"/>
              </a:rPr>
              <a:t>10 / 15</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18"/>
        </a:solidFill>
      </p:bgPr>
    </p:bg>
    <p:spTree>
      <p:nvGrpSpPr>
        <p:cNvPr id="348" name="Shape 348"/>
        <p:cNvGrpSpPr/>
        <p:nvPr/>
      </p:nvGrpSpPr>
      <p:grpSpPr>
        <a:xfrm>
          <a:off x="0" y="0"/>
          <a:ext cx="0" cy="0"/>
          <a:chOff x="0" y="0"/>
          <a:chExt cx="0" cy="0"/>
        </a:xfrm>
      </p:grpSpPr>
      <p:sp>
        <p:nvSpPr>
          <p:cNvPr id="349" name="Google Shape;349;p13"/>
          <p:cNvSpPr txBox="1"/>
          <p:nvPr/>
        </p:nvSpPr>
        <p:spPr>
          <a:xfrm>
            <a:off x="640080" y="411480"/>
            <a:ext cx="10881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0AA"/>
              </a:buClr>
              <a:buSzPts val="1200"/>
              <a:buFont typeface="Calibri"/>
              <a:buNone/>
            </a:pPr>
            <a:r>
              <a:rPr b="1" lang="en-US" sz="1200">
                <a:solidFill>
                  <a:srgbClr val="8FA0AA"/>
                </a:solidFill>
                <a:latin typeface="Calibri"/>
                <a:ea typeface="Calibri"/>
                <a:cs typeface="Calibri"/>
                <a:sym typeface="Calibri"/>
              </a:rPr>
              <a:t>09  ·  RESULTS &amp; TESTING</a:t>
            </a:r>
            <a:endParaRPr sz="1200">
              <a:solidFill>
                <a:schemeClr val="dk1"/>
              </a:solidFill>
              <a:latin typeface="Calibri"/>
              <a:ea typeface="Calibri"/>
              <a:cs typeface="Calibri"/>
              <a:sym typeface="Calibri"/>
            </a:endParaRPr>
          </a:p>
        </p:txBody>
      </p:sp>
      <p:sp>
        <p:nvSpPr>
          <p:cNvPr id="350" name="Google Shape;350;p13"/>
          <p:cNvSpPr txBox="1"/>
          <p:nvPr/>
        </p:nvSpPr>
        <p:spPr>
          <a:xfrm>
            <a:off x="640080" y="694944"/>
            <a:ext cx="1088136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3300"/>
              <a:buFont typeface="Cambria"/>
              <a:buNone/>
            </a:pPr>
            <a:r>
              <a:rPr b="1" lang="en-US" sz="3300">
                <a:solidFill>
                  <a:srgbClr val="F5F8F9"/>
                </a:solidFill>
                <a:latin typeface="Cambria"/>
                <a:ea typeface="Cambria"/>
                <a:cs typeface="Cambria"/>
                <a:sym typeface="Cambria"/>
              </a:rPr>
              <a:t>What can be demonstrated today</a:t>
            </a:r>
            <a:endParaRPr sz="3300">
              <a:solidFill>
                <a:schemeClr val="dk1"/>
              </a:solidFill>
              <a:latin typeface="Calibri"/>
              <a:ea typeface="Calibri"/>
              <a:cs typeface="Calibri"/>
              <a:sym typeface="Calibri"/>
            </a:endParaRPr>
          </a:p>
        </p:txBody>
      </p:sp>
      <p:sp>
        <p:nvSpPr>
          <p:cNvPr id="351" name="Google Shape;351;p13"/>
          <p:cNvSpPr/>
          <p:nvPr/>
        </p:nvSpPr>
        <p:spPr>
          <a:xfrm>
            <a:off x="640080" y="1481328"/>
            <a:ext cx="3529584" cy="137160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13"/>
          <p:cNvSpPr txBox="1"/>
          <p:nvPr/>
        </p:nvSpPr>
        <p:spPr>
          <a:xfrm>
            <a:off x="932688" y="1609344"/>
            <a:ext cx="2926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B0"/>
              </a:buClr>
              <a:buSzPts val="4400"/>
              <a:buFont typeface="Cambria"/>
              <a:buNone/>
            </a:pPr>
            <a:r>
              <a:rPr b="1" lang="en-US" sz="4400">
                <a:solidFill>
                  <a:srgbClr val="5EEAB0"/>
                </a:solidFill>
                <a:latin typeface="Cambria"/>
                <a:ea typeface="Cambria"/>
                <a:cs typeface="Cambria"/>
                <a:sym typeface="Cambria"/>
              </a:rPr>
              <a:t>25</a:t>
            </a:r>
            <a:endParaRPr sz="4400">
              <a:solidFill>
                <a:schemeClr val="dk1"/>
              </a:solidFill>
              <a:latin typeface="Calibri"/>
              <a:ea typeface="Calibri"/>
              <a:cs typeface="Calibri"/>
              <a:sym typeface="Calibri"/>
            </a:endParaRPr>
          </a:p>
        </p:txBody>
      </p:sp>
      <p:sp>
        <p:nvSpPr>
          <p:cNvPr id="353" name="Google Shape;353;p13"/>
          <p:cNvSpPr txBox="1"/>
          <p:nvPr/>
        </p:nvSpPr>
        <p:spPr>
          <a:xfrm>
            <a:off x="932688" y="2340864"/>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3CED4"/>
              </a:buClr>
              <a:buSzPts val="1200"/>
              <a:buFont typeface="Calibri"/>
              <a:buNone/>
            </a:pPr>
            <a:r>
              <a:rPr lang="en-US" sz="1200">
                <a:solidFill>
                  <a:srgbClr val="C3CED4"/>
                </a:solidFill>
                <a:latin typeface="Calibri"/>
                <a:ea typeface="Calibri"/>
                <a:cs typeface="Calibri"/>
                <a:sym typeface="Calibri"/>
              </a:rPr>
              <a:t>automated tests passing</a:t>
            </a:r>
            <a:endParaRPr sz="1200">
              <a:solidFill>
                <a:schemeClr val="dk1"/>
              </a:solidFill>
              <a:latin typeface="Calibri"/>
              <a:ea typeface="Calibri"/>
              <a:cs typeface="Calibri"/>
              <a:sym typeface="Calibri"/>
            </a:endParaRPr>
          </a:p>
        </p:txBody>
      </p:sp>
      <p:sp>
        <p:nvSpPr>
          <p:cNvPr id="354" name="Google Shape;354;p13"/>
          <p:cNvSpPr/>
          <p:nvPr/>
        </p:nvSpPr>
        <p:spPr>
          <a:xfrm>
            <a:off x="4315968" y="1481328"/>
            <a:ext cx="3529584" cy="137160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13"/>
          <p:cNvSpPr txBox="1"/>
          <p:nvPr/>
        </p:nvSpPr>
        <p:spPr>
          <a:xfrm>
            <a:off x="4608576" y="1609344"/>
            <a:ext cx="2926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4400"/>
              <a:buFont typeface="Cambria"/>
              <a:buNone/>
            </a:pPr>
            <a:r>
              <a:rPr b="1" lang="en-US" sz="4400">
                <a:solidFill>
                  <a:srgbClr val="F5F8F9"/>
                </a:solidFill>
                <a:latin typeface="Cambria"/>
                <a:ea typeface="Cambria"/>
                <a:cs typeface="Cambria"/>
                <a:sym typeface="Cambria"/>
              </a:rPr>
              <a:t>30</a:t>
            </a:r>
            <a:endParaRPr sz="4400">
              <a:solidFill>
                <a:schemeClr val="dk1"/>
              </a:solidFill>
              <a:latin typeface="Calibri"/>
              <a:ea typeface="Calibri"/>
              <a:cs typeface="Calibri"/>
              <a:sym typeface="Calibri"/>
            </a:endParaRPr>
          </a:p>
        </p:txBody>
      </p:sp>
      <p:sp>
        <p:nvSpPr>
          <p:cNvPr id="356" name="Google Shape;356;p13"/>
          <p:cNvSpPr txBox="1"/>
          <p:nvPr/>
        </p:nvSpPr>
        <p:spPr>
          <a:xfrm>
            <a:off x="4608576" y="2340864"/>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3CED4"/>
              </a:buClr>
              <a:buSzPts val="1200"/>
              <a:buFont typeface="Calibri"/>
              <a:buNone/>
            </a:pPr>
            <a:r>
              <a:rPr lang="en-US" sz="1200">
                <a:solidFill>
                  <a:srgbClr val="C3CED4"/>
                </a:solidFill>
                <a:latin typeface="Calibri"/>
                <a:ea typeface="Calibri"/>
                <a:cs typeface="Calibri"/>
                <a:sym typeface="Calibri"/>
              </a:rPr>
              <a:t>students on the test roster</a:t>
            </a:r>
            <a:endParaRPr sz="1200">
              <a:solidFill>
                <a:schemeClr val="dk1"/>
              </a:solidFill>
              <a:latin typeface="Calibri"/>
              <a:ea typeface="Calibri"/>
              <a:cs typeface="Calibri"/>
              <a:sym typeface="Calibri"/>
            </a:endParaRPr>
          </a:p>
        </p:txBody>
      </p:sp>
      <p:sp>
        <p:nvSpPr>
          <p:cNvPr id="357" name="Google Shape;357;p13"/>
          <p:cNvSpPr/>
          <p:nvPr/>
        </p:nvSpPr>
        <p:spPr>
          <a:xfrm>
            <a:off x="7991856" y="1481328"/>
            <a:ext cx="3529584" cy="137160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13"/>
          <p:cNvSpPr txBox="1"/>
          <p:nvPr/>
        </p:nvSpPr>
        <p:spPr>
          <a:xfrm>
            <a:off x="8284464" y="1609344"/>
            <a:ext cx="2926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B0"/>
              </a:buClr>
              <a:buSzPts val="4400"/>
              <a:buFont typeface="Cambria"/>
              <a:buNone/>
            </a:pPr>
            <a:r>
              <a:rPr b="1" lang="en-US" sz="4400">
                <a:solidFill>
                  <a:srgbClr val="5EEAB0"/>
                </a:solidFill>
                <a:latin typeface="Cambria"/>
                <a:ea typeface="Cambria"/>
                <a:cs typeface="Cambria"/>
                <a:sym typeface="Cambria"/>
              </a:rPr>
              <a:t>0</a:t>
            </a:r>
            <a:endParaRPr sz="4400">
              <a:solidFill>
                <a:schemeClr val="dk1"/>
              </a:solidFill>
              <a:latin typeface="Calibri"/>
              <a:ea typeface="Calibri"/>
              <a:cs typeface="Calibri"/>
              <a:sym typeface="Calibri"/>
            </a:endParaRPr>
          </a:p>
        </p:txBody>
      </p:sp>
      <p:sp>
        <p:nvSpPr>
          <p:cNvPr id="359" name="Google Shape;359;p13"/>
          <p:cNvSpPr txBox="1"/>
          <p:nvPr/>
        </p:nvSpPr>
        <p:spPr>
          <a:xfrm>
            <a:off x="8284464" y="2340864"/>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3CED4"/>
              </a:buClr>
              <a:buSzPts val="1200"/>
              <a:buFont typeface="Calibri"/>
              <a:buNone/>
            </a:pPr>
            <a:r>
              <a:rPr lang="en-US" sz="1200">
                <a:solidFill>
                  <a:srgbClr val="C3CED4"/>
                </a:solidFill>
                <a:latin typeface="Calibri"/>
                <a:ea typeface="Calibri"/>
                <a:cs typeface="Calibri"/>
                <a:sym typeface="Calibri"/>
              </a:rPr>
              <a:t>server errors in 853 requests</a:t>
            </a:r>
            <a:endParaRPr sz="1200">
              <a:solidFill>
                <a:schemeClr val="dk1"/>
              </a:solidFill>
              <a:latin typeface="Calibri"/>
              <a:ea typeface="Calibri"/>
              <a:cs typeface="Calibri"/>
              <a:sym typeface="Calibri"/>
            </a:endParaRPr>
          </a:p>
        </p:txBody>
      </p:sp>
      <p:sp>
        <p:nvSpPr>
          <p:cNvPr id="360" name="Google Shape;360;p13"/>
          <p:cNvSpPr txBox="1"/>
          <p:nvPr/>
        </p:nvSpPr>
        <p:spPr>
          <a:xfrm>
            <a:off x="640080" y="3054096"/>
            <a:ext cx="10881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700"/>
              <a:buFont typeface="Cambria"/>
              <a:buNone/>
            </a:pPr>
            <a:r>
              <a:rPr b="1" lang="en-US" sz="1700">
                <a:solidFill>
                  <a:srgbClr val="F5F8F9"/>
                </a:solidFill>
                <a:latin typeface="Cambria"/>
                <a:ea typeface="Cambria"/>
                <a:cs typeface="Cambria"/>
                <a:sym typeface="Cambria"/>
              </a:rPr>
              <a:t>Acceptance test — one section, one photograph</a:t>
            </a:r>
            <a:endParaRPr sz="1700">
              <a:solidFill>
                <a:schemeClr val="dk1"/>
              </a:solidFill>
              <a:latin typeface="Calibri"/>
              <a:ea typeface="Calibri"/>
              <a:cs typeface="Calibri"/>
              <a:sym typeface="Calibri"/>
            </a:endParaRPr>
          </a:p>
        </p:txBody>
      </p:sp>
      <p:pic>
        <p:nvPicPr>
          <p:cNvPr id="361" name="Google Shape;361;p13"/>
          <p:cNvPicPr preferRelativeResize="0"/>
          <p:nvPr/>
        </p:nvPicPr>
        <p:blipFill rotWithShape="1">
          <a:blip r:embed="rId3">
            <a:alphaModFix/>
          </a:blip>
          <a:srcRect b="0" l="0" r="0" t="0"/>
          <a:stretch/>
        </p:blipFill>
        <p:spPr>
          <a:xfrm>
            <a:off x="640080" y="3456432"/>
            <a:ext cx="5029200" cy="2194560"/>
          </a:xfrm>
          <a:prstGeom prst="rect">
            <a:avLst/>
          </a:prstGeom>
          <a:noFill/>
          <a:ln>
            <a:noFill/>
          </a:ln>
        </p:spPr>
      </p:pic>
      <p:sp>
        <p:nvSpPr>
          <p:cNvPr id="362" name="Google Shape;362;p13"/>
          <p:cNvSpPr txBox="1"/>
          <p:nvPr/>
        </p:nvSpPr>
        <p:spPr>
          <a:xfrm>
            <a:off x="5943600" y="3547872"/>
            <a:ext cx="5577840" cy="201168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F5F8F9"/>
              </a:buClr>
              <a:buSzPts val="1300"/>
              <a:buFont typeface="Calibri"/>
              <a:buNone/>
            </a:pPr>
            <a:r>
              <a:rPr b="1" lang="en-US" sz="1500">
                <a:solidFill>
                  <a:srgbClr val="F5F8F9"/>
                </a:solidFill>
                <a:latin typeface="Calibri"/>
                <a:ea typeface="Calibri"/>
                <a:cs typeface="Calibri"/>
                <a:sym typeface="Calibri"/>
              </a:rPr>
              <a:t>Target: 5 present and 25 absent from a 30-student roster.</a:t>
            </a:r>
            <a:endParaRPr sz="1500">
              <a:solidFill>
                <a:schemeClr val="dk1"/>
              </a:solidFill>
              <a:latin typeface="Calibri"/>
              <a:ea typeface="Calibri"/>
              <a:cs typeface="Calibri"/>
              <a:sym typeface="Calibri"/>
            </a:endParaRPr>
          </a:p>
          <a:p>
            <a:pPr indent="0" lvl="0" marL="0" marR="0" rtl="0" algn="l">
              <a:lnSpc>
                <a:spcPct val="138461"/>
              </a:lnSpc>
              <a:spcBef>
                <a:spcPts val="0"/>
              </a:spcBef>
              <a:spcAft>
                <a:spcPts val="0"/>
              </a:spcAft>
              <a:buClr>
                <a:srgbClr val="C3CED4"/>
              </a:buClr>
              <a:buSzPts val="1300"/>
              <a:buFont typeface="Calibri"/>
              <a:buNone/>
            </a:pPr>
            <a:r>
              <a:rPr lang="en-US" sz="1500">
                <a:solidFill>
                  <a:srgbClr val="C3CED4"/>
                </a:solidFill>
                <a:latin typeface="Calibri"/>
                <a:ea typeface="Calibri"/>
                <a:cs typeface="Calibri"/>
                <a:sym typeface="Calibri"/>
              </a:rPr>
              <a:t>Five students were recognised from a single photograph. The remaining twenty-five were resolved against the course roster and written to the register as Absent — a complete register, with no manual entry.</a:t>
            </a:r>
            <a:endParaRPr sz="1500">
              <a:solidFill>
                <a:schemeClr val="dk1"/>
              </a:solidFill>
              <a:latin typeface="Calibri"/>
              <a:ea typeface="Calibri"/>
              <a:cs typeface="Calibri"/>
              <a:sym typeface="Calibri"/>
            </a:endParaRPr>
          </a:p>
          <a:p>
            <a:pPr indent="0" lvl="0" marL="0" marR="0" rtl="0" algn="l">
              <a:lnSpc>
                <a:spcPct val="138461"/>
              </a:lnSpc>
              <a:spcBef>
                <a:spcPts val="0"/>
              </a:spcBef>
              <a:spcAft>
                <a:spcPts val="0"/>
              </a:spcAft>
              <a:buClr>
                <a:schemeClr val="dk1"/>
              </a:buClr>
              <a:buSzPts val="1300"/>
              <a:buFont typeface="Calibri"/>
              <a:buNone/>
            </a:pPr>
            <a:r>
              <a:t/>
            </a:r>
            <a:endParaRPr sz="1500">
              <a:solidFill>
                <a:schemeClr val="dk1"/>
              </a:solidFill>
              <a:latin typeface="Calibri"/>
              <a:ea typeface="Calibri"/>
              <a:cs typeface="Calibri"/>
              <a:sym typeface="Calibri"/>
            </a:endParaRPr>
          </a:p>
          <a:p>
            <a:pPr indent="0" lvl="0" marL="0" marR="0" rtl="0" algn="l">
              <a:lnSpc>
                <a:spcPct val="138461"/>
              </a:lnSpc>
              <a:spcBef>
                <a:spcPts val="0"/>
              </a:spcBef>
              <a:spcAft>
                <a:spcPts val="0"/>
              </a:spcAft>
              <a:buClr>
                <a:srgbClr val="8FA0AA"/>
              </a:buClr>
              <a:buSzPts val="1300"/>
              <a:buFont typeface="Calibri"/>
              <a:buNone/>
            </a:pPr>
            <a:r>
              <a:rPr i="1" lang="en-US" sz="1500">
                <a:solidFill>
                  <a:srgbClr val="8FA0AA"/>
                </a:solidFill>
                <a:latin typeface="Calibri"/>
                <a:ea typeface="Calibri"/>
                <a:cs typeface="Calibri"/>
                <a:sym typeface="Calibri"/>
              </a:rPr>
              <a:t>Verified end to end through the HTTP API, not in unit tests alone.</a:t>
            </a:r>
            <a:endParaRPr sz="1500">
              <a:solidFill>
                <a:schemeClr val="dk1"/>
              </a:solidFill>
              <a:latin typeface="Calibri"/>
              <a:ea typeface="Calibri"/>
              <a:cs typeface="Calibri"/>
              <a:sym typeface="Calibri"/>
            </a:endParaRPr>
          </a:p>
        </p:txBody>
      </p:sp>
      <p:sp>
        <p:nvSpPr>
          <p:cNvPr id="363" name="Google Shape;363;p13"/>
          <p:cNvSpPr/>
          <p:nvPr/>
        </p:nvSpPr>
        <p:spPr>
          <a:xfrm>
            <a:off x="502920"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13"/>
          <p:cNvSpPr/>
          <p:nvPr/>
        </p:nvSpPr>
        <p:spPr>
          <a:xfrm>
            <a:off x="502920"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13"/>
          <p:cNvSpPr/>
          <p:nvPr/>
        </p:nvSpPr>
        <p:spPr>
          <a:xfrm>
            <a:off x="11323015"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13"/>
          <p:cNvSpPr/>
          <p:nvPr/>
        </p:nvSpPr>
        <p:spPr>
          <a:xfrm>
            <a:off x="11661343"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13"/>
          <p:cNvSpPr/>
          <p:nvPr/>
        </p:nvSpPr>
        <p:spPr>
          <a:xfrm>
            <a:off x="502920"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13"/>
          <p:cNvSpPr/>
          <p:nvPr/>
        </p:nvSpPr>
        <p:spPr>
          <a:xfrm>
            <a:off x="502920"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13"/>
          <p:cNvSpPr/>
          <p:nvPr/>
        </p:nvSpPr>
        <p:spPr>
          <a:xfrm>
            <a:off x="11323015"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13"/>
          <p:cNvSpPr/>
          <p:nvPr/>
        </p:nvSpPr>
        <p:spPr>
          <a:xfrm>
            <a:off x="11661343"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13"/>
          <p:cNvSpPr/>
          <p:nvPr/>
        </p:nvSpPr>
        <p:spPr>
          <a:xfrm>
            <a:off x="640080" y="6416040"/>
            <a:ext cx="10881360" cy="3175"/>
          </a:xfrm>
          <a:prstGeom prst="rect">
            <a:avLst/>
          </a:prstGeom>
          <a:solidFill>
            <a:srgbClr val="2A3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13"/>
          <p:cNvSpPr txBox="1"/>
          <p:nvPr/>
        </p:nvSpPr>
        <p:spPr>
          <a:xfrm>
            <a:off x="640080" y="6470000"/>
            <a:ext cx="4000000" cy="2286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900">
                <a:solidFill>
                  <a:srgbClr val="4A5860"/>
                </a:solidFill>
                <a:latin typeface="Calibri"/>
                <a:ea typeface="Calibri"/>
                <a:cs typeface="Calibri"/>
                <a:sym typeface="Calibri"/>
              </a:rPr>
              <a:t>CAMPUSEYE  ·  CSE499A</a:t>
            </a:r>
            <a:endParaRPr/>
          </a:p>
        </p:txBody>
      </p:sp>
      <p:sp>
        <p:nvSpPr>
          <p:cNvPr id="373" name="Google Shape;373;p13"/>
          <p:cNvSpPr txBox="1"/>
          <p:nvPr/>
        </p:nvSpPr>
        <p:spPr>
          <a:xfrm>
            <a:off x="9521440" y="6470000"/>
            <a:ext cx="2000000" cy="228600"/>
          </a:xfrm>
          <a:prstGeom prst="rect">
            <a:avLst/>
          </a:prstGeom>
          <a:noFill/>
          <a:ln>
            <a:noFill/>
          </a:ln>
        </p:spPr>
        <p:txBody>
          <a:bodyPr anchorCtr="0" anchor="t" bIns="45700" lIns="0" spcFirstLastPara="1" rIns="91425" wrap="square" tIns="0">
            <a:spAutoFit/>
          </a:bodyPr>
          <a:lstStyle/>
          <a:p>
            <a:pPr indent="0" lvl="0" marL="0" marR="0" rtl="0" algn="r">
              <a:spcBef>
                <a:spcPts val="0"/>
              </a:spcBef>
              <a:spcAft>
                <a:spcPts val="0"/>
              </a:spcAft>
              <a:buNone/>
            </a:pPr>
            <a:r>
              <a:rPr lang="en-US" sz="900">
                <a:solidFill>
                  <a:srgbClr val="4A5860"/>
                </a:solidFill>
                <a:latin typeface="Calibri"/>
                <a:ea typeface="Calibri"/>
                <a:cs typeface="Calibri"/>
                <a:sym typeface="Calibri"/>
              </a:rPr>
              <a:t>11 / 15</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18"/>
        </a:solidFill>
      </p:bgPr>
    </p:bg>
    <p:spTree>
      <p:nvGrpSpPr>
        <p:cNvPr id="378" name="Shape 378"/>
        <p:cNvGrpSpPr/>
        <p:nvPr/>
      </p:nvGrpSpPr>
      <p:grpSpPr>
        <a:xfrm>
          <a:off x="0" y="0"/>
          <a:ext cx="0" cy="0"/>
          <a:chOff x="0" y="0"/>
          <a:chExt cx="0" cy="0"/>
        </a:xfrm>
      </p:grpSpPr>
      <p:sp>
        <p:nvSpPr>
          <p:cNvPr id="379" name="Google Shape;379;p14"/>
          <p:cNvSpPr txBox="1"/>
          <p:nvPr/>
        </p:nvSpPr>
        <p:spPr>
          <a:xfrm>
            <a:off x="640080" y="411480"/>
            <a:ext cx="10881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0AA"/>
              </a:buClr>
              <a:buSzPts val="1200"/>
              <a:buFont typeface="Calibri"/>
              <a:buNone/>
            </a:pPr>
            <a:r>
              <a:rPr b="1" lang="en-US" sz="1200">
                <a:solidFill>
                  <a:srgbClr val="8FA0AA"/>
                </a:solidFill>
                <a:latin typeface="Calibri"/>
                <a:ea typeface="Calibri"/>
                <a:cs typeface="Calibri"/>
                <a:sym typeface="Calibri"/>
              </a:rPr>
              <a:t>10  ·  LIMITATIONS</a:t>
            </a:r>
            <a:endParaRPr sz="1200">
              <a:solidFill>
                <a:schemeClr val="dk1"/>
              </a:solidFill>
              <a:latin typeface="Calibri"/>
              <a:ea typeface="Calibri"/>
              <a:cs typeface="Calibri"/>
              <a:sym typeface="Calibri"/>
            </a:endParaRPr>
          </a:p>
        </p:txBody>
      </p:sp>
      <p:sp>
        <p:nvSpPr>
          <p:cNvPr id="380" name="Google Shape;380;p14"/>
          <p:cNvSpPr txBox="1"/>
          <p:nvPr/>
        </p:nvSpPr>
        <p:spPr>
          <a:xfrm>
            <a:off x="640080" y="694944"/>
            <a:ext cx="1088136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3300"/>
              <a:buFont typeface="Cambria"/>
              <a:buNone/>
            </a:pPr>
            <a:r>
              <a:rPr b="1" lang="en-US" sz="3300">
                <a:solidFill>
                  <a:srgbClr val="F5F8F9"/>
                </a:solidFill>
                <a:latin typeface="Cambria"/>
                <a:ea typeface="Cambria"/>
                <a:cs typeface="Cambria"/>
                <a:sym typeface="Cambria"/>
              </a:rPr>
              <a:t>Known limitations and issues</a:t>
            </a:r>
            <a:endParaRPr sz="3300">
              <a:solidFill>
                <a:schemeClr val="dk1"/>
              </a:solidFill>
              <a:latin typeface="Calibri"/>
              <a:ea typeface="Calibri"/>
              <a:cs typeface="Calibri"/>
              <a:sym typeface="Calibri"/>
            </a:endParaRPr>
          </a:p>
        </p:txBody>
      </p:sp>
      <p:sp>
        <p:nvSpPr>
          <p:cNvPr id="381" name="Google Shape;381;p14"/>
          <p:cNvSpPr txBox="1"/>
          <p:nvPr/>
        </p:nvSpPr>
        <p:spPr>
          <a:xfrm>
            <a:off x="640080" y="1371600"/>
            <a:ext cx="10881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3CED4"/>
              </a:buClr>
              <a:buSzPts val="1300"/>
              <a:buFont typeface="Calibri"/>
              <a:buNone/>
            </a:pPr>
            <a:r>
              <a:rPr lang="en-US" sz="1300">
                <a:solidFill>
                  <a:srgbClr val="C3CED4"/>
                </a:solidFill>
                <a:latin typeface="Calibri"/>
                <a:ea typeface="Calibri"/>
                <a:cs typeface="Calibri"/>
                <a:sym typeface="Calibri"/>
              </a:rPr>
              <a:t>We audited the full codebase before this presentation: eighteen findings, six areas verified sound. The limitations that matter to this semester’s result:</a:t>
            </a:r>
            <a:endParaRPr sz="1300">
              <a:solidFill>
                <a:schemeClr val="dk1"/>
              </a:solidFill>
              <a:latin typeface="Calibri"/>
              <a:ea typeface="Calibri"/>
              <a:cs typeface="Calibri"/>
              <a:sym typeface="Calibri"/>
            </a:endParaRPr>
          </a:p>
        </p:txBody>
      </p:sp>
      <p:sp>
        <p:nvSpPr>
          <p:cNvPr id="382" name="Google Shape;382;p14"/>
          <p:cNvSpPr/>
          <p:nvPr/>
        </p:nvSpPr>
        <p:spPr>
          <a:xfrm>
            <a:off x="640080" y="1920240"/>
            <a:ext cx="10881360" cy="949264"/>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14"/>
          <p:cNvSpPr/>
          <p:nvPr/>
        </p:nvSpPr>
        <p:spPr>
          <a:xfrm>
            <a:off x="914400" y="2267712"/>
            <a:ext cx="237744" cy="237744"/>
          </a:xfrm>
          <a:prstGeom prst="ellipse">
            <a:avLst/>
          </a:prstGeom>
          <a:solidFill>
            <a:srgbClr val="F2A9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14"/>
          <p:cNvSpPr txBox="1"/>
          <p:nvPr/>
        </p:nvSpPr>
        <p:spPr>
          <a:xfrm>
            <a:off x="1298448" y="2048256"/>
            <a:ext cx="3200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350"/>
              <a:buFont typeface="Cambria"/>
              <a:buNone/>
            </a:pPr>
            <a:r>
              <a:rPr b="1" lang="en-US" sz="1550">
                <a:solidFill>
                  <a:srgbClr val="F5F8F9"/>
                </a:solidFill>
                <a:latin typeface="Cambria"/>
                <a:ea typeface="Cambria"/>
                <a:cs typeface="Cambria"/>
                <a:sym typeface="Cambria"/>
              </a:rPr>
              <a:t>Accuracy not yet measured</a:t>
            </a:r>
            <a:endParaRPr sz="1550">
              <a:solidFill>
                <a:schemeClr val="dk1"/>
              </a:solidFill>
              <a:latin typeface="Calibri"/>
              <a:ea typeface="Calibri"/>
              <a:cs typeface="Calibri"/>
              <a:sym typeface="Calibri"/>
            </a:endParaRPr>
          </a:p>
        </p:txBody>
      </p:sp>
      <p:sp>
        <p:nvSpPr>
          <p:cNvPr id="385" name="Google Shape;385;p14"/>
          <p:cNvSpPr txBox="1"/>
          <p:nvPr/>
        </p:nvSpPr>
        <p:spPr>
          <a:xfrm>
            <a:off x="1298448" y="2359152"/>
            <a:ext cx="7223760"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450">
                <a:solidFill>
                  <a:srgbClr val="C3CED4"/>
                </a:solidFill>
                <a:latin typeface="Calibri"/>
                <a:ea typeface="Calibri"/>
                <a:cs typeface="Calibri"/>
                <a:sym typeface="Calibri"/>
              </a:rPr>
              <a:t>No benchmark on a large, labelled classroom dataset. The 0.6 threshold is adopted from the literature, not yet tuned on our own data.</a:t>
            </a:r>
            <a:endParaRPr sz="1450">
              <a:solidFill>
                <a:schemeClr val="dk1"/>
              </a:solidFill>
              <a:latin typeface="Calibri"/>
              <a:ea typeface="Calibri"/>
              <a:cs typeface="Calibri"/>
              <a:sym typeface="Calibri"/>
            </a:endParaRPr>
          </a:p>
        </p:txBody>
      </p:sp>
      <p:sp>
        <p:nvSpPr>
          <p:cNvPr id="386" name="Google Shape;386;p14"/>
          <p:cNvSpPr/>
          <p:nvPr/>
        </p:nvSpPr>
        <p:spPr>
          <a:xfrm>
            <a:off x="9829800" y="2240280"/>
            <a:ext cx="1417320" cy="329184"/>
          </a:xfrm>
          <a:prstGeom prst="roundRect">
            <a:avLst>
              <a:gd fmla="val 50000" name="adj"/>
            </a:avLst>
          </a:prstGeom>
          <a:solidFill>
            <a:srgbClr val="1B242D"/>
          </a:solidFill>
          <a:ln cap="flat" cmpd="sng" w="12700">
            <a:solidFill>
              <a:srgbClr val="4A58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14"/>
          <p:cNvSpPr txBox="1"/>
          <p:nvPr/>
        </p:nvSpPr>
        <p:spPr>
          <a:xfrm>
            <a:off x="9829800" y="2295144"/>
            <a:ext cx="14173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0AA"/>
              </a:buClr>
              <a:buSzPts val="1000"/>
              <a:buFont typeface="Calibri"/>
              <a:buNone/>
            </a:pPr>
            <a:r>
              <a:rPr b="1" lang="en-US" sz="1300">
                <a:solidFill>
                  <a:srgbClr val="8FA0AA"/>
                </a:solidFill>
                <a:latin typeface="Calibri"/>
                <a:ea typeface="Calibri"/>
                <a:cs typeface="Calibri"/>
                <a:sym typeface="Calibri"/>
              </a:rPr>
              <a:t>CSE499B</a:t>
            </a:r>
            <a:endParaRPr sz="1300">
              <a:solidFill>
                <a:schemeClr val="dk1"/>
              </a:solidFill>
              <a:latin typeface="Calibri"/>
              <a:ea typeface="Calibri"/>
              <a:cs typeface="Calibri"/>
              <a:sym typeface="Calibri"/>
            </a:endParaRPr>
          </a:p>
        </p:txBody>
      </p:sp>
      <p:sp>
        <p:nvSpPr>
          <p:cNvPr id="388" name="Google Shape;388;p14"/>
          <p:cNvSpPr/>
          <p:nvPr/>
        </p:nvSpPr>
        <p:spPr>
          <a:xfrm>
            <a:off x="640080" y="2889504"/>
            <a:ext cx="10881360" cy="949264"/>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14"/>
          <p:cNvSpPr/>
          <p:nvPr/>
        </p:nvSpPr>
        <p:spPr>
          <a:xfrm>
            <a:off x="914400" y="3236976"/>
            <a:ext cx="237744" cy="237744"/>
          </a:xfrm>
          <a:prstGeom prst="ellipse">
            <a:avLst/>
          </a:prstGeom>
          <a:solidFill>
            <a:srgbClr val="F2A9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14"/>
          <p:cNvSpPr txBox="1"/>
          <p:nvPr/>
        </p:nvSpPr>
        <p:spPr>
          <a:xfrm>
            <a:off x="1298448" y="3017520"/>
            <a:ext cx="3200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350"/>
              <a:buFont typeface="Cambria"/>
              <a:buNone/>
            </a:pPr>
            <a:r>
              <a:rPr b="1" lang="en-US" sz="1550">
                <a:solidFill>
                  <a:srgbClr val="F5F8F9"/>
                </a:solidFill>
                <a:latin typeface="Cambria"/>
                <a:ea typeface="Cambria"/>
                <a:cs typeface="Cambria"/>
                <a:sym typeface="Cambria"/>
              </a:rPr>
              <a:t>Uploaded photographs only</a:t>
            </a:r>
            <a:endParaRPr sz="1550">
              <a:solidFill>
                <a:schemeClr val="dk1"/>
              </a:solidFill>
              <a:latin typeface="Calibri"/>
              <a:ea typeface="Calibri"/>
              <a:cs typeface="Calibri"/>
              <a:sym typeface="Calibri"/>
            </a:endParaRPr>
          </a:p>
        </p:txBody>
      </p:sp>
      <p:sp>
        <p:nvSpPr>
          <p:cNvPr id="391" name="Google Shape;391;p14"/>
          <p:cNvSpPr txBox="1"/>
          <p:nvPr/>
        </p:nvSpPr>
        <p:spPr>
          <a:xfrm>
            <a:off x="1298448" y="3328416"/>
            <a:ext cx="7223760"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450">
                <a:solidFill>
                  <a:srgbClr val="C3CED4"/>
                </a:solidFill>
                <a:latin typeface="Calibri"/>
                <a:ea typeface="Calibri"/>
                <a:cs typeface="Calibri"/>
                <a:sym typeface="Calibri"/>
              </a:rPr>
              <a:t>Attendance requires a photograph to be uploaded. Live camera capture and CCTV ingestion are not implemented.</a:t>
            </a:r>
            <a:endParaRPr sz="1450">
              <a:solidFill>
                <a:schemeClr val="dk1"/>
              </a:solidFill>
              <a:latin typeface="Calibri"/>
              <a:ea typeface="Calibri"/>
              <a:cs typeface="Calibri"/>
              <a:sym typeface="Calibri"/>
            </a:endParaRPr>
          </a:p>
        </p:txBody>
      </p:sp>
      <p:sp>
        <p:nvSpPr>
          <p:cNvPr id="392" name="Google Shape;392;p14"/>
          <p:cNvSpPr/>
          <p:nvPr/>
        </p:nvSpPr>
        <p:spPr>
          <a:xfrm>
            <a:off x="9829800" y="3209544"/>
            <a:ext cx="1417320" cy="329184"/>
          </a:xfrm>
          <a:prstGeom prst="roundRect">
            <a:avLst>
              <a:gd fmla="val 50000" name="adj"/>
            </a:avLst>
          </a:prstGeom>
          <a:solidFill>
            <a:srgbClr val="1B242D"/>
          </a:solidFill>
          <a:ln cap="flat" cmpd="sng" w="12700">
            <a:solidFill>
              <a:srgbClr val="4A58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14"/>
          <p:cNvSpPr txBox="1"/>
          <p:nvPr/>
        </p:nvSpPr>
        <p:spPr>
          <a:xfrm>
            <a:off x="9829800" y="3264408"/>
            <a:ext cx="14173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0AA"/>
              </a:buClr>
              <a:buSzPts val="1000"/>
              <a:buFont typeface="Calibri"/>
              <a:buNone/>
            </a:pPr>
            <a:r>
              <a:rPr b="1" lang="en-US" sz="1300">
                <a:solidFill>
                  <a:srgbClr val="8FA0AA"/>
                </a:solidFill>
                <a:latin typeface="Calibri"/>
                <a:ea typeface="Calibri"/>
                <a:cs typeface="Calibri"/>
                <a:sym typeface="Calibri"/>
              </a:rPr>
              <a:t>CSE499B</a:t>
            </a:r>
            <a:endParaRPr sz="1300">
              <a:solidFill>
                <a:schemeClr val="dk1"/>
              </a:solidFill>
              <a:latin typeface="Calibri"/>
              <a:ea typeface="Calibri"/>
              <a:cs typeface="Calibri"/>
              <a:sym typeface="Calibri"/>
            </a:endParaRPr>
          </a:p>
        </p:txBody>
      </p:sp>
      <p:sp>
        <p:nvSpPr>
          <p:cNvPr id="394" name="Google Shape;394;p14"/>
          <p:cNvSpPr/>
          <p:nvPr/>
        </p:nvSpPr>
        <p:spPr>
          <a:xfrm>
            <a:off x="640080" y="3858768"/>
            <a:ext cx="10881360" cy="949264"/>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14"/>
          <p:cNvSpPr/>
          <p:nvPr/>
        </p:nvSpPr>
        <p:spPr>
          <a:xfrm>
            <a:off x="914400" y="4206240"/>
            <a:ext cx="237744" cy="237744"/>
          </a:xfrm>
          <a:prstGeom prst="ellipse">
            <a:avLst/>
          </a:prstGeom>
          <a:solidFill>
            <a:srgbClr val="F2A9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14"/>
          <p:cNvSpPr txBox="1"/>
          <p:nvPr/>
        </p:nvSpPr>
        <p:spPr>
          <a:xfrm>
            <a:off x="1298448" y="3986784"/>
            <a:ext cx="3200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350"/>
              <a:buFont typeface="Cambria"/>
              <a:buNone/>
            </a:pPr>
            <a:r>
              <a:rPr b="1" lang="en-US" sz="1550">
                <a:solidFill>
                  <a:srgbClr val="F5F8F9"/>
                </a:solidFill>
                <a:latin typeface="Cambria"/>
                <a:ea typeface="Cambria"/>
                <a:cs typeface="Cambria"/>
                <a:sym typeface="Cambria"/>
              </a:rPr>
              <a:t>RFID hybrid not implemented</a:t>
            </a:r>
            <a:endParaRPr sz="1550">
              <a:solidFill>
                <a:schemeClr val="dk1"/>
              </a:solidFill>
              <a:latin typeface="Calibri"/>
              <a:ea typeface="Calibri"/>
              <a:cs typeface="Calibri"/>
              <a:sym typeface="Calibri"/>
            </a:endParaRPr>
          </a:p>
        </p:txBody>
      </p:sp>
      <p:sp>
        <p:nvSpPr>
          <p:cNvPr id="397" name="Google Shape;397;p14"/>
          <p:cNvSpPr txBox="1"/>
          <p:nvPr/>
        </p:nvSpPr>
        <p:spPr>
          <a:xfrm>
            <a:off x="1298448" y="4297680"/>
            <a:ext cx="7223760"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450">
                <a:solidFill>
                  <a:srgbClr val="C3CED4"/>
                </a:solidFill>
                <a:latin typeface="Calibri"/>
                <a:ea typeface="Calibri"/>
                <a:cs typeface="Calibri"/>
                <a:sym typeface="Calibri"/>
              </a:rPr>
              <a:t>The original proposal described an RFID and face hybrid. The delivered system is face-only; RFID remains a design proposal.</a:t>
            </a:r>
            <a:endParaRPr sz="1450">
              <a:solidFill>
                <a:schemeClr val="dk1"/>
              </a:solidFill>
              <a:latin typeface="Calibri"/>
              <a:ea typeface="Calibri"/>
              <a:cs typeface="Calibri"/>
              <a:sym typeface="Calibri"/>
            </a:endParaRPr>
          </a:p>
        </p:txBody>
      </p:sp>
      <p:sp>
        <p:nvSpPr>
          <p:cNvPr id="398" name="Google Shape;398;p14"/>
          <p:cNvSpPr/>
          <p:nvPr/>
        </p:nvSpPr>
        <p:spPr>
          <a:xfrm>
            <a:off x="9829800" y="4178808"/>
            <a:ext cx="1417320" cy="329184"/>
          </a:xfrm>
          <a:prstGeom prst="roundRect">
            <a:avLst>
              <a:gd fmla="val 50000" name="adj"/>
            </a:avLst>
          </a:prstGeom>
          <a:solidFill>
            <a:srgbClr val="1B242D"/>
          </a:solidFill>
          <a:ln cap="flat" cmpd="sng" w="12700">
            <a:solidFill>
              <a:srgbClr val="4A58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4"/>
          <p:cNvSpPr txBox="1"/>
          <p:nvPr/>
        </p:nvSpPr>
        <p:spPr>
          <a:xfrm>
            <a:off x="9829800" y="4233672"/>
            <a:ext cx="14173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0AA"/>
              </a:buClr>
              <a:buSzPts val="1000"/>
              <a:buFont typeface="Calibri"/>
              <a:buNone/>
            </a:pPr>
            <a:r>
              <a:rPr b="1" lang="en-US" sz="1300">
                <a:solidFill>
                  <a:srgbClr val="8FA0AA"/>
                </a:solidFill>
                <a:latin typeface="Calibri"/>
                <a:ea typeface="Calibri"/>
                <a:cs typeface="Calibri"/>
                <a:sym typeface="Calibri"/>
              </a:rPr>
              <a:t>Scope change</a:t>
            </a:r>
            <a:endParaRPr sz="1300">
              <a:solidFill>
                <a:schemeClr val="dk1"/>
              </a:solidFill>
              <a:latin typeface="Calibri"/>
              <a:ea typeface="Calibri"/>
              <a:cs typeface="Calibri"/>
              <a:sym typeface="Calibri"/>
            </a:endParaRPr>
          </a:p>
        </p:txBody>
      </p:sp>
      <p:sp>
        <p:nvSpPr>
          <p:cNvPr id="400" name="Google Shape;400;p14"/>
          <p:cNvSpPr/>
          <p:nvPr/>
        </p:nvSpPr>
        <p:spPr>
          <a:xfrm>
            <a:off x="640080" y="4828032"/>
            <a:ext cx="10881360" cy="949264"/>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14"/>
          <p:cNvSpPr/>
          <p:nvPr/>
        </p:nvSpPr>
        <p:spPr>
          <a:xfrm>
            <a:off x="914400" y="5175504"/>
            <a:ext cx="237744" cy="237744"/>
          </a:xfrm>
          <a:prstGeom prst="ellipse">
            <a:avLst/>
          </a:prstGeom>
          <a:solidFill>
            <a:srgbClr val="F2A9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14"/>
          <p:cNvSpPr txBox="1"/>
          <p:nvPr/>
        </p:nvSpPr>
        <p:spPr>
          <a:xfrm>
            <a:off x="1298448" y="4956048"/>
            <a:ext cx="3200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350"/>
              <a:buFont typeface="Cambria"/>
              <a:buNone/>
            </a:pPr>
            <a:r>
              <a:rPr b="1" lang="en-US" sz="1550">
                <a:solidFill>
                  <a:srgbClr val="F5F8F9"/>
                </a:solidFill>
                <a:latin typeface="Cambria"/>
                <a:ea typeface="Cambria"/>
                <a:cs typeface="Cambria"/>
                <a:sym typeface="Cambria"/>
              </a:rPr>
              <a:t>Test isolation defect</a:t>
            </a:r>
            <a:endParaRPr sz="1550">
              <a:solidFill>
                <a:schemeClr val="dk1"/>
              </a:solidFill>
              <a:latin typeface="Calibri"/>
              <a:ea typeface="Calibri"/>
              <a:cs typeface="Calibri"/>
              <a:sym typeface="Calibri"/>
            </a:endParaRPr>
          </a:p>
        </p:txBody>
      </p:sp>
      <p:sp>
        <p:nvSpPr>
          <p:cNvPr id="403" name="Google Shape;403;p14"/>
          <p:cNvSpPr txBox="1"/>
          <p:nvPr/>
        </p:nvSpPr>
        <p:spPr>
          <a:xfrm>
            <a:off x="1298448" y="5266944"/>
            <a:ext cx="7223760"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3CED4"/>
              </a:buClr>
              <a:buSzPts val="1150"/>
              <a:buFont typeface="Calibri"/>
              <a:buNone/>
            </a:pPr>
            <a:r>
              <a:rPr lang="en-US" sz="1450">
                <a:solidFill>
                  <a:srgbClr val="C3CED4"/>
                </a:solidFill>
                <a:latin typeface="Calibri"/>
                <a:ea typeface="Calibri"/>
                <a:cs typeface="Calibri"/>
                <a:sym typeface="Calibri"/>
              </a:rPr>
              <a:t>Two test files wrote into the live database. Found by our own audit; the fix is a temporary-database fixture, as our other tests already use.</a:t>
            </a:r>
            <a:endParaRPr sz="1450">
              <a:solidFill>
                <a:schemeClr val="dk1"/>
              </a:solidFill>
              <a:latin typeface="Calibri"/>
              <a:ea typeface="Calibri"/>
              <a:cs typeface="Calibri"/>
              <a:sym typeface="Calibri"/>
            </a:endParaRPr>
          </a:p>
        </p:txBody>
      </p:sp>
      <p:sp>
        <p:nvSpPr>
          <p:cNvPr id="404" name="Google Shape;404;p14"/>
          <p:cNvSpPr/>
          <p:nvPr/>
        </p:nvSpPr>
        <p:spPr>
          <a:xfrm>
            <a:off x="9829800" y="5148072"/>
            <a:ext cx="1417320" cy="329184"/>
          </a:xfrm>
          <a:prstGeom prst="roundRect">
            <a:avLst>
              <a:gd fmla="val 50000" name="adj"/>
            </a:avLst>
          </a:prstGeom>
          <a:solidFill>
            <a:srgbClr val="1B242D"/>
          </a:solidFill>
          <a:ln cap="flat" cmpd="sng" w="12700">
            <a:solidFill>
              <a:srgbClr val="4A58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14"/>
          <p:cNvSpPr txBox="1"/>
          <p:nvPr/>
        </p:nvSpPr>
        <p:spPr>
          <a:xfrm>
            <a:off x="9829800" y="5202936"/>
            <a:ext cx="14173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0AA"/>
              </a:buClr>
              <a:buSzPts val="1000"/>
              <a:buFont typeface="Calibri"/>
              <a:buNone/>
            </a:pPr>
            <a:r>
              <a:rPr b="1" lang="en-US" sz="1300">
                <a:solidFill>
                  <a:srgbClr val="8FA0AA"/>
                </a:solidFill>
                <a:latin typeface="Calibri"/>
                <a:ea typeface="Calibri"/>
                <a:cs typeface="Calibri"/>
                <a:sym typeface="Calibri"/>
              </a:rPr>
              <a:t>Fix identified</a:t>
            </a:r>
            <a:endParaRPr sz="1300">
              <a:solidFill>
                <a:schemeClr val="dk1"/>
              </a:solidFill>
              <a:latin typeface="Calibri"/>
              <a:ea typeface="Calibri"/>
              <a:cs typeface="Calibri"/>
              <a:sym typeface="Calibri"/>
            </a:endParaRPr>
          </a:p>
        </p:txBody>
      </p:sp>
      <p:sp>
        <p:nvSpPr>
          <p:cNvPr id="406" name="Google Shape;406;p14"/>
          <p:cNvSpPr txBox="1"/>
          <p:nvPr/>
        </p:nvSpPr>
        <p:spPr>
          <a:xfrm>
            <a:off x="640080" y="5986484"/>
            <a:ext cx="10881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250"/>
              <a:buFont typeface="Calibri"/>
              <a:buNone/>
            </a:pPr>
            <a:r>
              <a:rPr b="1" lang="en-US" sz="1450">
                <a:solidFill>
                  <a:srgbClr val="F5F8F9"/>
                </a:solidFill>
                <a:latin typeface="Calibri"/>
                <a:ea typeface="Calibri"/>
                <a:cs typeface="Calibri"/>
                <a:sym typeface="Calibri"/>
              </a:rPr>
              <a:t>Finding these ourselves, before they were found for us, is part of the engineering result.</a:t>
            </a:r>
            <a:endParaRPr sz="1450">
              <a:solidFill>
                <a:schemeClr val="dk1"/>
              </a:solidFill>
              <a:latin typeface="Calibri"/>
              <a:ea typeface="Calibri"/>
              <a:cs typeface="Calibri"/>
              <a:sym typeface="Calibri"/>
            </a:endParaRPr>
          </a:p>
        </p:txBody>
      </p:sp>
      <p:sp>
        <p:nvSpPr>
          <p:cNvPr id="407" name="Google Shape;407;p14"/>
          <p:cNvSpPr/>
          <p:nvPr/>
        </p:nvSpPr>
        <p:spPr>
          <a:xfrm>
            <a:off x="502920"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14"/>
          <p:cNvSpPr/>
          <p:nvPr/>
        </p:nvSpPr>
        <p:spPr>
          <a:xfrm>
            <a:off x="502920"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14"/>
          <p:cNvSpPr/>
          <p:nvPr/>
        </p:nvSpPr>
        <p:spPr>
          <a:xfrm>
            <a:off x="11323015"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14"/>
          <p:cNvSpPr/>
          <p:nvPr/>
        </p:nvSpPr>
        <p:spPr>
          <a:xfrm>
            <a:off x="11661343"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14"/>
          <p:cNvSpPr/>
          <p:nvPr/>
        </p:nvSpPr>
        <p:spPr>
          <a:xfrm>
            <a:off x="502920"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p14"/>
          <p:cNvSpPr/>
          <p:nvPr/>
        </p:nvSpPr>
        <p:spPr>
          <a:xfrm>
            <a:off x="502920"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14"/>
          <p:cNvSpPr/>
          <p:nvPr/>
        </p:nvSpPr>
        <p:spPr>
          <a:xfrm>
            <a:off x="11323015"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14"/>
          <p:cNvSpPr/>
          <p:nvPr/>
        </p:nvSpPr>
        <p:spPr>
          <a:xfrm>
            <a:off x="11661343"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14"/>
          <p:cNvSpPr/>
          <p:nvPr/>
        </p:nvSpPr>
        <p:spPr>
          <a:xfrm>
            <a:off x="640080" y="6416040"/>
            <a:ext cx="10881360" cy="3175"/>
          </a:xfrm>
          <a:prstGeom prst="rect">
            <a:avLst/>
          </a:prstGeom>
          <a:solidFill>
            <a:srgbClr val="2A3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14"/>
          <p:cNvSpPr txBox="1"/>
          <p:nvPr/>
        </p:nvSpPr>
        <p:spPr>
          <a:xfrm>
            <a:off x="640080" y="6470000"/>
            <a:ext cx="4000000" cy="2286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900">
                <a:solidFill>
                  <a:srgbClr val="4A5860"/>
                </a:solidFill>
                <a:latin typeface="Calibri"/>
                <a:ea typeface="Calibri"/>
                <a:cs typeface="Calibri"/>
                <a:sym typeface="Calibri"/>
              </a:rPr>
              <a:t>CAMPUSEYE  ·  CSE499A</a:t>
            </a:r>
            <a:endParaRPr/>
          </a:p>
        </p:txBody>
      </p:sp>
      <p:sp>
        <p:nvSpPr>
          <p:cNvPr id="417" name="Google Shape;417;p14"/>
          <p:cNvSpPr txBox="1"/>
          <p:nvPr/>
        </p:nvSpPr>
        <p:spPr>
          <a:xfrm>
            <a:off x="9521440" y="6470000"/>
            <a:ext cx="2000000" cy="228600"/>
          </a:xfrm>
          <a:prstGeom prst="rect">
            <a:avLst/>
          </a:prstGeom>
          <a:noFill/>
          <a:ln>
            <a:noFill/>
          </a:ln>
        </p:spPr>
        <p:txBody>
          <a:bodyPr anchorCtr="0" anchor="t" bIns="45700" lIns="0" spcFirstLastPara="1" rIns="91425" wrap="square" tIns="0">
            <a:spAutoFit/>
          </a:bodyPr>
          <a:lstStyle/>
          <a:p>
            <a:pPr indent="0" lvl="0" marL="0" marR="0" rtl="0" algn="r">
              <a:spcBef>
                <a:spcPts val="0"/>
              </a:spcBef>
              <a:spcAft>
                <a:spcPts val="0"/>
              </a:spcAft>
              <a:buNone/>
            </a:pPr>
            <a:r>
              <a:rPr lang="en-US" sz="900">
                <a:solidFill>
                  <a:srgbClr val="4A5860"/>
                </a:solidFill>
                <a:latin typeface="Calibri"/>
                <a:ea typeface="Calibri"/>
                <a:cs typeface="Calibri"/>
                <a:sym typeface="Calibri"/>
              </a:rPr>
              <a:t>12 / 15</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18"/>
        </a:solidFill>
      </p:bgPr>
    </p:bg>
    <p:spTree>
      <p:nvGrpSpPr>
        <p:cNvPr id="422" name="Shape 422"/>
        <p:cNvGrpSpPr/>
        <p:nvPr/>
      </p:nvGrpSpPr>
      <p:grpSpPr>
        <a:xfrm>
          <a:off x="0" y="0"/>
          <a:ext cx="0" cy="0"/>
          <a:chOff x="0" y="0"/>
          <a:chExt cx="0" cy="0"/>
        </a:xfrm>
      </p:grpSpPr>
      <p:sp>
        <p:nvSpPr>
          <p:cNvPr id="423" name="Google Shape;423;p15"/>
          <p:cNvSpPr txBox="1"/>
          <p:nvPr/>
        </p:nvSpPr>
        <p:spPr>
          <a:xfrm>
            <a:off x="640080" y="411480"/>
            <a:ext cx="10881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0AA"/>
              </a:buClr>
              <a:buSzPts val="1200"/>
              <a:buFont typeface="Calibri"/>
              <a:buNone/>
            </a:pPr>
            <a:r>
              <a:rPr b="1" lang="en-US" sz="1200">
                <a:solidFill>
                  <a:srgbClr val="8FA0AA"/>
                </a:solidFill>
                <a:latin typeface="Calibri"/>
                <a:ea typeface="Calibri"/>
                <a:cs typeface="Calibri"/>
                <a:sym typeface="Calibri"/>
              </a:rPr>
              <a:t>11  ·  CONCLUSION</a:t>
            </a:r>
            <a:endParaRPr sz="1200">
              <a:solidFill>
                <a:schemeClr val="dk1"/>
              </a:solidFill>
              <a:latin typeface="Calibri"/>
              <a:ea typeface="Calibri"/>
              <a:cs typeface="Calibri"/>
              <a:sym typeface="Calibri"/>
            </a:endParaRPr>
          </a:p>
        </p:txBody>
      </p:sp>
      <p:sp>
        <p:nvSpPr>
          <p:cNvPr id="424" name="Google Shape;424;p15"/>
          <p:cNvSpPr txBox="1"/>
          <p:nvPr/>
        </p:nvSpPr>
        <p:spPr>
          <a:xfrm>
            <a:off x="640080" y="694944"/>
            <a:ext cx="1088136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3300"/>
              <a:buFont typeface="Cambria"/>
              <a:buNone/>
            </a:pPr>
            <a:r>
              <a:rPr b="1" lang="en-US" sz="3300">
                <a:solidFill>
                  <a:srgbClr val="F5F8F9"/>
                </a:solidFill>
                <a:latin typeface="Cambria"/>
                <a:ea typeface="Cambria"/>
                <a:cs typeface="Cambria"/>
                <a:sym typeface="Cambria"/>
              </a:rPr>
              <a:t>What CSE499A delivered</a:t>
            </a:r>
            <a:endParaRPr sz="3300">
              <a:solidFill>
                <a:schemeClr val="dk1"/>
              </a:solidFill>
              <a:latin typeface="Calibri"/>
              <a:ea typeface="Calibri"/>
              <a:cs typeface="Calibri"/>
              <a:sym typeface="Calibri"/>
            </a:endParaRPr>
          </a:p>
        </p:txBody>
      </p:sp>
      <p:sp>
        <p:nvSpPr>
          <p:cNvPr id="425" name="Google Shape;425;p15"/>
          <p:cNvSpPr/>
          <p:nvPr/>
        </p:nvSpPr>
        <p:spPr>
          <a:xfrm>
            <a:off x="640080" y="1536192"/>
            <a:ext cx="5303520" cy="192024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15"/>
          <p:cNvSpPr/>
          <p:nvPr/>
        </p:nvSpPr>
        <p:spPr>
          <a:xfrm>
            <a:off x="950976" y="1847088"/>
            <a:ext cx="274320" cy="274320"/>
          </a:xfrm>
          <a:prstGeom prst="ellipse">
            <a:avLst/>
          </a:prstGeom>
          <a:solidFill>
            <a:srgbClr val="2FAE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15"/>
          <p:cNvSpPr txBox="1"/>
          <p:nvPr/>
        </p:nvSpPr>
        <p:spPr>
          <a:xfrm>
            <a:off x="1408176" y="1792224"/>
            <a:ext cx="42976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50"/>
              <a:buFont typeface="Cambria"/>
              <a:buNone/>
            </a:pPr>
            <a:r>
              <a:rPr b="1" lang="en-US" sz="1650">
                <a:solidFill>
                  <a:srgbClr val="F5F8F9"/>
                </a:solidFill>
                <a:latin typeface="Cambria"/>
                <a:ea typeface="Cambria"/>
                <a:cs typeface="Cambria"/>
                <a:sym typeface="Cambria"/>
              </a:rPr>
              <a:t>A working system, not a prototype script</a:t>
            </a:r>
            <a:endParaRPr sz="1650">
              <a:solidFill>
                <a:schemeClr val="dk1"/>
              </a:solidFill>
              <a:latin typeface="Calibri"/>
              <a:ea typeface="Calibri"/>
              <a:cs typeface="Calibri"/>
              <a:sym typeface="Calibri"/>
            </a:endParaRPr>
          </a:p>
        </p:txBody>
      </p:sp>
      <p:sp>
        <p:nvSpPr>
          <p:cNvPr id="428" name="Google Shape;428;p15"/>
          <p:cNvSpPr txBox="1"/>
          <p:nvPr/>
        </p:nvSpPr>
        <p:spPr>
          <a:xfrm>
            <a:off x="1408176" y="2249424"/>
            <a:ext cx="4297680" cy="1051560"/>
          </a:xfrm>
          <a:prstGeom prst="rect">
            <a:avLst/>
          </a:prstGeom>
          <a:noFill/>
          <a:ln>
            <a:noFill/>
          </a:ln>
        </p:spPr>
        <p:txBody>
          <a:bodyPr anchorCtr="0" anchor="ctr" bIns="0" lIns="0" spcFirstLastPara="1" rIns="0" wrap="square" tIns="0">
            <a:noAutofit/>
          </a:bodyPr>
          <a:lstStyle/>
          <a:p>
            <a:pPr indent="0" lvl="0" marL="0" marR="0" rtl="0" algn="l">
              <a:lnSpc>
                <a:spcPct val="134782"/>
              </a:lnSpc>
              <a:spcBef>
                <a:spcPts val="0"/>
              </a:spcBef>
              <a:spcAft>
                <a:spcPts val="0"/>
              </a:spcAft>
              <a:buClr>
                <a:srgbClr val="C3CED4"/>
              </a:buClr>
              <a:buSzPts val="1150"/>
              <a:buFont typeface="Calibri"/>
              <a:buNone/>
            </a:pPr>
            <a:r>
              <a:rPr lang="en-US" sz="1550">
                <a:solidFill>
                  <a:srgbClr val="C3CED4"/>
                </a:solidFill>
                <a:latin typeface="Calibri"/>
                <a:ea typeface="Calibri"/>
                <a:cs typeface="Calibri"/>
                <a:sym typeface="Calibri"/>
              </a:rPr>
              <a:t>Enrolment, section-scoped attendance, complete registers and CSV export all run today, end to end, on a local deployment.</a:t>
            </a:r>
            <a:endParaRPr sz="1550">
              <a:solidFill>
                <a:schemeClr val="dk1"/>
              </a:solidFill>
              <a:latin typeface="Calibri"/>
              <a:ea typeface="Calibri"/>
              <a:cs typeface="Calibri"/>
              <a:sym typeface="Calibri"/>
            </a:endParaRPr>
          </a:p>
        </p:txBody>
      </p:sp>
      <p:sp>
        <p:nvSpPr>
          <p:cNvPr id="429" name="Google Shape;429;p15"/>
          <p:cNvSpPr/>
          <p:nvPr/>
        </p:nvSpPr>
        <p:spPr>
          <a:xfrm>
            <a:off x="6217920" y="1536192"/>
            <a:ext cx="5303520" cy="192024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15"/>
          <p:cNvSpPr/>
          <p:nvPr/>
        </p:nvSpPr>
        <p:spPr>
          <a:xfrm>
            <a:off x="6528816" y="1847088"/>
            <a:ext cx="274320" cy="274320"/>
          </a:xfrm>
          <a:prstGeom prst="ellipse">
            <a:avLst/>
          </a:prstGeom>
          <a:solidFill>
            <a:srgbClr val="2FAE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15"/>
          <p:cNvSpPr txBox="1"/>
          <p:nvPr/>
        </p:nvSpPr>
        <p:spPr>
          <a:xfrm>
            <a:off x="6986016" y="1792224"/>
            <a:ext cx="42976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50"/>
              <a:buFont typeface="Cambria"/>
              <a:buNone/>
            </a:pPr>
            <a:r>
              <a:rPr b="1" lang="en-US" sz="1650">
                <a:solidFill>
                  <a:srgbClr val="F5F8F9"/>
                </a:solidFill>
                <a:latin typeface="Cambria"/>
                <a:ea typeface="Cambria"/>
                <a:cs typeface="Cambria"/>
                <a:sym typeface="Cambria"/>
              </a:rPr>
              <a:t>A design grounded in the literature</a:t>
            </a:r>
            <a:endParaRPr sz="1650">
              <a:solidFill>
                <a:schemeClr val="dk1"/>
              </a:solidFill>
              <a:latin typeface="Calibri"/>
              <a:ea typeface="Calibri"/>
              <a:cs typeface="Calibri"/>
              <a:sym typeface="Calibri"/>
            </a:endParaRPr>
          </a:p>
        </p:txBody>
      </p:sp>
      <p:sp>
        <p:nvSpPr>
          <p:cNvPr id="432" name="Google Shape;432;p15"/>
          <p:cNvSpPr txBox="1"/>
          <p:nvPr/>
        </p:nvSpPr>
        <p:spPr>
          <a:xfrm>
            <a:off x="6986016" y="2249424"/>
            <a:ext cx="4297680" cy="1051560"/>
          </a:xfrm>
          <a:prstGeom prst="rect">
            <a:avLst/>
          </a:prstGeom>
          <a:noFill/>
          <a:ln>
            <a:noFill/>
          </a:ln>
        </p:spPr>
        <p:txBody>
          <a:bodyPr anchorCtr="0" anchor="ctr" bIns="0" lIns="0" spcFirstLastPara="1" rIns="0" wrap="square" tIns="0">
            <a:noAutofit/>
          </a:bodyPr>
          <a:lstStyle/>
          <a:p>
            <a:pPr indent="0" lvl="0" marL="0" marR="0" rtl="0" algn="l">
              <a:lnSpc>
                <a:spcPct val="134782"/>
              </a:lnSpc>
              <a:spcBef>
                <a:spcPts val="0"/>
              </a:spcBef>
              <a:spcAft>
                <a:spcPts val="0"/>
              </a:spcAft>
              <a:buClr>
                <a:srgbClr val="C3CED4"/>
              </a:buClr>
              <a:buSzPts val="1150"/>
              <a:buFont typeface="Calibri"/>
              <a:buNone/>
            </a:pPr>
            <a:r>
              <a:rPr lang="en-US" sz="1550">
                <a:solidFill>
                  <a:srgbClr val="C3CED4"/>
                </a:solidFill>
                <a:latin typeface="Calibri"/>
                <a:ea typeface="Calibri"/>
                <a:cs typeface="Calibri"/>
                <a:sym typeface="Calibri"/>
              </a:rPr>
              <a:t>Five papers reviewed and mapped decision by decision; every borrowed choice traced and every divergence justified against our own source.</a:t>
            </a:r>
            <a:endParaRPr sz="1550">
              <a:solidFill>
                <a:schemeClr val="dk1"/>
              </a:solidFill>
              <a:latin typeface="Calibri"/>
              <a:ea typeface="Calibri"/>
              <a:cs typeface="Calibri"/>
              <a:sym typeface="Calibri"/>
            </a:endParaRPr>
          </a:p>
        </p:txBody>
      </p:sp>
      <p:sp>
        <p:nvSpPr>
          <p:cNvPr id="433" name="Google Shape;433;p15"/>
          <p:cNvSpPr/>
          <p:nvPr/>
        </p:nvSpPr>
        <p:spPr>
          <a:xfrm>
            <a:off x="640080" y="3639312"/>
            <a:ext cx="5303520" cy="192024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15"/>
          <p:cNvSpPr/>
          <p:nvPr/>
        </p:nvSpPr>
        <p:spPr>
          <a:xfrm>
            <a:off x="950976" y="3950208"/>
            <a:ext cx="274320" cy="274320"/>
          </a:xfrm>
          <a:prstGeom prst="ellipse">
            <a:avLst/>
          </a:prstGeom>
          <a:solidFill>
            <a:srgbClr val="2FAE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15"/>
          <p:cNvSpPr txBox="1"/>
          <p:nvPr/>
        </p:nvSpPr>
        <p:spPr>
          <a:xfrm>
            <a:off x="1408176" y="3895344"/>
            <a:ext cx="42976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50"/>
              <a:buFont typeface="Cambria"/>
              <a:buNone/>
            </a:pPr>
            <a:r>
              <a:rPr b="1" lang="en-US" sz="1650">
                <a:solidFill>
                  <a:srgbClr val="F5F8F9"/>
                </a:solidFill>
                <a:latin typeface="Cambria"/>
                <a:ea typeface="Cambria"/>
                <a:cs typeface="Cambria"/>
                <a:sym typeface="Cambria"/>
              </a:rPr>
              <a:t>A gap identified and closed</a:t>
            </a:r>
            <a:endParaRPr sz="1650">
              <a:solidFill>
                <a:schemeClr val="dk1"/>
              </a:solidFill>
              <a:latin typeface="Calibri"/>
              <a:ea typeface="Calibri"/>
              <a:cs typeface="Calibri"/>
              <a:sym typeface="Calibri"/>
            </a:endParaRPr>
          </a:p>
        </p:txBody>
      </p:sp>
      <p:sp>
        <p:nvSpPr>
          <p:cNvPr id="436" name="Google Shape;436;p15"/>
          <p:cNvSpPr txBox="1"/>
          <p:nvPr/>
        </p:nvSpPr>
        <p:spPr>
          <a:xfrm>
            <a:off x="1408176" y="4352544"/>
            <a:ext cx="4297680" cy="1051560"/>
          </a:xfrm>
          <a:prstGeom prst="rect">
            <a:avLst/>
          </a:prstGeom>
          <a:noFill/>
          <a:ln>
            <a:noFill/>
          </a:ln>
        </p:spPr>
        <p:txBody>
          <a:bodyPr anchorCtr="0" anchor="ctr" bIns="0" lIns="0" spcFirstLastPara="1" rIns="0" wrap="square" tIns="0">
            <a:noAutofit/>
          </a:bodyPr>
          <a:lstStyle/>
          <a:p>
            <a:pPr indent="0" lvl="0" marL="0" marR="0" rtl="0" algn="l">
              <a:lnSpc>
                <a:spcPct val="134782"/>
              </a:lnSpc>
              <a:spcBef>
                <a:spcPts val="0"/>
              </a:spcBef>
              <a:spcAft>
                <a:spcPts val="0"/>
              </a:spcAft>
              <a:buClr>
                <a:srgbClr val="C3CED4"/>
              </a:buClr>
              <a:buSzPts val="1150"/>
              <a:buFont typeface="Calibri"/>
              <a:buNone/>
            </a:pPr>
            <a:r>
              <a:rPr lang="en-US" sz="1550">
                <a:solidFill>
                  <a:srgbClr val="C3CED4"/>
                </a:solidFill>
                <a:latin typeface="Calibri"/>
                <a:ea typeface="Calibri"/>
                <a:cs typeface="Calibri"/>
                <a:sym typeface="Calibri"/>
              </a:rPr>
              <a:t>None of the reviewed systems resolves absentees against a course roster. Ours does, producing a complete register from a single photograph.</a:t>
            </a:r>
            <a:endParaRPr sz="1550">
              <a:solidFill>
                <a:schemeClr val="dk1"/>
              </a:solidFill>
              <a:latin typeface="Calibri"/>
              <a:ea typeface="Calibri"/>
              <a:cs typeface="Calibri"/>
              <a:sym typeface="Calibri"/>
            </a:endParaRPr>
          </a:p>
        </p:txBody>
      </p:sp>
      <p:sp>
        <p:nvSpPr>
          <p:cNvPr id="437" name="Google Shape;437;p15"/>
          <p:cNvSpPr/>
          <p:nvPr/>
        </p:nvSpPr>
        <p:spPr>
          <a:xfrm>
            <a:off x="6217920" y="3639312"/>
            <a:ext cx="5303520" cy="192024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15"/>
          <p:cNvSpPr/>
          <p:nvPr/>
        </p:nvSpPr>
        <p:spPr>
          <a:xfrm>
            <a:off x="6528816" y="3950208"/>
            <a:ext cx="274320" cy="274320"/>
          </a:xfrm>
          <a:prstGeom prst="ellipse">
            <a:avLst/>
          </a:prstGeom>
          <a:solidFill>
            <a:srgbClr val="2FAE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15"/>
          <p:cNvSpPr txBox="1"/>
          <p:nvPr/>
        </p:nvSpPr>
        <p:spPr>
          <a:xfrm>
            <a:off x="6986016" y="3895344"/>
            <a:ext cx="42976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450"/>
              <a:buFont typeface="Cambria"/>
              <a:buNone/>
            </a:pPr>
            <a:r>
              <a:rPr b="1" lang="en-US" sz="1650">
                <a:solidFill>
                  <a:srgbClr val="F5F8F9"/>
                </a:solidFill>
                <a:latin typeface="Cambria"/>
                <a:ea typeface="Cambria"/>
                <a:cs typeface="Cambria"/>
                <a:sym typeface="Cambria"/>
              </a:rPr>
              <a:t>Quality measured honestly</a:t>
            </a:r>
            <a:endParaRPr sz="1650">
              <a:solidFill>
                <a:schemeClr val="dk1"/>
              </a:solidFill>
              <a:latin typeface="Calibri"/>
              <a:ea typeface="Calibri"/>
              <a:cs typeface="Calibri"/>
              <a:sym typeface="Calibri"/>
            </a:endParaRPr>
          </a:p>
        </p:txBody>
      </p:sp>
      <p:sp>
        <p:nvSpPr>
          <p:cNvPr id="440" name="Google Shape;440;p15"/>
          <p:cNvSpPr txBox="1"/>
          <p:nvPr/>
        </p:nvSpPr>
        <p:spPr>
          <a:xfrm>
            <a:off x="6986016" y="4352544"/>
            <a:ext cx="4297680" cy="1051560"/>
          </a:xfrm>
          <a:prstGeom prst="rect">
            <a:avLst/>
          </a:prstGeom>
          <a:noFill/>
          <a:ln>
            <a:noFill/>
          </a:ln>
        </p:spPr>
        <p:txBody>
          <a:bodyPr anchorCtr="0" anchor="ctr" bIns="0" lIns="0" spcFirstLastPara="1" rIns="0" wrap="square" tIns="0">
            <a:noAutofit/>
          </a:bodyPr>
          <a:lstStyle/>
          <a:p>
            <a:pPr indent="0" lvl="0" marL="0" marR="0" rtl="0" algn="l">
              <a:lnSpc>
                <a:spcPct val="134782"/>
              </a:lnSpc>
              <a:spcBef>
                <a:spcPts val="0"/>
              </a:spcBef>
              <a:spcAft>
                <a:spcPts val="0"/>
              </a:spcAft>
              <a:buClr>
                <a:srgbClr val="C3CED4"/>
              </a:buClr>
              <a:buSzPts val="1150"/>
              <a:buFont typeface="Calibri"/>
              <a:buNone/>
            </a:pPr>
            <a:r>
              <a:rPr lang="en-US" sz="1550">
                <a:solidFill>
                  <a:srgbClr val="C3CED4"/>
                </a:solidFill>
                <a:latin typeface="Calibri"/>
                <a:ea typeface="Calibri"/>
                <a:cs typeface="Calibri"/>
                <a:sym typeface="Calibri"/>
              </a:rPr>
              <a:t>A full audit of our own codebase: eighteen findings with fixes identified, and six areas independently verified sound.</a:t>
            </a:r>
            <a:endParaRPr sz="1550">
              <a:solidFill>
                <a:schemeClr val="dk1"/>
              </a:solidFill>
              <a:latin typeface="Calibri"/>
              <a:ea typeface="Calibri"/>
              <a:cs typeface="Calibri"/>
              <a:sym typeface="Calibri"/>
            </a:endParaRPr>
          </a:p>
        </p:txBody>
      </p:sp>
      <p:sp>
        <p:nvSpPr>
          <p:cNvPr id="441" name="Google Shape;441;p15"/>
          <p:cNvSpPr/>
          <p:nvPr/>
        </p:nvSpPr>
        <p:spPr>
          <a:xfrm>
            <a:off x="502920"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15"/>
          <p:cNvSpPr/>
          <p:nvPr/>
        </p:nvSpPr>
        <p:spPr>
          <a:xfrm>
            <a:off x="502920"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15"/>
          <p:cNvSpPr/>
          <p:nvPr/>
        </p:nvSpPr>
        <p:spPr>
          <a:xfrm>
            <a:off x="11323015"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15"/>
          <p:cNvSpPr/>
          <p:nvPr/>
        </p:nvSpPr>
        <p:spPr>
          <a:xfrm>
            <a:off x="11661343"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15"/>
          <p:cNvSpPr/>
          <p:nvPr/>
        </p:nvSpPr>
        <p:spPr>
          <a:xfrm>
            <a:off x="502920"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15"/>
          <p:cNvSpPr/>
          <p:nvPr/>
        </p:nvSpPr>
        <p:spPr>
          <a:xfrm>
            <a:off x="502920"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15"/>
          <p:cNvSpPr/>
          <p:nvPr/>
        </p:nvSpPr>
        <p:spPr>
          <a:xfrm>
            <a:off x="11323015"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15"/>
          <p:cNvSpPr/>
          <p:nvPr/>
        </p:nvSpPr>
        <p:spPr>
          <a:xfrm>
            <a:off x="11661343"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15"/>
          <p:cNvSpPr/>
          <p:nvPr/>
        </p:nvSpPr>
        <p:spPr>
          <a:xfrm>
            <a:off x="640080" y="6416040"/>
            <a:ext cx="10881360" cy="3175"/>
          </a:xfrm>
          <a:prstGeom prst="rect">
            <a:avLst/>
          </a:prstGeom>
          <a:solidFill>
            <a:srgbClr val="2A3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15"/>
          <p:cNvSpPr txBox="1"/>
          <p:nvPr/>
        </p:nvSpPr>
        <p:spPr>
          <a:xfrm>
            <a:off x="640080" y="6470000"/>
            <a:ext cx="4000000" cy="2286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900">
                <a:solidFill>
                  <a:srgbClr val="4A5860"/>
                </a:solidFill>
                <a:latin typeface="Calibri"/>
                <a:ea typeface="Calibri"/>
                <a:cs typeface="Calibri"/>
                <a:sym typeface="Calibri"/>
              </a:rPr>
              <a:t>CAMPUSEYE  ·  CSE499A</a:t>
            </a:r>
            <a:endParaRPr/>
          </a:p>
        </p:txBody>
      </p:sp>
      <p:sp>
        <p:nvSpPr>
          <p:cNvPr id="451" name="Google Shape;451;p15"/>
          <p:cNvSpPr txBox="1"/>
          <p:nvPr/>
        </p:nvSpPr>
        <p:spPr>
          <a:xfrm>
            <a:off x="9521440" y="6470000"/>
            <a:ext cx="2000000" cy="228600"/>
          </a:xfrm>
          <a:prstGeom prst="rect">
            <a:avLst/>
          </a:prstGeom>
          <a:noFill/>
          <a:ln>
            <a:noFill/>
          </a:ln>
        </p:spPr>
        <p:txBody>
          <a:bodyPr anchorCtr="0" anchor="t" bIns="45700" lIns="0" spcFirstLastPara="1" rIns="91425" wrap="square" tIns="0">
            <a:spAutoFit/>
          </a:bodyPr>
          <a:lstStyle/>
          <a:p>
            <a:pPr indent="0" lvl="0" marL="0" marR="0" rtl="0" algn="r">
              <a:spcBef>
                <a:spcPts val="0"/>
              </a:spcBef>
              <a:spcAft>
                <a:spcPts val="0"/>
              </a:spcAft>
              <a:buNone/>
            </a:pPr>
            <a:r>
              <a:rPr lang="en-US" sz="900">
                <a:solidFill>
                  <a:srgbClr val="4A5860"/>
                </a:solidFill>
                <a:latin typeface="Calibri"/>
                <a:ea typeface="Calibri"/>
                <a:cs typeface="Calibri"/>
                <a:sym typeface="Calibri"/>
              </a:rPr>
              <a:t>13 / 15</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18"/>
        </a:solidFill>
      </p:bgPr>
    </p:bg>
    <p:spTree>
      <p:nvGrpSpPr>
        <p:cNvPr id="456" name="Shape 456"/>
        <p:cNvGrpSpPr/>
        <p:nvPr/>
      </p:nvGrpSpPr>
      <p:grpSpPr>
        <a:xfrm>
          <a:off x="0" y="0"/>
          <a:ext cx="0" cy="0"/>
          <a:chOff x="0" y="0"/>
          <a:chExt cx="0" cy="0"/>
        </a:xfrm>
      </p:grpSpPr>
      <p:sp>
        <p:nvSpPr>
          <p:cNvPr id="457" name="Google Shape;457;p16"/>
          <p:cNvSpPr txBox="1"/>
          <p:nvPr/>
        </p:nvSpPr>
        <p:spPr>
          <a:xfrm>
            <a:off x="640080" y="411480"/>
            <a:ext cx="10881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0AA"/>
              </a:buClr>
              <a:buSzPts val="1200"/>
              <a:buFont typeface="Calibri"/>
              <a:buNone/>
            </a:pPr>
            <a:r>
              <a:rPr b="1" lang="en-US" sz="1200">
                <a:solidFill>
                  <a:srgbClr val="8FA0AA"/>
                </a:solidFill>
                <a:latin typeface="Calibri"/>
                <a:ea typeface="Calibri"/>
                <a:cs typeface="Calibri"/>
                <a:sym typeface="Calibri"/>
              </a:rPr>
              <a:t>12  ·  FUTURE WORK</a:t>
            </a:r>
            <a:endParaRPr sz="1200">
              <a:solidFill>
                <a:schemeClr val="dk1"/>
              </a:solidFill>
              <a:latin typeface="Calibri"/>
              <a:ea typeface="Calibri"/>
              <a:cs typeface="Calibri"/>
              <a:sym typeface="Calibri"/>
            </a:endParaRPr>
          </a:p>
        </p:txBody>
      </p:sp>
      <p:sp>
        <p:nvSpPr>
          <p:cNvPr id="458" name="Google Shape;458;p16"/>
          <p:cNvSpPr txBox="1"/>
          <p:nvPr/>
        </p:nvSpPr>
        <p:spPr>
          <a:xfrm>
            <a:off x="640080" y="694944"/>
            <a:ext cx="1088136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3300"/>
              <a:buFont typeface="Cambria"/>
              <a:buNone/>
            </a:pPr>
            <a:r>
              <a:rPr b="1" lang="en-US" sz="3300">
                <a:solidFill>
                  <a:srgbClr val="F5F8F9"/>
                </a:solidFill>
                <a:latin typeface="Cambria"/>
                <a:ea typeface="Cambria"/>
                <a:cs typeface="Cambria"/>
                <a:sym typeface="Cambria"/>
              </a:rPr>
              <a:t>CSE499B — the implementation plan</a:t>
            </a:r>
            <a:endParaRPr sz="3300">
              <a:solidFill>
                <a:schemeClr val="dk1"/>
              </a:solidFill>
              <a:latin typeface="Calibri"/>
              <a:ea typeface="Calibri"/>
              <a:cs typeface="Calibri"/>
              <a:sym typeface="Calibri"/>
            </a:endParaRPr>
          </a:p>
        </p:txBody>
      </p:sp>
      <p:sp>
        <p:nvSpPr>
          <p:cNvPr id="459" name="Google Shape;459;p16"/>
          <p:cNvSpPr txBox="1"/>
          <p:nvPr/>
        </p:nvSpPr>
        <p:spPr>
          <a:xfrm>
            <a:off x="640080" y="1371600"/>
            <a:ext cx="10881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3CED4"/>
              </a:buClr>
              <a:buSzPts val="1300"/>
              <a:buFont typeface="Calibri"/>
              <a:buNone/>
            </a:pPr>
            <a:r>
              <a:rPr lang="en-US" sz="1300">
                <a:solidFill>
                  <a:srgbClr val="C3CED4"/>
                </a:solidFill>
                <a:latin typeface="Calibri"/>
                <a:ea typeface="Calibri"/>
                <a:cs typeface="Calibri"/>
                <a:sym typeface="Calibri"/>
              </a:rPr>
              <a:t>The remaining scope is planned as eight versioned milestones, each with its own acceptance criterion, ending in the capstone defence.</a:t>
            </a:r>
            <a:endParaRPr sz="1300">
              <a:solidFill>
                <a:schemeClr val="dk1"/>
              </a:solidFill>
              <a:latin typeface="Calibri"/>
              <a:ea typeface="Calibri"/>
              <a:cs typeface="Calibri"/>
              <a:sym typeface="Calibri"/>
            </a:endParaRPr>
          </a:p>
        </p:txBody>
      </p:sp>
      <p:sp>
        <p:nvSpPr>
          <p:cNvPr id="460" name="Google Shape;460;p16"/>
          <p:cNvSpPr/>
          <p:nvPr/>
        </p:nvSpPr>
        <p:spPr>
          <a:xfrm>
            <a:off x="640080" y="1920240"/>
            <a:ext cx="1280160" cy="2514600"/>
          </a:xfrm>
          <a:prstGeom prst="rect">
            <a:avLst/>
          </a:prstGeom>
          <a:solidFill>
            <a:srgbClr val="2FAE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16"/>
          <p:cNvSpPr txBox="1"/>
          <p:nvPr/>
        </p:nvSpPr>
        <p:spPr>
          <a:xfrm>
            <a:off x="640080" y="2084832"/>
            <a:ext cx="12801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mbria"/>
              <a:buNone/>
            </a:pPr>
            <a:r>
              <a:rPr b="1" lang="en-US" sz="1700">
                <a:solidFill>
                  <a:srgbClr val="FFFFFF"/>
                </a:solidFill>
                <a:latin typeface="Cambria"/>
                <a:ea typeface="Cambria"/>
                <a:cs typeface="Cambria"/>
                <a:sym typeface="Cambria"/>
              </a:rPr>
              <a:t>W1</a:t>
            </a:r>
            <a:endParaRPr sz="1700">
              <a:solidFill>
                <a:schemeClr val="dk1"/>
              </a:solidFill>
              <a:latin typeface="Calibri"/>
              <a:ea typeface="Calibri"/>
              <a:cs typeface="Calibri"/>
              <a:sym typeface="Calibri"/>
            </a:endParaRPr>
          </a:p>
        </p:txBody>
      </p:sp>
      <p:sp>
        <p:nvSpPr>
          <p:cNvPr id="462" name="Google Shape;462;p16"/>
          <p:cNvSpPr txBox="1"/>
          <p:nvPr/>
        </p:nvSpPr>
        <p:spPr>
          <a:xfrm>
            <a:off x="740664" y="2487168"/>
            <a:ext cx="1078992" cy="1371600"/>
          </a:xfrm>
          <a:prstGeom prst="rect">
            <a:avLst/>
          </a:prstGeom>
          <a:noFill/>
          <a:ln>
            <a:noFill/>
          </a:ln>
        </p:spPr>
        <p:txBody>
          <a:bodyPr anchorCtr="0" anchor="ctr" bIns="0" lIns="0" spcFirstLastPara="1" rIns="0" wrap="square" tIns="0">
            <a:noAutofit/>
          </a:bodyPr>
          <a:lstStyle/>
          <a:p>
            <a:pPr indent="0" lvl="0" marL="0" marR="0" rtl="0" algn="ctr">
              <a:lnSpc>
                <a:spcPct val="128571"/>
              </a:lnSpc>
              <a:spcBef>
                <a:spcPts val="0"/>
              </a:spcBef>
              <a:spcAft>
                <a:spcPts val="0"/>
              </a:spcAft>
              <a:buClr>
                <a:srgbClr val="D8EFE4"/>
              </a:buClr>
              <a:buSzPts val="1050"/>
              <a:buFont typeface="Calibri"/>
              <a:buNone/>
            </a:pPr>
            <a:r>
              <a:rPr b="1" lang="en-US" sz="1350">
                <a:solidFill>
                  <a:schemeClr val="dk1"/>
                </a:solidFill>
                <a:latin typeface="Calibri"/>
                <a:ea typeface="Calibri"/>
                <a:cs typeface="Calibri"/>
                <a:sym typeface="Calibri"/>
              </a:rPr>
              <a:t>Course &amp; roster layer</a:t>
            </a:r>
            <a:endParaRPr b="1" sz="1350">
              <a:solidFill>
                <a:schemeClr val="dk1"/>
              </a:solidFill>
              <a:latin typeface="Calibri"/>
              <a:ea typeface="Calibri"/>
              <a:cs typeface="Calibri"/>
              <a:sym typeface="Calibri"/>
            </a:endParaRPr>
          </a:p>
        </p:txBody>
      </p:sp>
      <p:sp>
        <p:nvSpPr>
          <p:cNvPr id="463" name="Google Shape;463;p16"/>
          <p:cNvSpPr txBox="1"/>
          <p:nvPr/>
        </p:nvSpPr>
        <p:spPr>
          <a:xfrm>
            <a:off x="640080" y="4059936"/>
            <a:ext cx="12801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E6C9"/>
              </a:buClr>
              <a:buSzPts val="850"/>
              <a:buFont typeface="Calibri"/>
              <a:buNone/>
            </a:pPr>
            <a:r>
              <a:rPr b="1" lang="en-US" sz="850">
                <a:solidFill>
                  <a:srgbClr val="A8E6C9"/>
                </a:solidFill>
                <a:latin typeface="Calibri"/>
                <a:ea typeface="Calibri"/>
                <a:cs typeface="Calibri"/>
                <a:sym typeface="Calibri"/>
              </a:rPr>
              <a:t>DONE IN 499A</a:t>
            </a:r>
            <a:endParaRPr sz="850">
              <a:solidFill>
                <a:schemeClr val="dk1"/>
              </a:solidFill>
              <a:latin typeface="Calibri"/>
              <a:ea typeface="Calibri"/>
              <a:cs typeface="Calibri"/>
              <a:sym typeface="Calibri"/>
            </a:endParaRPr>
          </a:p>
        </p:txBody>
      </p:sp>
      <p:sp>
        <p:nvSpPr>
          <p:cNvPr id="464" name="Google Shape;464;p16"/>
          <p:cNvSpPr/>
          <p:nvPr/>
        </p:nvSpPr>
        <p:spPr>
          <a:xfrm>
            <a:off x="2002536" y="1920240"/>
            <a:ext cx="1280160" cy="251460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16"/>
          <p:cNvSpPr txBox="1"/>
          <p:nvPr/>
        </p:nvSpPr>
        <p:spPr>
          <a:xfrm>
            <a:off x="2002536" y="2084832"/>
            <a:ext cx="12801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0AA"/>
              </a:buClr>
              <a:buSzPts val="1700"/>
              <a:buFont typeface="Cambria"/>
              <a:buNone/>
            </a:pPr>
            <a:r>
              <a:rPr b="1" lang="en-US" sz="1700">
                <a:solidFill>
                  <a:srgbClr val="8FA0AA"/>
                </a:solidFill>
                <a:latin typeface="Cambria"/>
                <a:ea typeface="Cambria"/>
                <a:cs typeface="Cambria"/>
                <a:sym typeface="Cambria"/>
              </a:rPr>
              <a:t>W2</a:t>
            </a:r>
            <a:endParaRPr sz="1700">
              <a:solidFill>
                <a:schemeClr val="dk1"/>
              </a:solidFill>
              <a:latin typeface="Calibri"/>
              <a:ea typeface="Calibri"/>
              <a:cs typeface="Calibri"/>
              <a:sym typeface="Calibri"/>
            </a:endParaRPr>
          </a:p>
        </p:txBody>
      </p:sp>
      <p:sp>
        <p:nvSpPr>
          <p:cNvPr id="466" name="Google Shape;466;p16"/>
          <p:cNvSpPr txBox="1"/>
          <p:nvPr/>
        </p:nvSpPr>
        <p:spPr>
          <a:xfrm>
            <a:off x="2103120" y="2487168"/>
            <a:ext cx="1078992" cy="1371600"/>
          </a:xfrm>
          <a:prstGeom prst="rect">
            <a:avLst/>
          </a:prstGeom>
          <a:noFill/>
          <a:ln>
            <a:noFill/>
          </a:ln>
        </p:spPr>
        <p:txBody>
          <a:bodyPr anchorCtr="0" anchor="ctr" bIns="0" lIns="0" spcFirstLastPara="1" rIns="0" wrap="square" tIns="0">
            <a:noAutofit/>
          </a:bodyPr>
          <a:lstStyle/>
          <a:p>
            <a:pPr indent="0" lvl="0" marL="0" marR="0" rtl="0" algn="ctr">
              <a:lnSpc>
                <a:spcPct val="128571"/>
              </a:lnSpc>
              <a:spcBef>
                <a:spcPts val="0"/>
              </a:spcBef>
              <a:spcAft>
                <a:spcPts val="0"/>
              </a:spcAft>
              <a:buClr>
                <a:srgbClr val="C3CED4"/>
              </a:buClr>
              <a:buSzPts val="1050"/>
              <a:buFont typeface="Calibri"/>
              <a:buNone/>
            </a:pPr>
            <a:r>
              <a:rPr b="1" lang="en-US" sz="1350">
                <a:solidFill>
                  <a:srgbClr val="C3CED4"/>
                </a:solidFill>
                <a:latin typeface="Calibri"/>
                <a:ea typeface="Calibri"/>
                <a:cs typeface="Calibri"/>
                <a:sym typeface="Calibri"/>
              </a:rPr>
              <a:t>Live camera &amp; dual-threshold review</a:t>
            </a:r>
            <a:endParaRPr b="1" sz="1350">
              <a:solidFill>
                <a:schemeClr val="dk1"/>
              </a:solidFill>
              <a:latin typeface="Calibri"/>
              <a:ea typeface="Calibri"/>
              <a:cs typeface="Calibri"/>
              <a:sym typeface="Calibri"/>
            </a:endParaRPr>
          </a:p>
        </p:txBody>
      </p:sp>
      <p:sp>
        <p:nvSpPr>
          <p:cNvPr id="467" name="Google Shape;467;p16"/>
          <p:cNvSpPr/>
          <p:nvPr/>
        </p:nvSpPr>
        <p:spPr>
          <a:xfrm>
            <a:off x="3364992" y="1920240"/>
            <a:ext cx="1280160" cy="251460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16"/>
          <p:cNvSpPr txBox="1"/>
          <p:nvPr/>
        </p:nvSpPr>
        <p:spPr>
          <a:xfrm>
            <a:off x="3364992" y="2084832"/>
            <a:ext cx="12801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0AA"/>
              </a:buClr>
              <a:buSzPts val="1700"/>
              <a:buFont typeface="Cambria"/>
              <a:buNone/>
            </a:pPr>
            <a:r>
              <a:rPr b="1" lang="en-US" sz="1700">
                <a:solidFill>
                  <a:srgbClr val="8FA0AA"/>
                </a:solidFill>
                <a:latin typeface="Cambria"/>
                <a:ea typeface="Cambria"/>
                <a:cs typeface="Cambria"/>
                <a:sym typeface="Cambria"/>
              </a:rPr>
              <a:t>W3</a:t>
            </a:r>
            <a:endParaRPr sz="1700">
              <a:solidFill>
                <a:schemeClr val="dk1"/>
              </a:solidFill>
              <a:latin typeface="Calibri"/>
              <a:ea typeface="Calibri"/>
              <a:cs typeface="Calibri"/>
              <a:sym typeface="Calibri"/>
            </a:endParaRPr>
          </a:p>
        </p:txBody>
      </p:sp>
      <p:sp>
        <p:nvSpPr>
          <p:cNvPr id="469" name="Google Shape;469;p16"/>
          <p:cNvSpPr txBox="1"/>
          <p:nvPr/>
        </p:nvSpPr>
        <p:spPr>
          <a:xfrm>
            <a:off x="3465576" y="2487168"/>
            <a:ext cx="1078992" cy="1371600"/>
          </a:xfrm>
          <a:prstGeom prst="rect">
            <a:avLst/>
          </a:prstGeom>
          <a:noFill/>
          <a:ln>
            <a:noFill/>
          </a:ln>
        </p:spPr>
        <p:txBody>
          <a:bodyPr anchorCtr="0" anchor="ctr" bIns="0" lIns="0" spcFirstLastPara="1" rIns="0" wrap="square" tIns="0">
            <a:noAutofit/>
          </a:bodyPr>
          <a:lstStyle/>
          <a:p>
            <a:pPr indent="0" lvl="0" marL="0" marR="0" rtl="0" algn="ctr">
              <a:lnSpc>
                <a:spcPct val="128571"/>
              </a:lnSpc>
              <a:spcBef>
                <a:spcPts val="0"/>
              </a:spcBef>
              <a:spcAft>
                <a:spcPts val="0"/>
              </a:spcAft>
              <a:buClr>
                <a:srgbClr val="C3CED4"/>
              </a:buClr>
              <a:buSzPts val="1050"/>
              <a:buFont typeface="Calibri"/>
              <a:buNone/>
            </a:pPr>
            <a:r>
              <a:rPr b="1" lang="en-US" sz="1350">
                <a:solidFill>
                  <a:srgbClr val="C3CED4"/>
                </a:solidFill>
                <a:latin typeface="Calibri"/>
                <a:ea typeface="Calibri"/>
                <a:cs typeface="Calibri"/>
                <a:sym typeface="Calibri"/>
              </a:rPr>
              <a:t>CCTV stream ingestion</a:t>
            </a:r>
            <a:endParaRPr b="1" sz="1350">
              <a:solidFill>
                <a:schemeClr val="dk1"/>
              </a:solidFill>
              <a:latin typeface="Calibri"/>
              <a:ea typeface="Calibri"/>
              <a:cs typeface="Calibri"/>
              <a:sym typeface="Calibri"/>
            </a:endParaRPr>
          </a:p>
        </p:txBody>
      </p:sp>
      <p:sp>
        <p:nvSpPr>
          <p:cNvPr id="470" name="Google Shape;470;p16"/>
          <p:cNvSpPr/>
          <p:nvPr/>
        </p:nvSpPr>
        <p:spPr>
          <a:xfrm>
            <a:off x="4727448" y="1920240"/>
            <a:ext cx="1280160" cy="251460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16"/>
          <p:cNvSpPr txBox="1"/>
          <p:nvPr/>
        </p:nvSpPr>
        <p:spPr>
          <a:xfrm>
            <a:off x="4727448" y="2084832"/>
            <a:ext cx="12801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0AA"/>
              </a:buClr>
              <a:buSzPts val="1700"/>
              <a:buFont typeface="Cambria"/>
              <a:buNone/>
            </a:pPr>
            <a:r>
              <a:rPr b="1" lang="en-US" sz="1700">
                <a:solidFill>
                  <a:srgbClr val="8FA0AA"/>
                </a:solidFill>
                <a:latin typeface="Cambria"/>
                <a:ea typeface="Cambria"/>
                <a:cs typeface="Cambria"/>
                <a:sym typeface="Cambria"/>
              </a:rPr>
              <a:t>W4</a:t>
            </a:r>
            <a:endParaRPr sz="1700">
              <a:solidFill>
                <a:schemeClr val="dk1"/>
              </a:solidFill>
              <a:latin typeface="Calibri"/>
              <a:ea typeface="Calibri"/>
              <a:cs typeface="Calibri"/>
              <a:sym typeface="Calibri"/>
            </a:endParaRPr>
          </a:p>
        </p:txBody>
      </p:sp>
      <p:sp>
        <p:nvSpPr>
          <p:cNvPr id="472" name="Google Shape;472;p16"/>
          <p:cNvSpPr txBox="1"/>
          <p:nvPr/>
        </p:nvSpPr>
        <p:spPr>
          <a:xfrm>
            <a:off x="4828032" y="2487168"/>
            <a:ext cx="1078992" cy="1371600"/>
          </a:xfrm>
          <a:prstGeom prst="rect">
            <a:avLst/>
          </a:prstGeom>
          <a:noFill/>
          <a:ln>
            <a:noFill/>
          </a:ln>
        </p:spPr>
        <p:txBody>
          <a:bodyPr anchorCtr="0" anchor="ctr" bIns="0" lIns="0" spcFirstLastPara="1" rIns="0" wrap="square" tIns="0">
            <a:noAutofit/>
          </a:bodyPr>
          <a:lstStyle/>
          <a:p>
            <a:pPr indent="0" lvl="0" marL="0" marR="0" rtl="0" algn="ctr">
              <a:lnSpc>
                <a:spcPct val="128571"/>
              </a:lnSpc>
              <a:spcBef>
                <a:spcPts val="0"/>
              </a:spcBef>
              <a:spcAft>
                <a:spcPts val="0"/>
              </a:spcAft>
              <a:buClr>
                <a:srgbClr val="C3CED4"/>
              </a:buClr>
              <a:buSzPts val="1050"/>
              <a:buFont typeface="Calibri"/>
              <a:buNone/>
            </a:pPr>
            <a:r>
              <a:rPr b="1" lang="en-US" sz="1350">
                <a:solidFill>
                  <a:srgbClr val="C3CED4"/>
                </a:solidFill>
                <a:latin typeface="Calibri"/>
                <a:ea typeface="Calibri"/>
                <a:cs typeface="Calibri"/>
                <a:sym typeface="Calibri"/>
              </a:rPr>
              <a:t>Multi-object tracking</a:t>
            </a:r>
            <a:endParaRPr b="1" sz="1350">
              <a:solidFill>
                <a:schemeClr val="dk1"/>
              </a:solidFill>
              <a:latin typeface="Calibri"/>
              <a:ea typeface="Calibri"/>
              <a:cs typeface="Calibri"/>
              <a:sym typeface="Calibri"/>
            </a:endParaRPr>
          </a:p>
        </p:txBody>
      </p:sp>
      <p:sp>
        <p:nvSpPr>
          <p:cNvPr id="473" name="Google Shape;473;p16"/>
          <p:cNvSpPr/>
          <p:nvPr/>
        </p:nvSpPr>
        <p:spPr>
          <a:xfrm>
            <a:off x="6089904" y="1920240"/>
            <a:ext cx="1280160" cy="251460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16"/>
          <p:cNvSpPr txBox="1"/>
          <p:nvPr/>
        </p:nvSpPr>
        <p:spPr>
          <a:xfrm>
            <a:off x="6089904" y="2084832"/>
            <a:ext cx="12801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0AA"/>
              </a:buClr>
              <a:buSzPts val="1700"/>
              <a:buFont typeface="Cambria"/>
              <a:buNone/>
            </a:pPr>
            <a:r>
              <a:rPr b="1" lang="en-US" sz="1700">
                <a:solidFill>
                  <a:srgbClr val="8FA0AA"/>
                </a:solidFill>
                <a:latin typeface="Cambria"/>
                <a:ea typeface="Cambria"/>
                <a:cs typeface="Cambria"/>
                <a:sym typeface="Cambria"/>
              </a:rPr>
              <a:t>W5</a:t>
            </a:r>
            <a:endParaRPr sz="1700">
              <a:solidFill>
                <a:schemeClr val="dk1"/>
              </a:solidFill>
              <a:latin typeface="Calibri"/>
              <a:ea typeface="Calibri"/>
              <a:cs typeface="Calibri"/>
              <a:sym typeface="Calibri"/>
            </a:endParaRPr>
          </a:p>
        </p:txBody>
      </p:sp>
      <p:sp>
        <p:nvSpPr>
          <p:cNvPr id="475" name="Google Shape;475;p16"/>
          <p:cNvSpPr txBox="1"/>
          <p:nvPr/>
        </p:nvSpPr>
        <p:spPr>
          <a:xfrm>
            <a:off x="6190488" y="2487168"/>
            <a:ext cx="1078992" cy="1371600"/>
          </a:xfrm>
          <a:prstGeom prst="rect">
            <a:avLst/>
          </a:prstGeom>
          <a:noFill/>
          <a:ln>
            <a:noFill/>
          </a:ln>
        </p:spPr>
        <p:txBody>
          <a:bodyPr anchorCtr="0" anchor="ctr" bIns="0" lIns="0" spcFirstLastPara="1" rIns="0" wrap="square" tIns="0">
            <a:noAutofit/>
          </a:bodyPr>
          <a:lstStyle/>
          <a:p>
            <a:pPr indent="0" lvl="0" marL="0" marR="0" rtl="0" algn="ctr">
              <a:lnSpc>
                <a:spcPct val="128571"/>
              </a:lnSpc>
              <a:spcBef>
                <a:spcPts val="0"/>
              </a:spcBef>
              <a:spcAft>
                <a:spcPts val="0"/>
              </a:spcAft>
              <a:buClr>
                <a:srgbClr val="C3CED4"/>
              </a:buClr>
              <a:buSzPts val="1050"/>
              <a:buFont typeface="Calibri"/>
              <a:buNone/>
            </a:pPr>
            <a:r>
              <a:rPr b="1" lang="en-US" sz="1350">
                <a:solidFill>
                  <a:srgbClr val="C3CED4"/>
                </a:solidFill>
                <a:latin typeface="Calibri"/>
                <a:ea typeface="Calibri"/>
                <a:cs typeface="Calibri"/>
                <a:sym typeface="Calibri"/>
              </a:rPr>
              <a:t>Anti-proxy &amp; security alerts</a:t>
            </a:r>
            <a:endParaRPr b="1" sz="1350">
              <a:solidFill>
                <a:schemeClr val="dk1"/>
              </a:solidFill>
              <a:latin typeface="Calibri"/>
              <a:ea typeface="Calibri"/>
              <a:cs typeface="Calibri"/>
              <a:sym typeface="Calibri"/>
            </a:endParaRPr>
          </a:p>
        </p:txBody>
      </p:sp>
      <p:sp>
        <p:nvSpPr>
          <p:cNvPr id="476" name="Google Shape;476;p16"/>
          <p:cNvSpPr/>
          <p:nvPr/>
        </p:nvSpPr>
        <p:spPr>
          <a:xfrm>
            <a:off x="7452360" y="1920240"/>
            <a:ext cx="1280160" cy="251460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16"/>
          <p:cNvSpPr txBox="1"/>
          <p:nvPr/>
        </p:nvSpPr>
        <p:spPr>
          <a:xfrm>
            <a:off x="7452360" y="2084832"/>
            <a:ext cx="12801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0AA"/>
              </a:buClr>
              <a:buSzPts val="1700"/>
              <a:buFont typeface="Cambria"/>
              <a:buNone/>
            </a:pPr>
            <a:r>
              <a:rPr b="1" lang="en-US" sz="1700">
                <a:solidFill>
                  <a:srgbClr val="8FA0AA"/>
                </a:solidFill>
                <a:latin typeface="Cambria"/>
                <a:ea typeface="Cambria"/>
                <a:cs typeface="Cambria"/>
                <a:sym typeface="Cambria"/>
              </a:rPr>
              <a:t>W6</a:t>
            </a:r>
            <a:endParaRPr sz="1700">
              <a:solidFill>
                <a:schemeClr val="dk1"/>
              </a:solidFill>
              <a:latin typeface="Calibri"/>
              <a:ea typeface="Calibri"/>
              <a:cs typeface="Calibri"/>
              <a:sym typeface="Calibri"/>
            </a:endParaRPr>
          </a:p>
        </p:txBody>
      </p:sp>
      <p:sp>
        <p:nvSpPr>
          <p:cNvPr id="478" name="Google Shape;478;p16"/>
          <p:cNvSpPr txBox="1"/>
          <p:nvPr/>
        </p:nvSpPr>
        <p:spPr>
          <a:xfrm>
            <a:off x="7552944" y="2487168"/>
            <a:ext cx="1078992" cy="1371600"/>
          </a:xfrm>
          <a:prstGeom prst="rect">
            <a:avLst/>
          </a:prstGeom>
          <a:noFill/>
          <a:ln>
            <a:noFill/>
          </a:ln>
        </p:spPr>
        <p:txBody>
          <a:bodyPr anchorCtr="0" anchor="ctr" bIns="0" lIns="0" spcFirstLastPara="1" rIns="0" wrap="square" tIns="0">
            <a:noAutofit/>
          </a:bodyPr>
          <a:lstStyle/>
          <a:p>
            <a:pPr indent="0" lvl="0" marL="0" marR="0" rtl="0" algn="ctr">
              <a:lnSpc>
                <a:spcPct val="128571"/>
              </a:lnSpc>
              <a:spcBef>
                <a:spcPts val="0"/>
              </a:spcBef>
              <a:spcAft>
                <a:spcPts val="0"/>
              </a:spcAft>
              <a:buClr>
                <a:srgbClr val="C3CED4"/>
              </a:buClr>
              <a:buSzPts val="1050"/>
              <a:buFont typeface="Calibri"/>
              <a:buNone/>
            </a:pPr>
            <a:r>
              <a:rPr b="1" lang="en-US" sz="1350">
                <a:solidFill>
                  <a:srgbClr val="C3CED4"/>
                </a:solidFill>
                <a:latin typeface="Calibri"/>
                <a:ea typeface="Calibri"/>
                <a:cs typeface="Calibri"/>
                <a:sym typeface="Calibri"/>
              </a:rPr>
              <a:t>AES-256 biometric encryption</a:t>
            </a:r>
            <a:endParaRPr b="1" sz="1350">
              <a:solidFill>
                <a:schemeClr val="dk1"/>
              </a:solidFill>
              <a:latin typeface="Calibri"/>
              <a:ea typeface="Calibri"/>
              <a:cs typeface="Calibri"/>
              <a:sym typeface="Calibri"/>
            </a:endParaRPr>
          </a:p>
        </p:txBody>
      </p:sp>
      <p:sp>
        <p:nvSpPr>
          <p:cNvPr id="479" name="Google Shape;479;p16"/>
          <p:cNvSpPr/>
          <p:nvPr/>
        </p:nvSpPr>
        <p:spPr>
          <a:xfrm>
            <a:off x="8814816" y="1920240"/>
            <a:ext cx="1280160" cy="251460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16"/>
          <p:cNvSpPr txBox="1"/>
          <p:nvPr/>
        </p:nvSpPr>
        <p:spPr>
          <a:xfrm>
            <a:off x="8814816" y="2084832"/>
            <a:ext cx="12801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0AA"/>
              </a:buClr>
              <a:buSzPts val="1700"/>
              <a:buFont typeface="Cambria"/>
              <a:buNone/>
            </a:pPr>
            <a:r>
              <a:rPr b="1" lang="en-US" sz="1700">
                <a:solidFill>
                  <a:srgbClr val="8FA0AA"/>
                </a:solidFill>
                <a:latin typeface="Cambria"/>
                <a:ea typeface="Cambria"/>
                <a:cs typeface="Cambria"/>
                <a:sym typeface="Cambria"/>
              </a:rPr>
              <a:t>W7</a:t>
            </a:r>
            <a:endParaRPr sz="1700">
              <a:solidFill>
                <a:schemeClr val="dk1"/>
              </a:solidFill>
              <a:latin typeface="Calibri"/>
              <a:ea typeface="Calibri"/>
              <a:cs typeface="Calibri"/>
              <a:sym typeface="Calibri"/>
            </a:endParaRPr>
          </a:p>
        </p:txBody>
      </p:sp>
      <p:sp>
        <p:nvSpPr>
          <p:cNvPr id="481" name="Google Shape;481;p16"/>
          <p:cNvSpPr txBox="1"/>
          <p:nvPr/>
        </p:nvSpPr>
        <p:spPr>
          <a:xfrm>
            <a:off x="8915400" y="2487168"/>
            <a:ext cx="1078992" cy="1371600"/>
          </a:xfrm>
          <a:prstGeom prst="rect">
            <a:avLst/>
          </a:prstGeom>
          <a:noFill/>
          <a:ln>
            <a:noFill/>
          </a:ln>
        </p:spPr>
        <p:txBody>
          <a:bodyPr anchorCtr="0" anchor="ctr" bIns="0" lIns="0" spcFirstLastPara="1" rIns="0" wrap="square" tIns="0">
            <a:noAutofit/>
          </a:bodyPr>
          <a:lstStyle/>
          <a:p>
            <a:pPr indent="0" lvl="0" marL="0" marR="0" rtl="0" algn="ctr">
              <a:lnSpc>
                <a:spcPct val="128571"/>
              </a:lnSpc>
              <a:spcBef>
                <a:spcPts val="0"/>
              </a:spcBef>
              <a:spcAft>
                <a:spcPts val="0"/>
              </a:spcAft>
              <a:buClr>
                <a:srgbClr val="C3CED4"/>
              </a:buClr>
              <a:buSzPts val="1050"/>
              <a:buFont typeface="Calibri"/>
              <a:buNone/>
            </a:pPr>
            <a:r>
              <a:rPr b="1" lang="en-US" sz="1350">
                <a:solidFill>
                  <a:srgbClr val="C3CED4"/>
                </a:solidFill>
                <a:latin typeface="Calibri"/>
                <a:ea typeface="Calibri"/>
                <a:cs typeface="Calibri"/>
                <a:sym typeface="Calibri"/>
              </a:rPr>
              <a:t>LMS integration &amp; analytics</a:t>
            </a:r>
            <a:endParaRPr b="1" sz="1350">
              <a:solidFill>
                <a:schemeClr val="dk1"/>
              </a:solidFill>
              <a:latin typeface="Calibri"/>
              <a:ea typeface="Calibri"/>
              <a:cs typeface="Calibri"/>
              <a:sym typeface="Calibri"/>
            </a:endParaRPr>
          </a:p>
        </p:txBody>
      </p:sp>
      <p:sp>
        <p:nvSpPr>
          <p:cNvPr id="482" name="Google Shape;482;p16"/>
          <p:cNvSpPr/>
          <p:nvPr/>
        </p:nvSpPr>
        <p:spPr>
          <a:xfrm>
            <a:off x="10177272" y="1920240"/>
            <a:ext cx="1280160" cy="2514600"/>
          </a:xfrm>
          <a:prstGeom prst="rect">
            <a:avLst/>
          </a:prstGeom>
          <a:solidFill>
            <a:srgbClr val="1B242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3" name="Google Shape;483;p16"/>
          <p:cNvSpPr txBox="1"/>
          <p:nvPr/>
        </p:nvSpPr>
        <p:spPr>
          <a:xfrm>
            <a:off x="10177272" y="2084832"/>
            <a:ext cx="12801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0AA"/>
              </a:buClr>
              <a:buSzPts val="1700"/>
              <a:buFont typeface="Cambria"/>
              <a:buNone/>
            </a:pPr>
            <a:r>
              <a:rPr b="1" lang="en-US" sz="1700">
                <a:solidFill>
                  <a:srgbClr val="8FA0AA"/>
                </a:solidFill>
                <a:latin typeface="Cambria"/>
                <a:ea typeface="Cambria"/>
                <a:cs typeface="Cambria"/>
                <a:sym typeface="Cambria"/>
              </a:rPr>
              <a:t>W8</a:t>
            </a:r>
            <a:endParaRPr sz="1700">
              <a:solidFill>
                <a:schemeClr val="dk1"/>
              </a:solidFill>
              <a:latin typeface="Calibri"/>
              <a:ea typeface="Calibri"/>
              <a:cs typeface="Calibri"/>
              <a:sym typeface="Calibri"/>
            </a:endParaRPr>
          </a:p>
        </p:txBody>
      </p:sp>
      <p:sp>
        <p:nvSpPr>
          <p:cNvPr id="484" name="Google Shape;484;p16"/>
          <p:cNvSpPr txBox="1"/>
          <p:nvPr/>
        </p:nvSpPr>
        <p:spPr>
          <a:xfrm>
            <a:off x="10277856" y="2487168"/>
            <a:ext cx="1078992" cy="1371600"/>
          </a:xfrm>
          <a:prstGeom prst="rect">
            <a:avLst/>
          </a:prstGeom>
          <a:noFill/>
          <a:ln>
            <a:noFill/>
          </a:ln>
        </p:spPr>
        <p:txBody>
          <a:bodyPr anchorCtr="0" anchor="ctr" bIns="0" lIns="0" spcFirstLastPara="1" rIns="0" wrap="square" tIns="0">
            <a:noAutofit/>
          </a:bodyPr>
          <a:lstStyle/>
          <a:p>
            <a:pPr indent="0" lvl="0" marL="0" marR="0" rtl="0" algn="ctr">
              <a:lnSpc>
                <a:spcPct val="128571"/>
              </a:lnSpc>
              <a:spcBef>
                <a:spcPts val="0"/>
              </a:spcBef>
              <a:spcAft>
                <a:spcPts val="0"/>
              </a:spcAft>
              <a:buClr>
                <a:srgbClr val="C3CED4"/>
              </a:buClr>
              <a:buSzPts val="1050"/>
              <a:buFont typeface="Calibri"/>
              <a:buNone/>
            </a:pPr>
            <a:r>
              <a:rPr b="1" lang="en-US" sz="1350">
                <a:solidFill>
                  <a:srgbClr val="C3CED4"/>
                </a:solidFill>
                <a:latin typeface="Calibri"/>
                <a:ea typeface="Calibri"/>
                <a:cs typeface="Calibri"/>
                <a:sym typeface="Calibri"/>
              </a:rPr>
              <a:t>Benchmarking &amp; thesis defence</a:t>
            </a:r>
            <a:endParaRPr b="1" sz="1350">
              <a:solidFill>
                <a:schemeClr val="dk1"/>
              </a:solidFill>
              <a:latin typeface="Calibri"/>
              <a:ea typeface="Calibri"/>
              <a:cs typeface="Calibri"/>
              <a:sym typeface="Calibri"/>
            </a:endParaRPr>
          </a:p>
        </p:txBody>
      </p:sp>
      <p:sp>
        <p:nvSpPr>
          <p:cNvPr id="485" name="Google Shape;485;p16"/>
          <p:cNvSpPr txBox="1"/>
          <p:nvPr/>
        </p:nvSpPr>
        <p:spPr>
          <a:xfrm>
            <a:off x="640080" y="4754880"/>
            <a:ext cx="10881360" cy="64008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F5F8F9"/>
              </a:buClr>
              <a:buSzPts val="1300"/>
              <a:buFont typeface="Calibri"/>
              <a:buNone/>
            </a:pPr>
            <a:r>
              <a:rPr b="1" lang="en-US" sz="1500">
                <a:solidFill>
                  <a:srgbClr val="F5F8F9"/>
                </a:solidFill>
                <a:latin typeface="Calibri"/>
                <a:ea typeface="Calibri"/>
                <a:cs typeface="Calibri"/>
                <a:sym typeface="Calibri"/>
              </a:rPr>
              <a:t>Weeks 3 and 4 carry the highest technical risk.  </a:t>
            </a:r>
            <a:r>
              <a:rPr lang="en-US" sz="1500">
                <a:solidFill>
                  <a:srgbClr val="C3CED4"/>
                </a:solidFill>
                <a:latin typeface="Calibri"/>
                <a:ea typeface="Calibri"/>
                <a:cs typeface="Calibri"/>
                <a:sym typeface="Calibri"/>
              </a:rPr>
              <a:t>Continuous stream ingestion and multi-object tracking are substantially harder than single-photo matching, and are what turn this from a per-class tool into genuine campus monitoring.</a:t>
            </a:r>
            <a:endParaRPr sz="1500">
              <a:solidFill>
                <a:schemeClr val="dk1"/>
              </a:solidFill>
              <a:latin typeface="Calibri"/>
              <a:ea typeface="Calibri"/>
              <a:cs typeface="Calibri"/>
              <a:sym typeface="Calibri"/>
            </a:endParaRPr>
          </a:p>
        </p:txBody>
      </p:sp>
      <p:sp>
        <p:nvSpPr>
          <p:cNvPr id="486" name="Google Shape;486;p16"/>
          <p:cNvSpPr txBox="1"/>
          <p:nvPr/>
        </p:nvSpPr>
        <p:spPr>
          <a:xfrm>
            <a:off x="640080" y="548640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B0"/>
              </a:buClr>
              <a:buSzPts val="1250"/>
              <a:buFont typeface="Calibri"/>
              <a:buNone/>
            </a:pPr>
            <a:r>
              <a:rPr i="1" lang="en-US" sz="1250">
                <a:solidFill>
                  <a:srgbClr val="5EEAB0"/>
                </a:solidFill>
                <a:latin typeface="Calibri"/>
                <a:ea typeface="Calibri"/>
                <a:cs typeface="Calibri"/>
                <a:sym typeface="Calibri"/>
              </a:rPr>
              <a:t>Week 1 was completed during CSE499A and is demonstrated in this presentation.</a:t>
            </a:r>
            <a:endParaRPr sz="1250">
              <a:solidFill>
                <a:schemeClr val="dk1"/>
              </a:solidFill>
              <a:latin typeface="Calibri"/>
              <a:ea typeface="Calibri"/>
              <a:cs typeface="Calibri"/>
              <a:sym typeface="Calibri"/>
            </a:endParaRPr>
          </a:p>
        </p:txBody>
      </p:sp>
      <p:sp>
        <p:nvSpPr>
          <p:cNvPr id="487" name="Google Shape;487;p16"/>
          <p:cNvSpPr/>
          <p:nvPr/>
        </p:nvSpPr>
        <p:spPr>
          <a:xfrm>
            <a:off x="502920"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16"/>
          <p:cNvSpPr/>
          <p:nvPr/>
        </p:nvSpPr>
        <p:spPr>
          <a:xfrm>
            <a:off x="502920"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16"/>
          <p:cNvSpPr/>
          <p:nvPr/>
        </p:nvSpPr>
        <p:spPr>
          <a:xfrm>
            <a:off x="11323015"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0" name="Google Shape;490;p16"/>
          <p:cNvSpPr/>
          <p:nvPr/>
        </p:nvSpPr>
        <p:spPr>
          <a:xfrm>
            <a:off x="11661343"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1" name="Google Shape;491;p16"/>
          <p:cNvSpPr/>
          <p:nvPr/>
        </p:nvSpPr>
        <p:spPr>
          <a:xfrm>
            <a:off x="502920"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16"/>
          <p:cNvSpPr/>
          <p:nvPr/>
        </p:nvSpPr>
        <p:spPr>
          <a:xfrm>
            <a:off x="502920"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16"/>
          <p:cNvSpPr/>
          <p:nvPr/>
        </p:nvSpPr>
        <p:spPr>
          <a:xfrm>
            <a:off x="11323015"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16"/>
          <p:cNvSpPr/>
          <p:nvPr/>
        </p:nvSpPr>
        <p:spPr>
          <a:xfrm>
            <a:off x="11661343"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16"/>
          <p:cNvSpPr/>
          <p:nvPr/>
        </p:nvSpPr>
        <p:spPr>
          <a:xfrm>
            <a:off x="640080" y="6416040"/>
            <a:ext cx="10881360" cy="3175"/>
          </a:xfrm>
          <a:prstGeom prst="rect">
            <a:avLst/>
          </a:prstGeom>
          <a:solidFill>
            <a:srgbClr val="2A3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p16"/>
          <p:cNvSpPr txBox="1"/>
          <p:nvPr/>
        </p:nvSpPr>
        <p:spPr>
          <a:xfrm>
            <a:off x="640080" y="6470000"/>
            <a:ext cx="4000000" cy="2286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900">
                <a:solidFill>
                  <a:srgbClr val="4A5860"/>
                </a:solidFill>
                <a:latin typeface="Calibri"/>
                <a:ea typeface="Calibri"/>
                <a:cs typeface="Calibri"/>
                <a:sym typeface="Calibri"/>
              </a:rPr>
              <a:t>CAMPUSEYE  ·  CSE499A</a:t>
            </a:r>
            <a:endParaRPr/>
          </a:p>
        </p:txBody>
      </p:sp>
      <p:sp>
        <p:nvSpPr>
          <p:cNvPr id="497" name="Google Shape;497;p16"/>
          <p:cNvSpPr txBox="1"/>
          <p:nvPr/>
        </p:nvSpPr>
        <p:spPr>
          <a:xfrm>
            <a:off x="9521440" y="6470000"/>
            <a:ext cx="2000000" cy="228600"/>
          </a:xfrm>
          <a:prstGeom prst="rect">
            <a:avLst/>
          </a:prstGeom>
          <a:noFill/>
          <a:ln>
            <a:noFill/>
          </a:ln>
        </p:spPr>
        <p:txBody>
          <a:bodyPr anchorCtr="0" anchor="t" bIns="45700" lIns="0" spcFirstLastPara="1" rIns="91425" wrap="square" tIns="0">
            <a:spAutoFit/>
          </a:bodyPr>
          <a:lstStyle/>
          <a:p>
            <a:pPr indent="0" lvl="0" marL="0" marR="0" rtl="0" algn="r">
              <a:spcBef>
                <a:spcPts val="0"/>
              </a:spcBef>
              <a:spcAft>
                <a:spcPts val="0"/>
              </a:spcAft>
              <a:buNone/>
            </a:pPr>
            <a:r>
              <a:rPr lang="en-US" sz="900">
                <a:solidFill>
                  <a:srgbClr val="4A5860"/>
                </a:solidFill>
                <a:latin typeface="Calibri"/>
                <a:ea typeface="Calibri"/>
                <a:cs typeface="Calibri"/>
                <a:sym typeface="Calibri"/>
              </a:rPr>
              <a:t>14 / 15</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18"/>
        </a:solidFill>
      </p:bgPr>
    </p:bg>
    <p:spTree>
      <p:nvGrpSpPr>
        <p:cNvPr id="502" name="Shape 502"/>
        <p:cNvGrpSpPr/>
        <p:nvPr/>
      </p:nvGrpSpPr>
      <p:grpSpPr>
        <a:xfrm>
          <a:off x="0" y="0"/>
          <a:ext cx="0" cy="0"/>
          <a:chOff x="0" y="0"/>
          <a:chExt cx="0" cy="0"/>
        </a:xfrm>
      </p:grpSpPr>
      <p:sp>
        <p:nvSpPr>
          <p:cNvPr id="503" name="Google Shape;503;p17"/>
          <p:cNvSpPr txBox="1"/>
          <p:nvPr/>
        </p:nvSpPr>
        <p:spPr>
          <a:xfrm>
            <a:off x="640080" y="411480"/>
            <a:ext cx="10881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0AA"/>
              </a:buClr>
              <a:buSzPts val="1200"/>
              <a:buFont typeface="Calibri"/>
              <a:buNone/>
            </a:pPr>
            <a:r>
              <a:rPr b="1" lang="en-US" sz="1200">
                <a:solidFill>
                  <a:srgbClr val="8FA0AA"/>
                </a:solidFill>
                <a:latin typeface="Calibri"/>
                <a:ea typeface="Calibri"/>
                <a:cs typeface="Calibri"/>
                <a:sym typeface="Calibri"/>
              </a:rPr>
              <a:t>13  ·  REFERENCES</a:t>
            </a:r>
            <a:endParaRPr sz="1200">
              <a:solidFill>
                <a:schemeClr val="dk1"/>
              </a:solidFill>
              <a:latin typeface="Calibri"/>
              <a:ea typeface="Calibri"/>
              <a:cs typeface="Calibri"/>
              <a:sym typeface="Calibri"/>
            </a:endParaRPr>
          </a:p>
        </p:txBody>
      </p:sp>
      <p:sp>
        <p:nvSpPr>
          <p:cNvPr id="504" name="Google Shape;504;p17"/>
          <p:cNvSpPr txBox="1"/>
          <p:nvPr/>
        </p:nvSpPr>
        <p:spPr>
          <a:xfrm>
            <a:off x="640080" y="694944"/>
            <a:ext cx="1088136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3300"/>
              <a:buFont typeface="Cambria"/>
              <a:buNone/>
            </a:pPr>
            <a:r>
              <a:rPr b="1" lang="en-US" sz="3300">
                <a:solidFill>
                  <a:srgbClr val="F5F8F9"/>
                </a:solidFill>
                <a:latin typeface="Cambria"/>
                <a:ea typeface="Cambria"/>
                <a:cs typeface="Cambria"/>
                <a:sym typeface="Cambria"/>
              </a:rPr>
              <a:t>Literature and tools</a:t>
            </a:r>
            <a:endParaRPr sz="3300">
              <a:solidFill>
                <a:schemeClr val="dk1"/>
              </a:solidFill>
              <a:latin typeface="Calibri"/>
              <a:ea typeface="Calibri"/>
              <a:cs typeface="Calibri"/>
              <a:sym typeface="Calibri"/>
            </a:endParaRPr>
          </a:p>
        </p:txBody>
      </p:sp>
      <p:sp>
        <p:nvSpPr>
          <p:cNvPr id="505" name="Google Shape;505;p17"/>
          <p:cNvSpPr txBox="1"/>
          <p:nvPr/>
        </p:nvSpPr>
        <p:spPr>
          <a:xfrm>
            <a:off x="640080" y="1536192"/>
            <a:ext cx="5669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B0"/>
              </a:buClr>
              <a:buSzPts val="1200"/>
              <a:buFont typeface="Calibri"/>
              <a:buNone/>
            </a:pPr>
            <a:r>
              <a:rPr b="1" lang="en-US" sz="1200">
                <a:solidFill>
                  <a:srgbClr val="5EEAB0"/>
                </a:solidFill>
                <a:latin typeface="Calibri"/>
                <a:ea typeface="Calibri"/>
                <a:cs typeface="Calibri"/>
                <a:sym typeface="Calibri"/>
              </a:rPr>
              <a:t>[P1]</a:t>
            </a:r>
            <a:endParaRPr sz="1200">
              <a:solidFill>
                <a:schemeClr val="dk1"/>
              </a:solidFill>
              <a:latin typeface="Calibri"/>
              <a:ea typeface="Calibri"/>
              <a:cs typeface="Calibri"/>
              <a:sym typeface="Calibri"/>
            </a:endParaRPr>
          </a:p>
        </p:txBody>
      </p:sp>
      <p:sp>
        <p:nvSpPr>
          <p:cNvPr id="506" name="Google Shape;506;p17"/>
          <p:cNvSpPr txBox="1"/>
          <p:nvPr/>
        </p:nvSpPr>
        <p:spPr>
          <a:xfrm>
            <a:off x="1280160" y="1517904"/>
            <a:ext cx="10149840" cy="50292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C3CED4"/>
              </a:buClr>
              <a:buSzPts val="1250"/>
              <a:buFont typeface="Calibri"/>
              <a:buNone/>
            </a:pPr>
            <a:r>
              <a:rPr lang="en-US" sz="1450">
                <a:solidFill>
                  <a:srgbClr val="C3CED4"/>
                </a:solidFill>
                <a:latin typeface="Calibri"/>
                <a:ea typeface="Calibri"/>
                <a:cs typeface="Calibri"/>
                <a:sym typeface="Calibri"/>
              </a:rPr>
              <a:t>A. Budiman et al., "Student attendance with face recognition (LBPH or CNN): Systematic literature review," Bina Nusantara University, 2023.</a:t>
            </a:r>
            <a:endParaRPr sz="1450">
              <a:solidFill>
                <a:schemeClr val="dk1"/>
              </a:solidFill>
              <a:latin typeface="Calibri"/>
              <a:ea typeface="Calibri"/>
              <a:cs typeface="Calibri"/>
              <a:sym typeface="Calibri"/>
            </a:endParaRPr>
          </a:p>
        </p:txBody>
      </p:sp>
      <p:sp>
        <p:nvSpPr>
          <p:cNvPr id="507" name="Google Shape;507;p17"/>
          <p:cNvSpPr txBox="1"/>
          <p:nvPr/>
        </p:nvSpPr>
        <p:spPr>
          <a:xfrm>
            <a:off x="640080" y="2103120"/>
            <a:ext cx="5669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B0"/>
              </a:buClr>
              <a:buSzPts val="1200"/>
              <a:buFont typeface="Calibri"/>
              <a:buNone/>
            </a:pPr>
            <a:r>
              <a:rPr b="1" lang="en-US" sz="1200">
                <a:solidFill>
                  <a:srgbClr val="5EEAB0"/>
                </a:solidFill>
                <a:latin typeface="Calibri"/>
                <a:ea typeface="Calibri"/>
                <a:cs typeface="Calibri"/>
                <a:sym typeface="Calibri"/>
              </a:rPr>
              <a:t>[P2]</a:t>
            </a:r>
            <a:endParaRPr sz="1200">
              <a:solidFill>
                <a:schemeClr val="dk1"/>
              </a:solidFill>
              <a:latin typeface="Calibri"/>
              <a:ea typeface="Calibri"/>
              <a:cs typeface="Calibri"/>
              <a:sym typeface="Calibri"/>
            </a:endParaRPr>
          </a:p>
        </p:txBody>
      </p:sp>
      <p:sp>
        <p:nvSpPr>
          <p:cNvPr id="508" name="Google Shape;508;p17"/>
          <p:cNvSpPr txBox="1"/>
          <p:nvPr/>
        </p:nvSpPr>
        <p:spPr>
          <a:xfrm>
            <a:off x="1280160" y="1991503"/>
            <a:ext cx="10149900" cy="5028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C3CED4"/>
              </a:buClr>
              <a:buSzPts val="1250"/>
              <a:buFont typeface="Calibri"/>
              <a:buNone/>
            </a:pPr>
            <a:r>
              <a:rPr lang="en-US" sz="1450">
                <a:solidFill>
                  <a:srgbClr val="C3CED4"/>
                </a:solidFill>
                <a:latin typeface="Calibri"/>
                <a:ea typeface="Calibri"/>
                <a:cs typeface="Calibri"/>
                <a:sym typeface="Calibri"/>
              </a:rPr>
              <a:t>R. Abuazh et al., "Face Detection and Recognition Student Attendance System," College of Engineering, 2020.</a:t>
            </a:r>
            <a:endParaRPr sz="1450">
              <a:solidFill>
                <a:schemeClr val="dk1"/>
              </a:solidFill>
              <a:latin typeface="Calibri"/>
              <a:ea typeface="Calibri"/>
              <a:cs typeface="Calibri"/>
              <a:sym typeface="Calibri"/>
            </a:endParaRPr>
          </a:p>
        </p:txBody>
      </p:sp>
      <p:sp>
        <p:nvSpPr>
          <p:cNvPr id="509" name="Google Shape;509;p17"/>
          <p:cNvSpPr txBox="1"/>
          <p:nvPr/>
        </p:nvSpPr>
        <p:spPr>
          <a:xfrm>
            <a:off x="640080" y="2670048"/>
            <a:ext cx="5669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B0"/>
              </a:buClr>
              <a:buSzPts val="1200"/>
              <a:buFont typeface="Calibri"/>
              <a:buNone/>
            </a:pPr>
            <a:r>
              <a:rPr b="1" lang="en-US" sz="1200">
                <a:solidFill>
                  <a:srgbClr val="5EEAB0"/>
                </a:solidFill>
                <a:latin typeface="Calibri"/>
                <a:ea typeface="Calibri"/>
                <a:cs typeface="Calibri"/>
                <a:sym typeface="Calibri"/>
              </a:rPr>
              <a:t>[P3]</a:t>
            </a:r>
            <a:endParaRPr sz="1200">
              <a:solidFill>
                <a:schemeClr val="dk1"/>
              </a:solidFill>
              <a:latin typeface="Calibri"/>
              <a:ea typeface="Calibri"/>
              <a:cs typeface="Calibri"/>
              <a:sym typeface="Calibri"/>
            </a:endParaRPr>
          </a:p>
        </p:txBody>
      </p:sp>
      <p:sp>
        <p:nvSpPr>
          <p:cNvPr id="510" name="Google Shape;510;p17"/>
          <p:cNvSpPr txBox="1"/>
          <p:nvPr/>
        </p:nvSpPr>
        <p:spPr>
          <a:xfrm>
            <a:off x="1280160" y="2573472"/>
            <a:ext cx="10149900" cy="5028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C3CED4"/>
              </a:buClr>
              <a:buSzPts val="1250"/>
              <a:buFont typeface="Calibri"/>
              <a:buNone/>
            </a:pPr>
            <a:r>
              <a:rPr lang="en-US" sz="1450">
                <a:solidFill>
                  <a:srgbClr val="C3CED4"/>
                </a:solidFill>
                <a:latin typeface="Calibri"/>
                <a:ea typeface="Calibri"/>
                <a:cs typeface="Calibri"/>
                <a:sym typeface="Calibri"/>
              </a:rPr>
              <a:t>P. Chakraborty, "Automatic Student Attendance System using Face Recognition," Comilla University, 2020.</a:t>
            </a:r>
            <a:endParaRPr sz="1450">
              <a:solidFill>
                <a:schemeClr val="dk1"/>
              </a:solidFill>
              <a:latin typeface="Calibri"/>
              <a:ea typeface="Calibri"/>
              <a:cs typeface="Calibri"/>
              <a:sym typeface="Calibri"/>
            </a:endParaRPr>
          </a:p>
        </p:txBody>
      </p:sp>
      <p:sp>
        <p:nvSpPr>
          <p:cNvPr id="511" name="Google Shape;511;p17"/>
          <p:cNvSpPr txBox="1"/>
          <p:nvPr/>
        </p:nvSpPr>
        <p:spPr>
          <a:xfrm>
            <a:off x="640080" y="3236976"/>
            <a:ext cx="5669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B0"/>
              </a:buClr>
              <a:buSzPts val="1200"/>
              <a:buFont typeface="Calibri"/>
              <a:buNone/>
            </a:pPr>
            <a:r>
              <a:rPr b="1" lang="en-US" sz="1200">
                <a:solidFill>
                  <a:srgbClr val="5EEAB0"/>
                </a:solidFill>
                <a:latin typeface="Calibri"/>
                <a:ea typeface="Calibri"/>
                <a:cs typeface="Calibri"/>
                <a:sym typeface="Calibri"/>
              </a:rPr>
              <a:t>[P4]</a:t>
            </a:r>
            <a:endParaRPr sz="1200">
              <a:solidFill>
                <a:schemeClr val="dk1"/>
              </a:solidFill>
              <a:latin typeface="Calibri"/>
              <a:ea typeface="Calibri"/>
              <a:cs typeface="Calibri"/>
              <a:sym typeface="Calibri"/>
            </a:endParaRPr>
          </a:p>
        </p:txBody>
      </p:sp>
      <p:sp>
        <p:nvSpPr>
          <p:cNvPr id="512" name="Google Shape;512;p17"/>
          <p:cNvSpPr txBox="1"/>
          <p:nvPr/>
        </p:nvSpPr>
        <p:spPr>
          <a:xfrm>
            <a:off x="1280160" y="3127352"/>
            <a:ext cx="10149900" cy="5028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C3CED4"/>
              </a:buClr>
              <a:buSzPts val="1250"/>
              <a:buFont typeface="Calibri"/>
              <a:buNone/>
            </a:pPr>
            <a:r>
              <a:rPr lang="en-US" sz="1450">
                <a:solidFill>
                  <a:srgbClr val="C3CED4"/>
                </a:solidFill>
                <a:latin typeface="Calibri"/>
                <a:ea typeface="Calibri"/>
                <a:cs typeface="Calibri"/>
                <a:sym typeface="Calibri"/>
              </a:rPr>
              <a:t>C. Gomes et al., "Class Attendance Management System using Facial Recognition," 2020.</a:t>
            </a:r>
            <a:endParaRPr sz="1450">
              <a:solidFill>
                <a:schemeClr val="dk1"/>
              </a:solidFill>
              <a:latin typeface="Calibri"/>
              <a:ea typeface="Calibri"/>
              <a:cs typeface="Calibri"/>
              <a:sym typeface="Calibri"/>
            </a:endParaRPr>
          </a:p>
        </p:txBody>
      </p:sp>
      <p:sp>
        <p:nvSpPr>
          <p:cNvPr id="513" name="Google Shape;513;p17"/>
          <p:cNvSpPr txBox="1"/>
          <p:nvPr/>
        </p:nvSpPr>
        <p:spPr>
          <a:xfrm>
            <a:off x="640080" y="3803904"/>
            <a:ext cx="5669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B0"/>
              </a:buClr>
              <a:buSzPts val="1200"/>
              <a:buFont typeface="Calibri"/>
              <a:buNone/>
            </a:pPr>
            <a:r>
              <a:rPr b="1" lang="en-US" sz="1200">
                <a:solidFill>
                  <a:srgbClr val="5EEAB0"/>
                </a:solidFill>
                <a:latin typeface="Calibri"/>
                <a:ea typeface="Calibri"/>
                <a:cs typeface="Calibri"/>
                <a:sym typeface="Calibri"/>
              </a:rPr>
              <a:t>[P5]</a:t>
            </a:r>
            <a:endParaRPr sz="1200">
              <a:solidFill>
                <a:schemeClr val="dk1"/>
              </a:solidFill>
              <a:latin typeface="Calibri"/>
              <a:ea typeface="Calibri"/>
              <a:cs typeface="Calibri"/>
              <a:sym typeface="Calibri"/>
            </a:endParaRPr>
          </a:p>
        </p:txBody>
      </p:sp>
      <p:sp>
        <p:nvSpPr>
          <p:cNvPr id="514" name="Google Shape;514;p17"/>
          <p:cNvSpPr txBox="1"/>
          <p:nvPr/>
        </p:nvSpPr>
        <p:spPr>
          <a:xfrm>
            <a:off x="1280160" y="3707328"/>
            <a:ext cx="10149900" cy="5028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C3CED4"/>
              </a:buClr>
              <a:buSzPts val="1250"/>
              <a:buFont typeface="Calibri"/>
              <a:buNone/>
            </a:pPr>
            <a:r>
              <a:rPr lang="en-US" sz="1450">
                <a:solidFill>
                  <a:srgbClr val="C3CED4"/>
                </a:solidFill>
                <a:latin typeface="Calibri"/>
                <a:ea typeface="Calibri"/>
                <a:cs typeface="Calibri"/>
                <a:sym typeface="Calibri"/>
              </a:rPr>
              <a:t>O. Oshin et al., "Class Attendance System Using Facial Recognition," Covenant University, 2025.</a:t>
            </a:r>
            <a:endParaRPr sz="1450">
              <a:solidFill>
                <a:schemeClr val="dk1"/>
              </a:solidFill>
              <a:latin typeface="Calibri"/>
              <a:ea typeface="Calibri"/>
              <a:cs typeface="Calibri"/>
              <a:sym typeface="Calibri"/>
            </a:endParaRPr>
          </a:p>
        </p:txBody>
      </p:sp>
      <p:sp>
        <p:nvSpPr>
          <p:cNvPr id="515" name="Google Shape;515;p17"/>
          <p:cNvSpPr/>
          <p:nvPr/>
        </p:nvSpPr>
        <p:spPr>
          <a:xfrm>
            <a:off x="640080" y="4526280"/>
            <a:ext cx="10881360" cy="10973"/>
          </a:xfrm>
          <a:prstGeom prst="rect">
            <a:avLst/>
          </a:prstGeom>
          <a:solidFill>
            <a:srgbClr val="2A35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17"/>
          <p:cNvSpPr txBox="1"/>
          <p:nvPr/>
        </p:nvSpPr>
        <p:spPr>
          <a:xfrm>
            <a:off x="640080" y="4681728"/>
            <a:ext cx="10881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0AA"/>
              </a:buClr>
              <a:buSzPts val="1100"/>
              <a:buFont typeface="Calibri"/>
              <a:buNone/>
            </a:pPr>
            <a:r>
              <a:rPr b="1" lang="en-US">
                <a:solidFill>
                  <a:srgbClr val="8FA0AA"/>
                </a:solidFill>
                <a:latin typeface="Calibri"/>
                <a:ea typeface="Calibri"/>
                <a:cs typeface="Calibri"/>
                <a:sym typeface="Calibri"/>
              </a:rPr>
              <a:t>TOOLS &amp; LIBRARIES</a:t>
            </a:r>
            <a:endParaRPr>
              <a:solidFill>
                <a:schemeClr val="dk1"/>
              </a:solidFill>
              <a:latin typeface="Calibri"/>
              <a:ea typeface="Calibri"/>
              <a:cs typeface="Calibri"/>
              <a:sym typeface="Calibri"/>
            </a:endParaRPr>
          </a:p>
        </p:txBody>
      </p:sp>
      <p:sp>
        <p:nvSpPr>
          <p:cNvPr id="517" name="Google Shape;517;p17"/>
          <p:cNvSpPr txBox="1"/>
          <p:nvPr/>
        </p:nvSpPr>
        <p:spPr>
          <a:xfrm>
            <a:off x="640080" y="4956048"/>
            <a:ext cx="10881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3CED4"/>
              </a:buClr>
              <a:buSzPts val="1250"/>
              <a:buFont typeface="Calibri"/>
              <a:buNone/>
            </a:pPr>
            <a:r>
              <a:rPr lang="en-US" sz="1550">
                <a:solidFill>
                  <a:srgbClr val="C3CED4"/>
                </a:solidFill>
                <a:latin typeface="Calibri"/>
                <a:ea typeface="Calibri"/>
                <a:cs typeface="Calibri"/>
                <a:sym typeface="Calibri"/>
              </a:rPr>
              <a:t>DeepFace (Facenet model)  ·  OpenCV YuNet face detector  ·  Flask  ·  SQLite  ·  NumPy / SciPy  ·  pytest</a:t>
            </a:r>
            <a:endParaRPr sz="1550">
              <a:solidFill>
                <a:schemeClr val="dk1"/>
              </a:solidFill>
              <a:latin typeface="Calibri"/>
              <a:ea typeface="Calibri"/>
              <a:cs typeface="Calibri"/>
              <a:sym typeface="Calibri"/>
            </a:endParaRPr>
          </a:p>
        </p:txBody>
      </p:sp>
      <p:sp>
        <p:nvSpPr>
          <p:cNvPr id="518" name="Google Shape;518;p17"/>
          <p:cNvSpPr txBox="1"/>
          <p:nvPr/>
        </p:nvSpPr>
        <p:spPr>
          <a:xfrm>
            <a:off x="640080" y="5852160"/>
            <a:ext cx="10881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8F9"/>
              </a:buClr>
              <a:buSzPts val="1300"/>
              <a:buFont typeface="Calibri"/>
              <a:buNone/>
            </a:pPr>
            <a:r>
              <a:rPr b="1" lang="en-US" sz="1300">
                <a:solidFill>
                  <a:srgbClr val="F5F8F9"/>
                </a:solidFill>
                <a:latin typeface="Calibri"/>
                <a:ea typeface="Calibri"/>
                <a:cs typeface="Calibri"/>
                <a:sym typeface="Calibri"/>
              </a:rPr>
              <a:t>Rafiqul Islam   ·   Safayat Ibrahim            Questions welcome</a:t>
            </a:r>
            <a:endParaRPr sz="1300">
              <a:solidFill>
                <a:schemeClr val="dk1"/>
              </a:solidFill>
              <a:latin typeface="Calibri"/>
              <a:ea typeface="Calibri"/>
              <a:cs typeface="Calibri"/>
              <a:sym typeface="Calibri"/>
            </a:endParaRPr>
          </a:p>
        </p:txBody>
      </p:sp>
      <p:sp>
        <p:nvSpPr>
          <p:cNvPr id="519" name="Google Shape;519;p17"/>
          <p:cNvSpPr/>
          <p:nvPr/>
        </p:nvSpPr>
        <p:spPr>
          <a:xfrm>
            <a:off x="502920"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0" name="Google Shape;520;p17"/>
          <p:cNvSpPr/>
          <p:nvPr/>
        </p:nvSpPr>
        <p:spPr>
          <a:xfrm>
            <a:off x="502920"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1" name="Google Shape;521;p17"/>
          <p:cNvSpPr/>
          <p:nvPr/>
        </p:nvSpPr>
        <p:spPr>
          <a:xfrm>
            <a:off x="11323015" y="457200"/>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17"/>
          <p:cNvSpPr/>
          <p:nvPr/>
        </p:nvSpPr>
        <p:spPr>
          <a:xfrm>
            <a:off x="11661343" y="45720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3" name="Google Shape;523;p17"/>
          <p:cNvSpPr/>
          <p:nvPr/>
        </p:nvSpPr>
        <p:spPr>
          <a:xfrm>
            <a:off x="502920"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4" name="Google Shape;524;p17"/>
          <p:cNvSpPr/>
          <p:nvPr/>
        </p:nvSpPr>
        <p:spPr>
          <a:xfrm>
            <a:off x="502920"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5" name="Google Shape;525;p17"/>
          <p:cNvSpPr/>
          <p:nvPr/>
        </p:nvSpPr>
        <p:spPr>
          <a:xfrm>
            <a:off x="11323015" y="6373368"/>
            <a:ext cx="365760" cy="27432"/>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17"/>
          <p:cNvSpPr/>
          <p:nvPr/>
        </p:nvSpPr>
        <p:spPr>
          <a:xfrm>
            <a:off x="11661343" y="6035040"/>
            <a:ext cx="27432" cy="365760"/>
          </a:xfrm>
          <a:prstGeom prst="rect">
            <a:avLst/>
          </a:prstGeom>
          <a:solidFill>
            <a:srgbClr val="2B38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17"/>
          <p:cNvSpPr/>
          <p:nvPr/>
        </p:nvSpPr>
        <p:spPr>
          <a:xfrm>
            <a:off x="640080" y="6416040"/>
            <a:ext cx="10881360" cy="3175"/>
          </a:xfrm>
          <a:prstGeom prst="rect">
            <a:avLst/>
          </a:prstGeom>
          <a:solidFill>
            <a:srgbClr val="2A3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p17"/>
          <p:cNvSpPr txBox="1"/>
          <p:nvPr/>
        </p:nvSpPr>
        <p:spPr>
          <a:xfrm>
            <a:off x="640080" y="6470000"/>
            <a:ext cx="4000000" cy="2286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900">
                <a:solidFill>
                  <a:srgbClr val="4A5860"/>
                </a:solidFill>
                <a:latin typeface="Calibri"/>
                <a:ea typeface="Calibri"/>
                <a:cs typeface="Calibri"/>
                <a:sym typeface="Calibri"/>
              </a:rPr>
              <a:t>CAMPUSEYE  ·  CSE499A</a:t>
            </a:r>
            <a:endParaRPr/>
          </a:p>
        </p:txBody>
      </p:sp>
      <p:sp>
        <p:nvSpPr>
          <p:cNvPr id="529" name="Google Shape;529;p17"/>
          <p:cNvSpPr txBox="1"/>
          <p:nvPr/>
        </p:nvSpPr>
        <p:spPr>
          <a:xfrm>
            <a:off x="9521440" y="6470000"/>
            <a:ext cx="2000000" cy="228600"/>
          </a:xfrm>
          <a:prstGeom prst="rect">
            <a:avLst/>
          </a:prstGeom>
          <a:noFill/>
          <a:ln>
            <a:noFill/>
          </a:ln>
        </p:spPr>
        <p:txBody>
          <a:bodyPr anchorCtr="0" anchor="t" bIns="45700" lIns="0" spcFirstLastPara="1" rIns="91425" wrap="square" tIns="0">
            <a:spAutoFit/>
          </a:bodyPr>
          <a:lstStyle/>
          <a:p>
            <a:pPr indent="0" lvl="0" marL="0" marR="0" rtl="0" algn="r">
              <a:spcBef>
                <a:spcPts val="0"/>
              </a:spcBef>
              <a:spcAft>
                <a:spcPts val="0"/>
              </a:spcAft>
              <a:buNone/>
            </a:pPr>
            <a:r>
              <a:rPr lang="en-US" sz="900">
                <a:solidFill>
                  <a:srgbClr val="4A5860"/>
                </a:solidFill>
                <a:latin typeface="Calibri"/>
                <a:ea typeface="Calibri"/>
                <a:cs typeface="Calibri"/>
                <a:sym typeface="Calibri"/>
              </a:rPr>
              <a:t>15 / 15</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