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7315200" cy="96012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IBM Plex Sans Medium" panose="020B0604020202020204" charset="0"/>
      <p:regular r:id="rId17"/>
      <p:bold r:id="rId18"/>
      <p:italic r:id="rId19"/>
      <p:boldItalic r:id="rId20"/>
    </p:embeddedFont>
    <p:embeddedFont>
      <p:font typeface="Roboto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4226560" cy="48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247" tIns="54109" rIns="108247" bIns="54109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524783" y="0"/>
            <a:ext cx="4226560" cy="48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247" tIns="54109" rIns="108247" bIns="54109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9970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75360" y="4620577"/>
            <a:ext cx="7802880" cy="378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247" tIns="54109" rIns="108247" bIns="54109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19474"/>
            <a:ext cx="422656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247" tIns="54109" rIns="108247" bIns="54109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524783" y="9119474"/>
            <a:ext cx="422656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247" tIns="54109" rIns="108247" bIns="54109" anchor="b" anchorCtr="0">
            <a:noAutofit/>
          </a:bodyPr>
          <a:lstStyle/>
          <a:p>
            <a:pPr algn="r"/>
            <a:fld id="{00000000-1234-1234-1234-123412341234}" type="slidenum">
              <a:rPr lang="en-US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‹#›</a:t>
            </a:fld>
            <a:endParaRPr lang="en-US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9970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" name="Google Shape;17;p1:notes"/>
          <p:cNvSpPr txBox="1">
            <a:spLocks noGrp="1"/>
          </p:cNvSpPr>
          <p:nvPr>
            <p:ph type="body" idx="1"/>
          </p:nvPr>
        </p:nvSpPr>
        <p:spPr>
          <a:xfrm>
            <a:off x="975360" y="4620577"/>
            <a:ext cx="7802880" cy="378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247" tIns="54109" rIns="108247" bIns="54109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8" name="Google Shape;18;p1:notes"/>
          <p:cNvSpPr txBox="1">
            <a:spLocks noGrp="1"/>
          </p:cNvSpPr>
          <p:nvPr>
            <p:ph type="sldNum" idx="12"/>
          </p:nvPr>
        </p:nvSpPr>
        <p:spPr>
          <a:xfrm>
            <a:off x="5524783" y="9119474"/>
            <a:ext cx="422656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247" tIns="54109" rIns="108247" bIns="54109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9970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" name="Google Shape;25;p2:notes"/>
          <p:cNvSpPr txBox="1">
            <a:spLocks noGrp="1"/>
          </p:cNvSpPr>
          <p:nvPr>
            <p:ph type="body" idx="1"/>
          </p:nvPr>
        </p:nvSpPr>
        <p:spPr>
          <a:xfrm>
            <a:off x="975360" y="4620578"/>
            <a:ext cx="7802880" cy="3780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247" tIns="54109" rIns="108247" bIns="54109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26" name="Google Shape;26;p2:notes"/>
          <p:cNvSpPr txBox="1">
            <a:spLocks noGrp="1"/>
          </p:cNvSpPr>
          <p:nvPr>
            <p:ph type="sldNum" idx="12"/>
          </p:nvPr>
        </p:nvSpPr>
        <p:spPr>
          <a:xfrm>
            <a:off x="5524783" y="9119474"/>
            <a:ext cx="4226560" cy="48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247" tIns="54109" rIns="108247" bIns="54109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9970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" name="Google Shape;37;p3:notes"/>
          <p:cNvSpPr txBox="1">
            <a:spLocks noGrp="1"/>
          </p:cNvSpPr>
          <p:nvPr>
            <p:ph type="body" idx="1"/>
          </p:nvPr>
        </p:nvSpPr>
        <p:spPr>
          <a:xfrm>
            <a:off x="975360" y="4620578"/>
            <a:ext cx="7802880" cy="3780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247" tIns="54109" rIns="108247" bIns="54109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38" name="Google Shape;38;p3:notes"/>
          <p:cNvSpPr txBox="1">
            <a:spLocks noGrp="1"/>
          </p:cNvSpPr>
          <p:nvPr>
            <p:ph type="sldNum" idx="12"/>
          </p:nvPr>
        </p:nvSpPr>
        <p:spPr>
          <a:xfrm>
            <a:off x="5524783" y="9119474"/>
            <a:ext cx="4226560" cy="48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247" tIns="54109" rIns="108247" bIns="54109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9970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4:notes"/>
          <p:cNvSpPr txBox="1">
            <a:spLocks noGrp="1"/>
          </p:cNvSpPr>
          <p:nvPr>
            <p:ph type="body" idx="1"/>
          </p:nvPr>
        </p:nvSpPr>
        <p:spPr>
          <a:xfrm>
            <a:off x="975360" y="4620577"/>
            <a:ext cx="7802880" cy="378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247" tIns="54109" rIns="108247" bIns="54109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69" name="Google Shape;69;p4:notes"/>
          <p:cNvSpPr txBox="1">
            <a:spLocks noGrp="1"/>
          </p:cNvSpPr>
          <p:nvPr>
            <p:ph type="sldNum" idx="12"/>
          </p:nvPr>
        </p:nvSpPr>
        <p:spPr>
          <a:xfrm>
            <a:off x="5524783" y="9119474"/>
            <a:ext cx="422656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247" tIns="54109" rIns="108247" bIns="54109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9970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5:notes"/>
          <p:cNvSpPr txBox="1">
            <a:spLocks noGrp="1"/>
          </p:cNvSpPr>
          <p:nvPr>
            <p:ph type="body" idx="1"/>
          </p:nvPr>
        </p:nvSpPr>
        <p:spPr>
          <a:xfrm>
            <a:off x="975360" y="4620577"/>
            <a:ext cx="7802880" cy="378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247" tIns="54109" rIns="108247" bIns="54109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95" name="Google Shape;95;p5:notes"/>
          <p:cNvSpPr txBox="1">
            <a:spLocks noGrp="1"/>
          </p:cNvSpPr>
          <p:nvPr>
            <p:ph type="sldNum" idx="12"/>
          </p:nvPr>
        </p:nvSpPr>
        <p:spPr>
          <a:xfrm>
            <a:off x="5524783" y="9119474"/>
            <a:ext cx="422656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247" tIns="54109" rIns="108247" bIns="54109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9970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6:notes"/>
          <p:cNvSpPr txBox="1">
            <a:spLocks noGrp="1"/>
          </p:cNvSpPr>
          <p:nvPr>
            <p:ph type="body" idx="1"/>
          </p:nvPr>
        </p:nvSpPr>
        <p:spPr>
          <a:xfrm>
            <a:off x="975360" y="4620577"/>
            <a:ext cx="7802880" cy="378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247" tIns="54109" rIns="108247" bIns="54109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17" name="Google Shape;117;p6:notes"/>
          <p:cNvSpPr txBox="1">
            <a:spLocks noGrp="1"/>
          </p:cNvSpPr>
          <p:nvPr>
            <p:ph type="sldNum" idx="12"/>
          </p:nvPr>
        </p:nvSpPr>
        <p:spPr>
          <a:xfrm>
            <a:off x="5524783" y="9119474"/>
            <a:ext cx="422656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247" tIns="54109" rIns="108247" bIns="54109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9970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7:notes"/>
          <p:cNvSpPr txBox="1">
            <a:spLocks noGrp="1"/>
          </p:cNvSpPr>
          <p:nvPr>
            <p:ph type="body" idx="1"/>
          </p:nvPr>
        </p:nvSpPr>
        <p:spPr>
          <a:xfrm>
            <a:off x="975360" y="4620577"/>
            <a:ext cx="7802880" cy="378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247" tIns="54109" rIns="108247" bIns="54109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61" name="Google Shape;161;p7:notes"/>
          <p:cNvSpPr txBox="1">
            <a:spLocks noGrp="1"/>
          </p:cNvSpPr>
          <p:nvPr>
            <p:ph type="sldNum" idx="12"/>
          </p:nvPr>
        </p:nvSpPr>
        <p:spPr>
          <a:xfrm>
            <a:off x="5524783" y="9119474"/>
            <a:ext cx="422656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247" tIns="54109" rIns="108247" bIns="54109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9970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8:notes"/>
          <p:cNvSpPr txBox="1">
            <a:spLocks noGrp="1"/>
          </p:cNvSpPr>
          <p:nvPr>
            <p:ph type="body" idx="1"/>
          </p:nvPr>
        </p:nvSpPr>
        <p:spPr>
          <a:xfrm>
            <a:off x="975360" y="4620577"/>
            <a:ext cx="7802880" cy="378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247" tIns="54109" rIns="108247" bIns="54109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74" name="Google Shape;174;p8:notes"/>
          <p:cNvSpPr txBox="1">
            <a:spLocks noGrp="1"/>
          </p:cNvSpPr>
          <p:nvPr>
            <p:ph type="sldNum" idx="12"/>
          </p:nvPr>
        </p:nvSpPr>
        <p:spPr>
          <a:xfrm>
            <a:off x="5524783" y="9119474"/>
            <a:ext cx="422656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247" tIns="54109" rIns="108247" bIns="54109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9970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9:notes"/>
          <p:cNvSpPr txBox="1">
            <a:spLocks noGrp="1"/>
          </p:cNvSpPr>
          <p:nvPr>
            <p:ph type="body" idx="1"/>
          </p:nvPr>
        </p:nvSpPr>
        <p:spPr>
          <a:xfrm>
            <a:off x="975360" y="4620577"/>
            <a:ext cx="7802880" cy="378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247" tIns="54109" rIns="108247" bIns="54109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91" name="Google Shape;191;p9:notes"/>
          <p:cNvSpPr txBox="1">
            <a:spLocks noGrp="1"/>
          </p:cNvSpPr>
          <p:nvPr>
            <p:ph type="sldNum" idx="12"/>
          </p:nvPr>
        </p:nvSpPr>
        <p:spPr>
          <a:xfrm>
            <a:off x="5524783" y="9119474"/>
            <a:ext cx="422656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247" tIns="54109" rIns="108247" bIns="54109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9970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p10:notes"/>
          <p:cNvSpPr txBox="1">
            <a:spLocks noGrp="1"/>
          </p:cNvSpPr>
          <p:nvPr>
            <p:ph type="body" idx="1"/>
          </p:nvPr>
        </p:nvSpPr>
        <p:spPr>
          <a:xfrm>
            <a:off x="975360" y="4620577"/>
            <a:ext cx="7802880" cy="378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247" tIns="54109" rIns="108247" bIns="54109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212" name="Google Shape;212;p10:notes"/>
          <p:cNvSpPr txBox="1">
            <a:spLocks noGrp="1"/>
          </p:cNvSpPr>
          <p:nvPr>
            <p:ph type="sldNum" idx="12"/>
          </p:nvPr>
        </p:nvSpPr>
        <p:spPr>
          <a:xfrm>
            <a:off x="5524783" y="9119474"/>
            <a:ext cx="422656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247" tIns="54109" rIns="108247" bIns="54109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aster 1">
  <p:cSld name="Slide master 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224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2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7.jpg"/><Relationship Id="rId7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9.jpg"/><Relationship Id="rId4" Type="http://schemas.openxmlformats.org/officeDocument/2006/relationships/image" Target="../media/image8.jp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20.jp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/>
          <p:nvPr/>
        </p:nvSpPr>
        <p:spPr>
          <a:xfrm>
            <a:off x="496119" y="1682204"/>
            <a:ext cx="4722763" cy="885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2750"/>
              <a:buFont typeface="IBM Plex Sans Medium"/>
              <a:buNone/>
            </a:pPr>
            <a:r>
              <a:rPr lang="en-US" sz="2750" b="0" i="0" u="none" strike="noStrike" cap="none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CampusEYE — AI-Based Classroom Photo Attendance</a:t>
            </a:r>
            <a:endParaRPr sz="2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496119" y="2780779"/>
            <a:ext cx="4722763" cy="680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100"/>
              <a:buFont typeface="Roboto"/>
              <a:buNone/>
            </a:pPr>
            <a:r>
              <a:rPr lang="en-US" sz="1100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Automated, privacy-conscious attendance using classroom photos and state-of-the-art face recognition. Designed for university IT admins, faculty stakeholders, and engineering teams.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0" y="0"/>
            <a:ext cx="3429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5"/>
          <p:cNvPicPr preferRelativeResize="0"/>
          <p:nvPr/>
        </p:nvPicPr>
        <p:blipFill rotWithShape="1">
          <a:blip r:embed="rId4">
            <a:alphaModFix/>
          </a:blip>
          <a:srcRect r="-3778"/>
          <a:stretch/>
        </p:blipFill>
        <p:spPr>
          <a:xfrm>
            <a:off x="4957763" y="380175"/>
            <a:ext cx="4348887" cy="4383075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/>
          <p:nvPr/>
        </p:nvSpPr>
        <p:spPr>
          <a:xfrm>
            <a:off x="496119" y="1357982"/>
            <a:ext cx="47229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2200"/>
              <a:buFont typeface="IBM Plex Sans Medium"/>
              <a:buNone/>
            </a:pPr>
            <a:r>
              <a:rPr lang="en-US" sz="2200" b="0" i="0" u="none" strike="noStrike" cap="none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High-level System Workflow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496124" y="1924950"/>
            <a:ext cx="4213500" cy="9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100"/>
              <a:buFont typeface="Roboto"/>
              <a:buNone/>
            </a:pPr>
            <a:r>
              <a:rPr lang="en-US" sz="1100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Teacher captures photo → uploads via web/mobile app → REST API receives image → AI engine performs detection, alignment, enhancement, embedding, and recognition → attendance stored in DB → faculty reviews via dashboard.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496124" y="2991675"/>
            <a:ext cx="4213500" cy="793800"/>
          </a:xfrm>
          <a:prstGeom prst="roundRect">
            <a:avLst>
              <a:gd name="adj" fmla="val 2679"/>
            </a:avLst>
          </a:prstGeom>
          <a:solidFill>
            <a:srgbClr val="803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" name="Google Shape;33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7877" y="3192438"/>
            <a:ext cx="177180" cy="141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/>
          <p:nvPr/>
        </p:nvSpPr>
        <p:spPr>
          <a:xfrm>
            <a:off x="956824" y="3168850"/>
            <a:ext cx="37758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Use HTTPS and role-based access for uploads; prefer on-premise deployment for sensitive campuses.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496119" y="439489"/>
            <a:ext cx="81519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1900"/>
              <a:buFont typeface="IBM Plex Sans Medium"/>
              <a:buNone/>
            </a:pPr>
            <a:r>
              <a:rPr lang="en-US" sz="1900" b="0" i="0" u="none" strike="noStrike" cap="none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AI Recognition Pipeline — Step-by-step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6"/>
          <p:cNvSpPr/>
          <p:nvPr/>
        </p:nvSpPr>
        <p:spPr>
          <a:xfrm>
            <a:off x="496119" y="953319"/>
            <a:ext cx="4023600" cy="859200"/>
          </a:xfrm>
          <a:prstGeom prst="roundRect">
            <a:avLst>
              <a:gd name="adj" fmla="val 2127"/>
            </a:avLst>
          </a:prstGeom>
          <a:solidFill>
            <a:srgbClr val="484B5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6"/>
          <p:cNvSpPr/>
          <p:nvPr/>
        </p:nvSpPr>
        <p:spPr>
          <a:xfrm>
            <a:off x="617934" y="1075134"/>
            <a:ext cx="3780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150"/>
              <a:buFont typeface="IBM Plex Sans Medium"/>
              <a:buNone/>
            </a:pPr>
            <a:r>
              <a:rPr lang="en-US" sz="1150" b="0" i="0" u="none" strike="noStrike" cap="non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Input Image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6"/>
          <p:cNvSpPr/>
          <p:nvPr/>
        </p:nvSpPr>
        <p:spPr>
          <a:xfrm>
            <a:off x="617934" y="1328291"/>
            <a:ext cx="3780000" cy="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950"/>
              <a:buFont typeface="Roboto"/>
              <a:buNone/>
            </a:pPr>
            <a:r>
              <a:rPr lang="en-US" sz="950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Raw classroom photo from teacher device; may contain multiple students, occlusions, and varied lighting.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4624313" y="953319"/>
            <a:ext cx="4023600" cy="859200"/>
          </a:xfrm>
          <a:prstGeom prst="roundRect">
            <a:avLst>
              <a:gd name="adj" fmla="val 2127"/>
            </a:avLst>
          </a:prstGeom>
          <a:solidFill>
            <a:srgbClr val="484B5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6"/>
          <p:cNvSpPr/>
          <p:nvPr/>
        </p:nvSpPr>
        <p:spPr>
          <a:xfrm>
            <a:off x="4746129" y="1075134"/>
            <a:ext cx="3780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150"/>
              <a:buFont typeface="IBM Plex Sans Medium"/>
              <a:buNone/>
            </a:pPr>
            <a:r>
              <a:rPr lang="en-US" sz="1150" b="0" i="0" u="none" strike="noStrike" cap="non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Preprocessing (OpenCV)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4746129" y="1328291"/>
            <a:ext cx="3780000" cy="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950"/>
              <a:buFont typeface="Roboto"/>
              <a:buNone/>
            </a:pPr>
            <a:r>
              <a:rPr lang="en-US" sz="950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Color conversion, de-noising, histogram equalization, and optional CLAHE for low-light scenes.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496119" y="1917129"/>
            <a:ext cx="4023600" cy="859200"/>
          </a:xfrm>
          <a:prstGeom prst="roundRect">
            <a:avLst>
              <a:gd name="adj" fmla="val 2127"/>
            </a:avLst>
          </a:prstGeom>
          <a:solidFill>
            <a:srgbClr val="484B5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6"/>
          <p:cNvSpPr/>
          <p:nvPr/>
        </p:nvSpPr>
        <p:spPr>
          <a:xfrm>
            <a:off x="617934" y="2038945"/>
            <a:ext cx="3780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150"/>
              <a:buFont typeface="IBM Plex Sans Medium"/>
              <a:buNone/>
            </a:pPr>
            <a:r>
              <a:rPr lang="en-US" sz="1150" b="0" i="0" u="none" strike="noStrike" cap="non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Face Detection (</a:t>
            </a:r>
            <a:r>
              <a:rPr lang="en-US" sz="1150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Retina Face</a:t>
            </a:r>
            <a:r>
              <a:rPr lang="en-US" sz="1150" b="0" i="0" u="none" strike="noStrike" cap="non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617934" y="2292102"/>
            <a:ext cx="3780000" cy="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950"/>
              <a:buFont typeface="Roboto"/>
              <a:buNone/>
            </a:pPr>
            <a:r>
              <a:rPr lang="en-US" sz="950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Locate all face bounding boxes with landmarks for high recall and landmark precision.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4624313" y="1917129"/>
            <a:ext cx="4023600" cy="859200"/>
          </a:xfrm>
          <a:prstGeom prst="roundRect">
            <a:avLst>
              <a:gd name="adj" fmla="val 2127"/>
            </a:avLst>
          </a:prstGeom>
          <a:solidFill>
            <a:srgbClr val="484B5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6"/>
          <p:cNvSpPr/>
          <p:nvPr/>
        </p:nvSpPr>
        <p:spPr>
          <a:xfrm>
            <a:off x="4746129" y="2038945"/>
            <a:ext cx="3780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150"/>
              <a:buFont typeface="IBM Plex Sans Medium"/>
              <a:buNone/>
            </a:pPr>
            <a:r>
              <a:rPr lang="en-US" sz="1150" b="0" i="0" u="none" strike="noStrike" cap="non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Face Alignment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4746129" y="2292102"/>
            <a:ext cx="3780000" cy="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950"/>
              <a:buFont typeface="Roboto"/>
              <a:buNone/>
            </a:pPr>
            <a:r>
              <a:rPr lang="en-US" sz="950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Use detected landmarks to geometrically align each face (eyes/nose) for consistent embedding.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496119" y="2880940"/>
            <a:ext cx="4023600" cy="859200"/>
          </a:xfrm>
          <a:prstGeom prst="roundRect">
            <a:avLst>
              <a:gd name="adj" fmla="val 2127"/>
            </a:avLst>
          </a:prstGeom>
          <a:solidFill>
            <a:srgbClr val="484B5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6"/>
          <p:cNvSpPr/>
          <p:nvPr/>
        </p:nvSpPr>
        <p:spPr>
          <a:xfrm>
            <a:off x="617934" y="3002756"/>
            <a:ext cx="3780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150"/>
              <a:buFont typeface="IBM Plex Sans Medium"/>
              <a:buNone/>
            </a:pPr>
            <a:r>
              <a:rPr lang="en-US" sz="1150" b="0" i="0" u="none" strike="noStrike" cap="non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Image Enhancement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617934" y="3255913"/>
            <a:ext cx="3780000" cy="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950"/>
              <a:buFont typeface="Roboto"/>
              <a:buNone/>
            </a:pPr>
            <a:r>
              <a:rPr lang="en-US" sz="950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Scale, crop, and apply super-resolution or denoise when needed to improve low-quality inputs.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4624313" y="2880940"/>
            <a:ext cx="4023600" cy="859200"/>
          </a:xfrm>
          <a:prstGeom prst="roundRect">
            <a:avLst>
              <a:gd name="adj" fmla="val 2127"/>
            </a:avLst>
          </a:prstGeom>
          <a:solidFill>
            <a:srgbClr val="484B5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6"/>
          <p:cNvSpPr/>
          <p:nvPr/>
        </p:nvSpPr>
        <p:spPr>
          <a:xfrm>
            <a:off x="4746129" y="3002756"/>
            <a:ext cx="3780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150"/>
              <a:buFont typeface="IBM Plex Sans Medium"/>
              <a:buNone/>
            </a:pPr>
            <a:r>
              <a:rPr lang="en-US" sz="1150" b="0" i="0" u="none" strike="noStrike" cap="non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Embedding (ArcFace / FaceNet)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4746129" y="3255913"/>
            <a:ext cx="3780000" cy="1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950"/>
              <a:buFont typeface="Roboto"/>
              <a:buNone/>
            </a:pPr>
            <a:r>
              <a:rPr lang="en-US" sz="950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Generate 128–512D normalized face vectors for each detected face.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496119" y="3844751"/>
            <a:ext cx="4023600" cy="859200"/>
          </a:xfrm>
          <a:prstGeom prst="roundRect">
            <a:avLst>
              <a:gd name="adj" fmla="val 2127"/>
            </a:avLst>
          </a:prstGeom>
          <a:solidFill>
            <a:srgbClr val="484B5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617934" y="3966567"/>
            <a:ext cx="3780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150"/>
              <a:buFont typeface="IBM Plex Sans Medium"/>
              <a:buNone/>
            </a:pPr>
            <a:r>
              <a:rPr lang="en-US" sz="1150" b="0" i="0" u="none" strike="noStrike" cap="non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Matching &amp; Scoring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617934" y="4219724"/>
            <a:ext cx="3780000" cy="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950"/>
              <a:buFont typeface="Roboto"/>
              <a:buNone/>
            </a:pPr>
            <a:r>
              <a:rPr lang="en-US" sz="950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Cosine similarity against registered student embeddings; produce score and confidence.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4624313" y="3844751"/>
            <a:ext cx="4023600" cy="859200"/>
          </a:xfrm>
          <a:prstGeom prst="roundRect">
            <a:avLst>
              <a:gd name="adj" fmla="val 2127"/>
            </a:avLst>
          </a:prstGeom>
          <a:solidFill>
            <a:srgbClr val="484B5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6"/>
          <p:cNvSpPr/>
          <p:nvPr/>
        </p:nvSpPr>
        <p:spPr>
          <a:xfrm>
            <a:off x="4746129" y="3966567"/>
            <a:ext cx="3780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150"/>
              <a:buFont typeface="IBM Plex Sans Medium"/>
              <a:buNone/>
            </a:pPr>
            <a:r>
              <a:rPr lang="en-US" sz="1150" b="0" i="0" u="none" strike="noStrike" cap="non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Attendance Decision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4746129" y="4219724"/>
            <a:ext cx="3780000" cy="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950"/>
              <a:buFont typeface="Roboto"/>
              <a:buNone/>
            </a:pPr>
            <a:r>
              <a:rPr lang="en-US" sz="950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Threshold-based present/unknown classification; log status and confidence for review.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" name="Google Shape;65;p6" descr="Backend&#10;&#10;Python + Flask, OpenCV for preprocessing, Insights Face/Inside Face models (Arc Face) for embeddings.&#10;"/>
          <p:cNvPicPr preferRelativeResize="0"/>
          <p:nvPr/>
        </p:nvPicPr>
        <p:blipFill rotWithShape="1">
          <a:blip r:embed="rId3">
            <a:alphaModFix/>
          </a:blip>
          <a:srcRect b="95529"/>
          <a:stretch/>
        </p:blipFill>
        <p:spPr>
          <a:xfrm>
            <a:off x="0" y="4859650"/>
            <a:ext cx="9144000" cy="2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>
            <a:off x="496119" y="423862"/>
            <a:ext cx="8151763" cy="276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1700"/>
              <a:buFont typeface="IBM Plex Sans Medium"/>
              <a:buNone/>
            </a:pPr>
            <a:r>
              <a:rPr lang="en-US" sz="1700" b="0" i="0" u="none" strike="noStrike" cap="none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Module Breakdown — Clear, actionable components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496119" y="2696170"/>
            <a:ext cx="3555802" cy="15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/>
              <a:buNone/>
            </a:pP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4491930" y="1360363"/>
            <a:ext cx="1715095" cy="631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850"/>
              <a:buFont typeface="Roboto"/>
              <a:buNone/>
            </a:pP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79305" y="1039006"/>
            <a:ext cx="514201" cy="64271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"/>
          <p:cNvSpPr/>
          <p:nvPr/>
        </p:nvSpPr>
        <p:spPr>
          <a:xfrm>
            <a:off x="5901630" y="1039006"/>
            <a:ext cx="1715095" cy="34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050"/>
              <a:buFont typeface="IBM Plex Sans Medium"/>
              <a:buNone/>
            </a:pPr>
            <a:r>
              <a:rPr lang="en-US" sz="1050" b="0" i="0" u="none" strike="noStrike" cap="none" dirty="0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Module 2 — Dataset Preparation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5901630" y="1471500"/>
            <a:ext cx="1715095" cy="631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850"/>
              <a:buFont typeface="Roboto"/>
              <a:buNone/>
            </a:pPr>
            <a:r>
              <a:rPr lang="en-US" sz="850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Resize, normalize, and augment (flip, crop, color jitter) to expand the enrollment set and reduce bias.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4491930" y="2164407"/>
            <a:ext cx="1715095" cy="173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050"/>
              <a:buFont typeface="IBM Plex Sans Medium"/>
              <a:buNone/>
            </a:pP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4491930" y="2423889"/>
            <a:ext cx="1715095" cy="631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850"/>
              <a:buFont typeface="Roboto"/>
              <a:buNone/>
            </a:pP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79305" y="2275544"/>
            <a:ext cx="514201" cy="642714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7"/>
          <p:cNvSpPr/>
          <p:nvPr/>
        </p:nvSpPr>
        <p:spPr>
          <a:xfrm>
            <a:off x="5901630" y="2275544"/>
            <a:ext cx="1715095" cy="34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050"/>
              <a:buFont typeface="IBM Plex Sans Medium"/>
              <a:buNone/>
            </a:pPr>
            <a:r>
              <a:rPr lang="en-US" sz="1050" b="0" i="0" u="none" strike="noStrike" cap="non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Module 4 — Face Recognition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5901630" y="2708039"/>
            <a:ext cx="1715095" cy="631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850"/>
              <a:buFont typeface="Roboto"/>
              <a:buNone/>
            </a:pPr>
            <a:r>
              <a:rPr lang="en-US" sz="850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ArcFace/FaceNet produce embeddings; embeddings stored encrypted and linked to student IDs.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4491930" y="3400946"/>
            <a:ext cx="1715095" cy="34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050"/>
              <a:buFont typeface="IBM Plex Sans Medium"/>
              <a:buNone/>
            </a:pP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4491930" y="3833440"/>
            <a:ext cx="1715095" cy="788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850"/>
              <a:buFont typeface="Roboto"/>
              <a:buNone/>
            </a:pP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79305" y="3512083"/>
            <a:ext cx="514201" cy="642714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7"/>
          <p:cNvSpPr/>
          <p:nvPr/>
        </p:nvSpPr>
        <p:spPr>
          <a:xfrm>
            <a:off x="5901630" y="3512083"/>
            <a:ext cx="1715095" cy="173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050"/>
              <a:buFont typeface="IBM Plex Sans Medium"/>
              <a:buNone/>
            </a:pPr>
            <a:r>
              <a:rPr lang="en-US" sz="1050" b="0" i="0" u="none" strike="noStrike" cap="non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Module 6 — Dashboard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5901630" y="3771565"/>
            <a:ext cx="1715095" cy="473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850"/>
              <a:buFont typeface="Roboto"/>
              <a:buNone/>
            </a:pPr>
            <a:r>
              <a:rPr lang="en-US" sz="850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Faculty view: attendance lists, correction workflow, analytics, and export to LMS.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7" descr="Backend&#10;&#10;Python + Flask, OpenCV for preprocessing, Insights Face/Inside Face models (Arc Face) for embeddings.&#10;"/>
          <p:cNvPicPr preferRelativeResize="0"/>
          <p:nvPr/>
        </p:nvPicPr>
        <p:blipFill rotWithShape="1">
          <a:blip r:embed="rId6">
            <a:alphaModFix/>
          </a:blip>
          <a:srcRect b="95529"/>
          <a:stretch/>
        </p:blipFill>
        <p:spPr>
          <a:xfrm>
            <a:off x="0" y="4859650"/>
            <a:ext cx="9144000" cy="28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73;p7" descr="preencoded.png">
            <a:extLst>
              <a:ext uri="{FF2B5EF4-FFF2-40B4-BE49-F238E27FC236}">
                <a16:creationId xmlns:a16="http://schemas.microsoft.com/office/drawing/2014/main" id="{BC79D72C-E4C7-4A23-8883-6EA52A65BE4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27277" y="954690"/>
            <a:ext cx="514201" cy="642714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74;p7">
            <a:extLst>
              <a:ext uri="{FF2B5EF4-FFF2-40B4-BE49-F238E27FC236}">
                <a16:creationId xmlns:a16="http://schemas.microsoft.com/office/drawing/2014/main" id="{6E5FAE20-C0F7-4163-ABE1-2219B4393AB3}"/>
              </a:ext>
            </a:extLst>
          </p:cNvPr>
          <p:cNvSpPr/>
          <p:nvPr/>
        </p:nvSpPr>
        <p:spPr>
          <a:xfrm>
            <a:off x="2149601" y="928812"/>
            <a:ext cx="1715095" cy="34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050"/>
              <a:buFont typeface="IBM Plex Sans Medium"/>
              <a:buNone/>
            </a:pPr>
            <a:r>
              <a:rPr lang="en-US" sz="1050" b="0" i="0" u="none" strike="noStrike" cap="non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Module 1 — Student Registration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75;p7">
            <a:extLst>
              <a:ext uri="{FF2B5EF4-FFF2-40B4-BE49-F238E27FC236}">
                <a16:creationId xmlns:a16="http://schemas.microsoft.com/office/drawing/2014/main" id="{3DF4B5F8-D846-4D8D-B84F-8D028F5A6C28}"/>
              </a:ext>
            </a:extLst>
          </p:cNvPr>
          <p:cNvSpPr/>
          <p:nvPr/>
        </p:nvSpPr>
        <p:spPr>
          <a:xfrm>
            <a:off x="2149601" y="1387184"/>
            <a:ext cx="1715095" cy="631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85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Capture Student ID, name, department, and 5–10 face images across angles and lighting for robust enrollment.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Google Shape;79;p7" descr="preencoded.png">
            <a:extLst>
              <a:ext uri="{FF2B5EF4-FFF2-40B4-BE49-F238E27FC236}">
                <a16:creationId xmlns:a16="http://schemas.microsoft.com/office/drawing/2014/main" id="{F352C3BC-0EE4-4A62-B730-11CFA6927460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527277" y="2191228"/>
            <a:ext cx="514201" cy="642714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80;p7">
            <a:extLst>
              <a:ext uri="{FF2B5EF4-FFF2-40B4-BE49-F238E27FC236}">
                <a16:creationId xmlns:a16="http://schemas.microsoft.com/office/drawing/2014/main" id="{F29C9E2C-2C72-4069-9249-07EB63C8C2EE}"/>
              </a:ext>
            </a:extLst>
          </p:cNvPr>
          <p:cNvSpPr/>
          <p:nvPr/>
        </p:nvSpPr>
        <p:spPr>
          <a:xfrm>
            <a:off x="2149601" y="2191228"/>
            <a:ext cx="1715095" cy="173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050"/>
              <a:buFont typeface="IBM Plex Sans Medium"/>
              <a:buNone/>
            </a:pPr>
            <a:r>
              <a:rPr lang="en-US" sz="1050" b="0" i="0" u="none" strike="noStrike" cap="non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Module 3 — Face Detection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81;p7">
            <a:extLst>
              <a:ext uri="{FF2B5EF4-FFF2-40B4-BE49-F238E27FC236}">
                <a16:creationId xmlns:a16="http://schemas.microsoft.com/office/drawing/2014/main" id="{BB730421-7AC9-4C41-B07D-C2665B3153CB}"/>
              </a:ext>
            </a:extLst>
          </p:cNvPr>
          <p:cNvSpPr/>
          <p:nvPr/>
        </p:nvSpPr>
        <p:spPr>
          <a:xfrm>
            <a:off x="2149601" y="2450710"/>
            <a:ext cx="1715095" cy="631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850"/>
              <a:buFont typeface="Roboto"/>
              <a:buNone/>
            </a:pPr>
            <a:r>
              <a:rPr lang="en-US" sz="8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Retina Face</a:t>
            </a:r>
            <a:r>
              <a:rPr lang="en-US" sz="850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 locates faces and landmarks; outputs per-face crops for alignment and downstream processing.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Google Shape;85;p7" descr="preencoded.png">
            <a:extLst>
              <a:ext uri="{FF2B5EF4-FFF2-40B4-BE49-F238E27FC236}">
                <a16:creationId xmlns:a16="http://schemas.microsoft.com/office/drawing/2014/main" id="{DF46E174-4E40-409A-A83C-2599D08A1399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527277" y="3427767"/>
            <a:ext cx="514201" cy="642714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86;p7">
            <a:extLst>
              <a:ext uri="{FF2B5EF4-FFF2-40B4-BE49-F238E27FC236}">
                <a16:creationId xmlns:a16="http://schemas.microsoft.com/office/drawing/2014/main" id="{95B73BB0-D87B-4F2F-8447-FFA7BF808093}"/>
              </a:ext>
            </a:extLst>
          </p:cNvPr>
          <p:cNvSpPr/>
          <p:nvPr/>
        </p:nvSpPr>
        <p:spPr>
          <a:xfrm>
            <a:off x="2149601" y="3427767"/>
            <a:ext cx="1715095" cy="34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050"/>
              <a:buFont typeface="IBM Plex Sans Medium"/>
              <a:buNone/>
            </a:pPr>
            <a:r>
              <a:rPr lang="en-US" sz="1050" b="0" i="0" u="none" strike="noStrike" cap="non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Module 5 — Attendance Verification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87;p7">
            <a:extLst>
              <a:ext uri="{FF2B5EF4-FFF2-40B4-BE49-F238E27FC236}">
                <a16:creationId xmlns:a16="http://schemas.microsoft.com/office/drawing/2014/main" id="{4CE5CDD8-9936-4E27-A75E-8FAA88ABD4FD}"/>
              </a:ext>
            </a:extLst>
          </p:cNvPr>
          <p:cNvSpPr/>
          <p:nvPr/>
        </p:nvSpPr>
        <p:spPr>
          <a:xfrm>
            <a:off x="2149601" y="3860261"/>
            <a:ext cx="1715095" cy="788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850"/>
              <a:buFont typeface="Roboto"/>
              <a:buNone/>
            </a:pPr>
            <a:r>
              <a:rPr lang="en-US" sz="850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Compare embeddings with cosine similarity; apply adaptive thresholding and confidence checks to label Present or Unknown.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/>
          <p:nvPr/>
        </p:nvSpPr>
        <p:spPr>
          <a:xfrm>
            <a:off x="496119" y="389855"/>
            <a:ext cx="8151763" cy="17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1100"/>
              <a:buFont typeface="IBM Plex Sans Medium"/>
              <a:buNone/>
            </a:pPr>
            <a:r>
              <a:rPr lang="en-US" sz="1700" b="0" i="0" u="none" strike="noStrike" cap="none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System Architecture — Components &amp; Data Flow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75138" y="584550"/>
            <a:ext cx="5363421" cy="425757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8"/>
          <p:cNvSpPr/>
          <p:nvPr/>
        </p:nvSpPr>
        <p:spPr>
          <a:xfrm>
            <a:off x="3965600" y="2327400"/>
            <a:ext cx="982500" cy="8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6"/>
              <a:buFont typeface="IBM Plex Sans Medium"/>
              <a:buNone/>
            </a:pPr>
            <a:r>
              <a:rPr lang="en-US" sz="1346" b="0" i="0" u="none" strike="noStrike" cap="none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Attendance System Architecture</a:t>
            </a:r>
            <a:endParaRPr sz="13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4934853" y="932170"/>
            <a:ext cx="1434000" cy="4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346"/>
              <a:buFont typeface="IBM Plex Sans Medium"/>
              <a:buNone/>
            </a:pPr>
            <a:r>
              <a:rPr lang="en-US" sz="1346" b="0" i="0" u="none" strike="noStrike" cap="non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Teacher device uploads</a:t>
            </a:r>
            <a:endParaRPr sz="13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4934853" y="1435643"/>
            <a:ext cx="1434000" cy="2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106"/>
              <a:buFont typeface="Roboto"/>
              <a:buNone/>
            </a:pPr>
            <a:r>
              <a:rPr lang="en-US" sz="1106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Image sent from classroom</a:t>
            </a:r>
            <a:endParaRPr sz="110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2544825" y="1042366"/>
            <a:ext cx="14340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346"/>
              <a:buFont typeface="IBM Plex Sans Medium"/>
              <a:buNone/>
            </a:pPr>
            <a:r>
              <a:rPr lang="en-US" sz="1346" b="0" i="0" u="none" strike="noStrike" cap="non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Attendance Logic</a:t>
            </a:r>
            <a:endParaRPr sz="13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2544825" y="1325447"/>
            <a:ext cx="1434000" cy="2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106"/>
              <a:buFont typeface="Roboto"/>
              <a:buNone/>
            </a:pPr>
            <a:r>
              <a:rPr lang="en-US" sz="1106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Compute presence and timestamps</a:t>
            </a:r>
            <a:endParaRPr sz="110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2533163" y="3836240"/>
            <a:ext cx="14340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346"/>
              <a:buFont typeface="IBM Plex Sans Medium"/>
              <a:buNone/>
            </a:pPr>
            <a:r>
              <a:rPr lang="en-US" sz="1346" b="0" i="0" u="none" strike="noStrike" cap="non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Face Detection</a:t>
            </a:r>
            <a:endParaRPr sz="13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2533163" y="4122847"/>
            <a:ext cx="1434000" cy="1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106"/>
              <a:buFont typeface="Roboto"/>
              <a:buNone/>
            </a:pPr>
            <a:r>
              <a:rPr lang="en-US" sz="1106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Locate faces in image</a:t>
            </a:r>
            <a:endParaRPr sz="110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4923191" y="3836248"/>
            <a:ext cx="14340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346"/>
              <a:buFont typeface="IBM Plex Sans Medium"/>
              <a:buNone/>
            </a:pPr>
            <a:r>
              <a:rPr lang="en-US" sz="1346" b="0" i="0" u="none" strike="noStrike" cap="non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AI Engine</a:t>
            </a:r>
            <a:endParaRPr sz="13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4923191" y="4119329"/>
            <a:ext cx="1434000" cy="2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106"/>
              <a:buFont typeface="Roboto"/>
              <a:buNone/>
            </a:pPr>
            <a:r>
              <a:rPr lang="en-US" sz="1106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Processes image and runs models</a:t>
            </a:r>
            <a:endParaRPr sz="110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5440377" y="2327408"/>
            <a:ext cx="1465200" cy="4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346"/>
              <a:buFont typeface="IBM Plex Sans Medium"/>
              <a:buNone/>
            </a:pPr>
            <a:r>
              <a:rPr lang="en-US" sz="1346" b="0" i="0" u="none" strike="noStrike" cap="non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REST API gateway</a:t>
            </a:r>
            <a:endParaRPr sz="13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5440377" y="2690956"/>
            <a:ext cx="1465200" cy="2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106"/>
              <a:buFont typeface="Roboto"/>
              <a:buNone/>
            </a:pPr>
            <a:r>
              <a:rPr lang="en-US" sz="1106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Forwards image to AI Engine</a:t>
            </a:r>
            <a:endParaRPr sz="110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2008116" y="2376228"/>
            <a:ext cx="14652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346"/>
              <a:buFont typeface="IBM Plex Sans Medium"/>
              <a:buNone/>
            </a:pPr>
            <a:r>
              <a:rPr lang="en-US" sz="1346" b="0" i="0" u="none" strike="noStrike" cap="non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Face Recognition</a:t>
            </a:r>
            <a:endParaRPr sz="13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2008116" y="2669009"/>
            <a:ext cx="1465200" cy="2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106"/>
              <a:buFont typeface="Roboto"/>
              <a:buNone/>
            </a:pPr>
            <a:r>
              <a:rPr lang="en-US" sz="1106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Identify student identities</a:t>
            </a:r>
            <a:endParaRPr sz="110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496119" y="5106665"/>
            <a:ext cx="8608963" cy="85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550"/>
              <a:buFont typeface="Roboto"/>
              <a:buNone/>
            </a:pPr>
            <a:r>
              <a:rPr lang="en-US" sz="550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Stateless REST API, containerized AI engine (Docker), model-serving microservices, and a transactional DB for attendance records. Option for on-premise or cloud with VPC and strict network controls.</a:t>
            </a:r>
            <a:endParaRPr sz="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8" descr="Backend&#10;&#10;Python + Flask, OpenCV for preprocessing, Insights Face/Inside Face models (Arc Face) for embeddings.&#10;"/>
          <p:cNvPicPr preferRelativeResize="0"/>
          <p:nvPr/>
        </p:nvPicPr>
        <p:blipFill rotWithShape="1">
          <a:blip r:embed="rId4">
            <a:alphaModFix/>
          </a:blip>
          <a:srcRect b="95529"/>
          <a:stretch/>
        </p:blipFill>
        <p:spPr>
          <a:xfrm>
            <a:off x="0" y="4859650"/>
            <a:ext cx="9144000" cy="2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"/>
          <p:cNvSpPr/>
          <p:nvPr/>
        </p:nvSpPr>
        <p:spPr>
          <a:xfrm>
            <a:off x="496119" y="786557"/>
            <a:ext cx="8151763" cy="35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2200"/>
              <a:buFont typeface="IBM Plex Sans Medium"/>
              <a:buNone/>
            </a:pPr>
            <a:r>
              <a:rPr lang="en-US" sz="2200" b="0" i="0" u="none" strike="noStrike" cap="none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Database Schema — Key tables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496119" y="1512987"/>
            <a:ext cx="3902943" cy="1876425"/>
          </a:xfrm>
          <a:prstGeom prst="roundRect">
            <a:avLst>
              <a:gd name="adj" fmla="val 1133"/>
            </a:avLst>
          </a:prstGeom>
          <a:noFill/>
          <a:ln w="9525" cap="flat" cmpd="sng">
            <a:solidFill>
              <a:srgbClr val="FFFFFF">
                <a:alpha val="2392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9"/>
          <p:cNvSpPr/>
          <p:nvPr/>
        </p:nvSpPr>
        <p:spPr>
          <a:xfrm>
            <a:off x="496119" y="1926580"/>
            <a:ext cx="3902943" cy="8860"/>
          </a:xfrm>
          <a:prstGeom prst="rect">
            <a:avLst/>
          </a:prstGeom>
          <a:solidFill>
            <a:srgbClr val="FFFFFF">
              <a:alpha val="2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9"/>
          <p:cNvSpPr/>
          <p:nvPr/>
        </p:nvSpPr>
        <p:spPr>
          <a:xfrm>
            <a:off x="496119" y="2337792"/>
            <a:ext cx="3902943" cy="8860"/>
          </a:xfrm>
          <a:prstGeom prst="rect">
            <a:avLst/>
          </a:prstGeom>
          <a:solidFill>
            <a:srgbClr val="FFFFFF">
              <a:alpha val="2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9"/>
          <p:cNvSpPr/>
          <p:nvPr/>
        </p:nvSpPr>
        <p:spPr>
          <a:xfrm>
            <a:off x="496119" y="2975818"/>
            <a:ext cx="3902943" cy="8860"/>
          </a:xfrm>
          <a:prstGeom prst="rect">
            <a:avLst/>
          </a:prstGeom>
          <a:solidFill>
            <a:srgbClr val="FFFFFF">
              <a:alpha val="2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9"/>
          <p:cNvSpPr/>
          <p:nvPr/>
        </p:nvSpPr>
        <p:spPr>
          <a:xfrm>
            <a:off x="1785789" y="1512987"/>
            <a:ext cx="8860" cy="1876425"/>
          </a:xfrm>
          <a:prstGeom prst="rect">
            <a:avLst/>
          </a:prstGeom>
          <a:solidFill>
            <a:srgbClr val="FFFFFF">
              <a:alpha val="2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9"/>
          <p:cNvSpPr/>
          <p:nvPr/>
        </p:nvSpPr>
        <p:spPr>
          <a:xfrm>
            <a:off x="3070547" y="1512987"/>
            <a:ext cx="8860" cy="1876425"/>
          </a:xfrm>
          <a:prstGeom prst="rect">
            <a:avLst/>
          </a:prstGeom>
          <a:solidFill>
            <a:srgbClr val="FFFFFF">
              <a:alpha val="2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9"/>
          <p:cNvSpPr/>
          <p:nvPr/>
        </p:nvSpPr>
        <p:spPr>
          <a:xfrm>
            <a:off x="642789" y="1607567"/>
            <a:ext cx="1456060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100"/>
              <a:buFont typeface="Roboto"/>
              <a:buNone/>
            </a:pPr>
            <a:r>
              <a:rPr lang="en-US" sz="1100" b="1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Students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1929929" y="1607567"/>
            <a:ext cx="1453679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100"/>
              <a:buFont typeface="Roboto"/>
              <a:buNone/>
            </a:pPr>
            <a:r>
              <a:rPr lang="en-US" sz="1100" b="1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Columns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3214688" y="1607567"/>
            <a:ext cx="1495053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100"/>
              <a:buFont typeface="Roboto"/>
              <a:buNone/>
            </a:pPr>
            <a:r>
              <a:rPr lang="en-US" sz="1100" b="1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Notes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642789" y="2018779"/>
            <a:ext cx="1456060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100"/>
              <a:buFont typeface="Roboto"/>
              <a:buNone/>
            </a:pPr>
            <a:r>
              <a:rPr lang="en-US" sz="110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Student ID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1929929" y="2018779"/>
            <a:ext cx="1453679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100"/>
              <a:buFont typeface="Roboto"/>
              <a:buNone/>
            </a:pPr>
            <a:r>
              <a:rPr lang="en-US" sz="1100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3214688" y="2018779"/>
            <a:ext cx="1495053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100"/>
              <a:buFont typeface="Roboto"/>
              <a:buNone/>
            </a:pPr>
            <a:r>
              <a:rPr lang="en-US" sz="1100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Primary key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642789" y="2429991"/>
            <a:ext cx="1456060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100"/>
              <a:buFont typeface="Roboto"/>
              <a:buNone/>
            </a:pPr>
            <a:r>
              <a:rPr lang="en-US" sz="1100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Department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1929929" y="2429991"/>
            <a:ext cx="1453679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100"/>
              <a:buFont typeface="Roboto"/>
              <a:buNone/>
            </a:pPr>
            <a:r>
              <a:rPr lang="en-US" sz="1100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Embedding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3214688" y="2429991"/>
            <a:ext cx="1037853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100"/>
              <a:buFont typeface="Roboto"/>
              <a:buNone/>
            </a:pPr>
            <a:r>
              <a:rPr lang="en-US" sz="1100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Encrypted vector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642789" y="3068017"/>
            <a:ext cx="1456060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100"/>
              <a:buFont typeface="Roboto"/>
              <a:buNone/>
            </a:pPr>
            <a:r>
              <a:rPr lang="en-US" sz="1100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Images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1929929" y="3068017"/>
            <a:ext cx="1453679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100"/>
              <a:buFont typeface="Roboto"/>
              <a:buNone/>
            </a:pPr>
            <a:r>
              <a:rPr lang="en-US" sz="110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Enroll Date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3214688" y="3068017"/>
            <a:ext cx="1495053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100"/>
              <a:buFont typeface="Roboto"/>
              <a:buNone/>
            </a:pPr>
            <a:r>
              <a:rPr lang="en-US" sz="1100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Storage pointers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4749701" y="1512987"/>
            <a:ext cx="3902943" cy="1876425"/>
          </a:xfrm>
          <a:prstGeom prst="roundRect">
            <a:avLst>
              <a:gd name="adj" fmla="val 1133"/>
            </a:avLst>
          </a:prstGeom>
          <a:noFill/>
          <a:ln w="9525" cap="flat" cmpd="sng">
            <a:solidFill>
              <a:srgbClr val="FFFFFF">
                <a:alpha val="2392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9"/>
          <p:cNvSpPr/>
          <p:nvPr/>
        </p:nvSpPr>
        <p:spPr>
          <a:xfrm>
            <a:off x="4749701" y="1926580"/>
            <a:ext cx="3902943" cy="8860"/>
          </a:xfrm>
          <a:prstGeom prst="rect">
            <a:avLst/>
          </a:prstGeom>
          <a:solidFill>
            <a:srgbClr val="FFFFFF">
              <a:alpha val="2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9"/>
          <p:cNvSpPr/>
          <p:nvPr/>
        </p:nvSpPr>
        <p:spPr>
          <a:xfrm>
            <a:off x="4749701" y="2337792"/>
            <a:ext cx="3902943" cy="8860"/>
          </a:xfrm>
          <a:prstGeom prst="rect">
            <a:avLst/>
          </a:prstGeom>
          <a:solidFill>
            <a:srgbClr val="FFFFFF">
              <a:alpha val="2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9"/>
          <p:cNvSpPr/>
          <p:nvPr/>
        </p:nvSpPr>
        <p:spPr>
          <a:xfrm>
            <a:off x="4749701" y="2749004"/>
            <a:ext cx="3902943" cy="8860"/>
          </a:xfrm>
          <a:prstGeom prst="rect">
            <a:avLst/>
          </a:prstGeom>
          <a:solidFill>
            <a:srgbClr val="FFFFFF">
              <a:alpha val="2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9"/>
          <p:cNvSpPr/>
          <p:nvPr/>
        </p:nvSpPr>
        <p:spPr>
          <a:xfrm>
            <a:off x="6039371" y="1512987"/>
            <a:ext cx="8860" cy="1876425"/>
          </a:xfrm>
          <a:prstGeom prst="rect">
            <a:avLst/>
          </a:prstGeom>
          <a:solidFill>
            <a:srgbClr val="FFFFFF">
              <a:alpha val="2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9"/>
          <p:cNvSpPr/>
          <p:nvPr/>
        </p:nvSpPr>
        <p:spPr>
          <a:xfrm>
            <a:off x="7324130" y="1512987"/>
            <a:ext cx="8860" cy="1876425"/>
          </a:xfrm>
          <a:prstGeom prst="rect">
            <a:avLst/>
          </a:prstGeom>
          <a:solidFill>
            <a:srgbClr val="FFFFFF">
              <a:alpha val="2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9"/>
          <p:cNvSpPr/>
          <p:nvPr/>
        </p:nvSpPr>
        <p:spPr>
          <a:xfrm>
            <a:off x="4896371" y="1607567"/>
            <a:ext cx="1456060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100"/>
              <a:buFont typeface="Roboto"/>
              <a:buNone/>
            </a:pPr>
            <a:r>
              <a:rPr lang="en-US" sz="1100" b="1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Attendance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6183511" y="1607567"/>
            <a:ext cx="1453679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100"/>
              <a:buFont typeface="Roboto"/>
              <a:buNone/>
            </a:pPr>
            <a:r>
              <a:rPr lang="en-US" sz="1100" b="1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Columns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7468270" y="1607567"/>
            <a:ext cx="1495053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100"/>
              <a:buFont typeface="Roboto"/>
              <a:buNone/>
            </a:pPr>
            <a:r>
              <a:rPr lang="en-US" sz="1100" b="1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Notes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4896371" y="2018779"/>
            <a:ext cx="1456060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100"/>
              <a:buFont typeface="Roboto"/>
              <a:buNone/>
            </a:pPr>
            <a:r>
              <a:rPr lang="en-US" sz="110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Student ID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6183511" y="2018779"/>
            <a:ext cx="1453679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100"/>
              <a:buFont typeface="Roboto"/>
              <a:buNone/>
            </a:pPr>
            <a:r>
              <a:rPr lang="en-US" sz="1100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Course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7468270" y="2018779"/>
            <a:ext cx="1495053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100"/>
              <a:buFont typeface="Roboto"/>
              <a:buNone/>
            </a:pPr>
            <a:r>
              <a:rPr lang="en-US" sz="1100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Foreign keys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4896371" y="2429991"/>
            <a:ext cx="1456060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100"/>
              <a:buFont typeface="Roboto"/>
              <a:buNone/>
            </a:pPr>
            <a:r>
              <a:rPr lang="en-US" sz="1100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DateTime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6183511" y="2429991"/>
            <a:ext cx="1453679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100"/>
              <a:buFont typeface="Roboto"/>
              <a:buNone/>
            </a:pPr>
            <a:r>
              <a:rPr lang="en-US" sz="1100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Confidence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7468270" y="2429991"/>
            <a:ext cx="1495053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100"/>
              <a:buFont typeface="Roboto"/>
              <a:buNone/>
            </a:pPr>
            <a:r>
              <a:rPr lang="en-US" sz="1100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Cosine score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4896371" y="2841203"/>
            <a:ext cx="1456060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100"/>
              <a:buFont typeface="Roboto"/>
              <a:buNone/>
            </a:pPr>
            <a:r>
              <a:rPr lang="en-US" sz="1100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Status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6183511" y="2841203"/>
            <a:ext cx="1453679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100"/>
              <a:buFont typeface="Roboto"/>
              <a:buNone/>
            </a:pPr>
            <a:r>
              <a:rPr lang="en-US" sz="1100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PhotoRef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7468270" y="2841203"/>
            <a:ext cx="1037853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100"/>
              <a:buFont typeface="Roboto"/>
              <a:buNone/>
            </a:pPr>
            <a:r>
              <a:rPr lang="en-US" sz="1100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Present/Unknown/Manual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4749701" y="3548881"/>
            <a:ext cx="3902943" cy="680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100"/>
              <a:buFont typeface="Roboto"/>
              <a:buNone/>
            </a:pPr>
            <a:r>
              <a:rPr lang="en-US" sz="1100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Faculty table stores access rights and course mappings. Index embeddings for fast nearest-neighbor search (FAISS or equivalent).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9" descr="Backend&#10;&#10;Python + Flask, OpenCV for preprocessing, Insights Face/Inside Face models (Arc Face) for embeddings.&#10;"/>
          <p:cNvPicPr preferRelativeResize="0"/>
          <p:nvPr/>
        </p:nvPicPr>
        <p:blipFill rotWithShape="1">
          <a:blip r:embed="rId3">
            <a:alphaModFix/>
          </a:blip>
          <a:srcRect b="95529"/>
          <a:stretch/>
        </p:blipFill>
        <p:spPr>
          <a:xfrm>
            <a:off x="0" y="4859650"/>
            <a:ext cx="9144000" cy="2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/>
          <p:nvPr/>
        </p:nvSpPr>
        <p:spPr>
          <a:xfrm>
            <a:off x="496119" y="397222"/>
            <a:ext cx="8151763" cy="276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1700"/>
              <a:buFont typeface="IBM Plex Sans Medium"/>
              <a:buNone/>
            </a:pPr>
            <a:r>
              <a:rPr lang="en-US" sz="1700" b="0" i="0" u="none" strike="noStrike" cap="none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Attendance Processing Algorithm (Operational)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9679" y="847130"/>
            <a:ext cx="8084567" cy="3486224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0"/>
          <p:cNvSpPr/>
          <p:nvPr/>
        </p:nvSpPr>
        <p:spPr>
          <a:xfrm>
            <a:off x="1073714" y="3672235"/>
            <a:ext cx="1834102" cy="229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BM Plex Sans Medium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Enhance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1073714" y="2865231"/>
            <a:ext cx="1834102" cy="229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BM Plex Sans Medium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Align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1073714" y="2066378"/>
            <a:ext cx="1834102" cy="229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BM Plex Sans Medium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Detect Faces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1073714" y="1259373"/>
            <a:ext cx="1834102" cy="229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BM Plex Sans Medium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Capture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496119" y="4430688"/>
            <a:ext cx="8151763" cy="315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850"/>
              <a:buFont typeface="Roboto"/>
              <a:buNone/>
            </a:pPr>
            <a:r>
              <a:rPr lang="en-US" sz="850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Key considerations: batch processing for multi-face photos, dynamic thresholding per course/lighting, fallback to manual review when confidence is below cutoff, and audit logs for every decision.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10" descr="Backend&#10;&#10;Python + Flask, OpenCV for preprocessing, Insights Face/Inside Face models (Arc Face) for embeddings.&#10;"/>
          <p:cNvPicPr preferRelativeResize="0"/>
          <p:nvPr/>
        </p:nvPicPr>
        <p:blipFill rotWithShape="1">
          <a:blip r:embed="rId4">
            <a:alphaModFix/>
          </a:blip>
          <a:srcRect b="95529"/>
          <a:stretch/>
        </p:blipFill>
        <p:spPr>
          <a:xfrm>
            <a:off x="0" y="4859650"/>
            <a:ext cx="9144000" cy="2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"/>
          <p:cNvSpPr/>
          <p:nvPr/>
        </p:nvSpPr>
        <p:spPr>
          <a:xfrm>
            <a:off x="496119" y="472008"/>
            <a:ext cx="8151763" cy="35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2200"/>
              <a:buFont typeface="IBM Plex Sans Medium"/>
              <a:buNone/>
            </a:pPr>
            <a:r>
              <a:rPr lang="en-US" sz="2200" b="0" i="0" u="none" strike="noStrike" cap="none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Technology Stack &amp; Deployment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11"/>
          <p:cNvPicPr preferRelativeResize="0"/>
          <p:nvPr/>
        </p:nvPicPr>
        <p:blipFill rotWithShape="1">
          <a:blip r:embed="rId3">
            <a:alphaModFix/>
          </a:blip>
          <a:srcRect t="4782" b="3424"/>
          <a:stretch/>
        </p:blipFill>
        <p:spPr>
          <a:xfrm>
            <a:off x="5051500" y="826375"/>
            <a:ext cx="4092500" cy="3756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6119" y="940673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1"/>
          <p:cNvSpPr/>
          <p:nvPr/>
        </p:nvSpPr>
        <p:spPr>
          <a:xfrm>
            <a:off x="496119" y="1295013"/>
            <a:ext cx="2599200" cy="2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350"/>
              <a:buFont typeface="IBM Plex Sans Medium"/>
              <a:buNone/>
            </a:pPr>
            <a:r>
              <a:rPr lang="en-US" sz="1350" b="0" i="0" u="none" strike="noStrike" cap="non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Backend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496125" y="1516425"/>
            <a:ext cx="45165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100"/>
              <a:buFont typeface="Roboto"/>
              <a:buNone/>
            </a:pPr>
            <a:r>
              <a:rPr lang="en-US" sz="1100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Python + Flask, OpenCV for preprocessing, </a:t>
            </a:r>
            <a:r>
              <a:rPr lang="en-US" sz="110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Insights Face</a:t>
            </a:r>
            <a:r>
              <a:rPr lang="en-US" sz="1100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lang="en-US" sz="110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Inside Face</a:t>
            </a:r>
            <a:r>
              <a:rPr lang="en-US" sz="1100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 models (</a:t>
            </a:r>
            <a:r>
              <a:rPr lang="en-US" sz="110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Arc Face</a:t>
            </a:r>
            <a:r>
              <a:rPr lang="en-US" sz="1100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) for embeddings.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1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6121" y="2137611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1"/>
          <p:cNvSpPr/>
          <p:nvPr/>
        </p:nvSpPr>
        <p:spPr>
          <a:xfrm>
            <a:off x="496133" y="2491951"/>
            <a:ext cx="2599200" cy="2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350"/>
              <a:buFont typeface="IBM Plex Sans Medium"/>
              <a:buNone/>
            </a:pPr>
            <a:r>
              <a:rPr lang="en-US" sz="1350" b="0" i="0" u="none" strike="noStrike" cap="non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Data &amp; Search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496125" y="2713363"/>
            <a:ext cx="4516500" cy="5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100"/>
              <a:buFont typeface="Roboto"/>
              <a:buNone/>
            </a:pPr>
            <a:r>
              <a:rPr lang="en-US" sz="1100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MySQL for transactional data, FAISS for vector search, encrypted storage for embeddings.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1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6134" y="3502111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1"/>
          <p:cNvSpPr/>
          <p:nvPr/>
        </p:nvSpPr>
        <p:spPr>
          <a:xfrm>
            <a:off x="496135" y="3848138"/>
            <a:ext cx="2599200" cy="2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350"/>
              <a:buFont typeface="IBM Plex Sans Medium"/>
              <a:buNone/>
            </a:pPr>
            <a:r>
              <a:rPr lang="en-US" sz="1350" b="0" i="0" u="none" strike="noStrike" cap="non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Frontend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496125" y="4069550"/>
            <a:ext cx="4516500" cy="5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100"/>
              <a:buFont typeface="Roboto"/>
              <a:buNone/>
            </a:pPr>
            <a:r>
              <a:rPr lang="en-US" sz="1100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React web portal and optional Flutter mobile app for teachers; Dockerized services and CI/CD via GitHub Actions.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11" descr="Backend&#10;&#10;Python + Flask, OpenCV for preprocessing, Insights Face/Inside Face models (Arc Face) for embeddings.&#10;"/>
          <p:cNvPicPr preferRelativeResize="0"/>
          <p:nvPr/>
        </p:nvPicPr>
        <p:blipFill rotWithShape="1">
          <a:blip r:embed="rId3">
            <a:alphaModFix/>
          </a:blip>
          <a:srcRect b="95529"/>
          <a:stretch/>
        </p:blipFill>
        <p:spPr>
          <a:xfrm>
            <a:off x="0" y="4859650"/>
            <a:ext cx="9144000" cy="2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"/>
          <p:cNvSpPr/>
          <p:nvPr/>
        </p:nvSpPr>
        <p:spPr>
          <a:xfrm>
            <a:off x="496119" y="402580"/>
            <a:ext cx="8151763" cy="293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1800"/>
              <a:buFont typeface="IBM Plex Sans Medium"/>
              <a:buNone/>
            </a:pPr>
            <a:r>
              <a:rPr lang="en-US" sz="1800" b="0" i="0" u="none" strike="noStrike" cap="none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Security, Privacy &amp; Compliance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6119" y="951086"/>
            <a:ext cx="3932709" cy="1219274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2"/>
          <p:cNvSpPr/>
          <p:nvPr/>
        </p:nvSpPr>
        <p:spPr>
          <a:xfrm>
            <a:off x="2374404" y="1031379"/>
            <a:ext cx="176064" cy="220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350"/>
              <a:buFont typeface="IBM Plex Sans Medium"/>
              <a:buNone/>
            </a:pPr>
            <a:r>
              <a:rPr lang="en-US" sz="1350" b="0" i="0" u="none" strike="noStrike" cap="non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1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2"/>
          <p:cNvSpPr/>
          <p:nvPr/>
        </p:nvSpPr>
        <p:spPr>
          <a:xfrm>
            <a:off x="627757" y="1414760"/>
            <a:ext cx="3669432" cy="183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150"/>
              <a:buFont typeface="IBM Plex Sans Medium"/>
              <a:buNone/>
            </a:pPr>
            <a:r>
              <a:rPr lang="en-US" sz="1150" b="0" i="0" u="none" strike="noStrike" cap="non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Data Protection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627757" y="1695376"/>
            <a:ext cx="3669432" cy="343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900"/>
              <a:buFont typeface="Roboto"/>
              <a:buNone/>
            </a:pPr>
            <a:r>
              <a:rPr lang="en-US" sz="900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Encrypted embeddings (AES-256), TLS for transport, key rotation, and strict access controls.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6119" y="2267545"/>
            <a:ext cx="3932709" cy="1047601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2"/>
          <p:cNvSpPr/>
          <p:nvPr/>
        </p:nvSpPr>
        <p:spPr>
          <a:xfrm>
            <a:off x="2374404" y="2347838"/>
            <a:ext cx="176064" cy="220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350"/>
              <a:buFont typeface="IBM Plex Sans Medium"/>
              <a:buNone/>
            </a:pPr>
            <a:r>
              <a:rPr lang="en-US" sz="1350" b="0" i="0" u="none" strike="noStrike" cap="non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2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627757" y="2731219"/>
            <a:ext cx="3669432" cy="183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150"/>
              <a:buFont typeface="IBM Plex Sans Medium"/>
              <a:buNone/>
            </a:pPr>
            <a:r>
              <a:rPr lang="en-US" sz="1150" b="0" i="0" u="none" strike="noStrike" cap="non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Access Controls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627757" y="3011835"/>
            <a:ext cx="3669432" cy="17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900"/>
              <a:buFont typeface="Roboto"/>
              <a:buNone/>
            </a:pPr>
            <a:r>
              <a:rPr lang="en-US" sz="900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Role-based access, audit trails, and faculty-only correction workflows.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6119" y="3412331"/>
            <a:ext cx="3932709" cy="1219274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2"/>
          <p:cNvSpPr/>
          <p:nvPr/>
        </p:nvSpPr>
        <p:spPr>
          <a:xfrm>
            <a:off x="2374404" y="3492624"/>
            <a:ext cx="176064" cy="220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350"/>
              <a:buFont typeface="IBM Plex Sans Medium"/>
              <a:buNone/>
            </a:pPr>
            <a:r>
              <a:rPr lang="en-US" sz="1350" b="0" i="0" u="none" strike="noStrike" cap="non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3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627757" y="3876005"/>
            <a:ext cx="3669432" cy="183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150"/>
              <a:buFont typeface="IBM Plex Sans Medium"/>
              <a:buNone/>
            </a:pPr>
            <a:r>
              <a:rPr lang="en-US" sz="1150" b="0" i="0" u="none" strike="noStrike" cap="non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Consent &amp; Policy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627757" y="4156621"/>
            <a:ext cx="3669432" cy="343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900"/>
              <a:buFont typeface="Roboto"/>
              <a:buNone/>
            </a:pPr>
            <a:r>
              <a:rPr lang="en-US" sz="900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Student consent capture during registration and options for on-premise data residency to meet campus policy.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1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19935" y="1461715"/>
            <a:ext cx="3932709" cy="2228478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2"/>
          <p:cNvSpPr/>
          <p:nvPr/>
        </p:nvSpPr>
        <p:spPr>
          <a:xfrm>
            <a:off x="4719935" y="3799508"/>
            <a:ext cx="3932709" cy="343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900"/>
              <a:buFont typeface="Roboto"/>
              <a:buNone/>
            </a:pPr>
            <a:r>
              <a:rPr lang="en-US" sz="900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Operational security: segregated networks for AI model serving, scheduled vulnerability scans, and incident response plan for data events.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12" descr="Backend&#10;&#10;Python + Flask, OpenCV for preprocessing, Insights Face/Inside Face models (Arc Face) for embeddings.&#10;"/>
          <p:cNvPicPr preferRelativeResize="0"/>
          <p:nvPr/>
        </p:nvPicPr>
        <p:blipFill rotWithShape="1">
          <a:blip r:embed="rId6">
            <a:alphaModFix/>
          </a:blip>
          <a:srcRect b="95529"/>
          <a:stretch/>
        </p:blipFill>
        <p:spPr>
          <a:xfrm>
            <a:off x="0" y="4859650"/>
            <a:ext cx="9144000" cy="2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"/>
          <p:cNvSpPr/>
          <p:nvPr/>
        </p:nvSpPr>
        <p:spPr>
          <a:xfrm>
            <a:off x="496119" y="412105"/>
            <a:ext cx="8151763" cy="348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2150"/>
              <a:buFont typeface="IBM Plex Sans Medium"/>
              <a:buNone/>
            </a:pPr>
            <a:r>
              <a:rPr lang="en-US" sz="2150" b="0" i="0" u="none" strike="noStrike" cap="none" dirty="0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Benefits</a:t>
            </a:r>
            <a:r>
              <a:rPr lang="en-US" sz="2150" dirty="0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 &amp;</a:t>
            </a:r>
            <a:r>
              <a:rPr lang="en-US" sz="2150" b="0" i="0" u="none" strike="noStrike" cap="none" dirty="0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 Roadmap</a:t>
            </a:r>
            <a:endParaRPr sz="2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3"/>
          <p:cNvSpPr/>
          <p:nvPr/>
        </p:nvSpPr>
        <p:spPr>
          <a:xfrm>
            <a:off x="705445" y="1593875"/>
            <a:ext cx="2416225" cy="139526"/>
          </a:xfrm>
          <a:prstGeom prst="roundRect">
            <a:avLst>
              <a:gd name="adj" fmla="val 15003"/>
            </a:avLst>
          </a:prstGeom>
          <a:solidFill>
            <a:srgbClr val="484B5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3"/>
          <p:cNvSpPr/>
          <p:nvPr/>
        </p:nvSpPr>
        <p:spPr>
          <a:xfrm>
            <a:off x="496119" y="1454348"/>
            <a:ext cx="418654" cy="418654"/>
          </a:xfrm>
          <a:prstGeom prst="ellipse">
            <a:avLst/>
          </a:prstGeom>
          <a:solidFill>
            <a:srgbClr val="484B5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7" name="Google Shape;217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745" y="1558975"/>
            <a:ext cx="209327" cy="209327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3"/>
          <p:cNvSpPr/>
          <p:nvPr/>
        </p:nvSpPr>
        <p:spPr>
          <a:xfrm>
            <a:off x="635645" y="2010370"/>
            <a:ext cx="2346573" cy="218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350"/>
              <a:buFont typeface="IBM Plex Sans Medium"/>
              <a:buNone/>
            </a:pPr>
            <a:r>
              <a:rPr lang="en-US" sz="1350" b="0" i="0" u="none" strike="noStrike" cap="non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Advantages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635645" y="2310780"/>
            <a:ext cx="2346573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050"/>
              <a:buFont typeface="Roboto"/>
              <a:buNone/>
            </a:pPr>
            <a:r>
              <a:rPr lang="en-US" sz="1050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No RFID cards, multi-face capture, faster roll calls, reduced proxy attendance, analytics-ready, and LMS integration-ready.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3"/>
          <p:cNvSpPr/>
          <p:nvPr/>
        </p:nvSpPr>
        <p:spPr>
          <a:xfrm>
            <a:off x="5237560" y="1411003"/>
            <a:ext cx="2416299" cy="139526"/>
          </a:xfrm>
          <a:prstGeom prst="roundRect">
            <a:avLst>
              <a:gd name="adj" fmla="val 15003"/>
            </a:avLst>
          </a:prstGeom>
          <a:solidFill>
            <a:srgbClr val="484B5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1" name="Google Shape;221;p13"/>
          <p:cNvSpPr/>
          <p:nvPr/>
        </p:nvSpPr>
        <p:spPr>
          <a:xfrm>
            <a:off x="4923569" y="1259011"/>
            <a:ext cx="418654" cy="418654"/>
          </a:xfrm>
          <a:prstGeom prst="ellipse">
            <a:avLst/>
          </a:prstGeom>
          <a:solidFill>
            <a:srgbClr val="484B5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22" name="Google Shape;222;p1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8233" y="1358354"/>
            <a:ext cx="209327" cy="209327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3"/>
          <p:cNvSpPr/>
          <p:nvPr/>
        </p:nvSpPr>
        <p:spPr>
          <a:xfrm>
            <a:off x="5063133" y="1809750"/>
            <a:ext cx="2346647" cy="218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350"/>
              <a:buFont typeface="IBM Plex Sans Medium"/>
              <a:buNone/>
            </a:pPr>
            <a:r>
              <a:rPr lang="en-US" sz="1350" b="0" i="0" u="none" strike="noStrike" cap="none" dirty="0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Proposed Timeline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3"/>
          <p:cNvSpPr/>
          <p:nvPr/>
        </p:nvSpPr>
        <p:spPr>
          <a:xfrm>
            <a:off x="5063133" y="2110159"/>
            <a:ext cx="2346647" cy="1107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050"/>
              <a:buFont typeface="Roboto"/>
              <a:buNone/>
            </a:pPr>
            <a:r>
              <a:rPr lang="en-US" sz="1050" b="0" i="0" u="none" strike="noStrike" cap="non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7-week deployment plan: Week 1 data collection → Weeks 2–3 model dev → Week 4 backend → Week 5 frontend → Week 6 integration → Week 7 testing &amp; deploy.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3"/>
          <p:cNvSpPr/>
          <p:nvPr/>
        </p:nvSpPr>
        <p:spPr>
          <a:xfrm>
            <a:off x="6161708" y="1591717"/>
            <a:ext cx="2346573" cy="218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350"/>
              <a:buFont typeface="IBM Plex Sans Medium"/>
              <a:buNone/>
            </a:pP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3"/>
          <p:cNvSpPr/>
          <p:nvPr/>
        </p:nvSpPr>
        <p:spPr>
          <a:xfrm>
            <a:off x="6161708" y="1892126"/>
            <a:ext cx="2346573" cy="177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050"/>
              <a:buFont typeface="Roboto"/>
              <a:buNone/>
            </a:pP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949598" y="4129980"/>
            <a:ext cx="7558757" cy="442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boto"/>
              <a:buNone/>
            </a:pP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13" descr="Backend&#10;&#10;Python + Flask, OpenCV for preprocessing, Insights Face/Inside Face models (Arc Face) for embeddings.&#10;"/>
          <p:cNvPicPr preferRelativeResize="0"/>
          <p:nvPr/>
        </p:nvPicPr>
        <p:blipFill rotWithShape="1">
          <a:blip r:embed="rId5">
            <a:alphaModFix/>
          </a:blip>
          <a:srcRect b="95529"/>
          <a:stretch/>
        </p:blipFill>
        <p:spPr>
          <a:xfrm>
            <a:off x="0" y="4859650"/>
            <a:ext cx="9144000" cy="2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783</Words>
  <Application>Microsoft Office PowerPoint</Application>
  <PresentationFormat>On-screen Show (16:9)</PresentationFormat>
  <Paragraphs>115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IBM Plex Sans Medium</vt:lpstr>
      <vt:lpstr>Roboto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Arebi</dc:creator>
  <cp:lastModifiedBy>Md Arebi Sarker</cp:lastModifiedBy>
  <cp:revision>2</cp:revision>
  <cp:lastPrinted>2026-07-15T03:29:49Z</cp:lastPrinted>
  <dcterms:modified xsi:type="dcterms:W3CDTF">2026-07-15T03:43:43Z</dcterms:modified>
</cp:coreProperties>
</file>